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sldIdLst>
    <p:sldId id="256" r:id="rId5"/>
    <p:sldId id="294" r:id="rId6"/>
    <p:sldId id="295"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311" r:id="rId33"/>
    <p:sldId id="312" r:id="rId34"/>
    <p:sldId id="313" r:id="rId35"/>
    <p:sldId id="314" r:id="rId36"/>
    <p:sldId id="315" r:id="rId37"/>
    <p:sldId id="316" r:id="rId38"/>
    <p:sldId id="317" r:id="rId39"/>
    <p:sldId id="318" r:id="rId40"/>
    <p:sldId id="319" r:id="rId41"/>
    <p:sldId id="281" r:id="rId7"/>
    <p:sldId id="282" r:id="rId8"/>
    <p:sldId id="283"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4E5"/>
    <a:srgbClr val="F3F6F1"/>
    <a:srgbClr val="F7EEEC"/>
    <a:srgbClr val="F1F1F8"/>
    <a:srgbClr val="F8E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7EEB84-C6F7-C54F-B2DA-8BCD34FAAC32}" v="1" dt="2026-10-25T14:03:44.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18"/>
    <p:restoredTop sz="94658"/>
  </p:normalViewPr>
  <p:slideViewPr>
    <p:cSldViewPr snapToGrid="0">
      <p:cViewPr varScale="1">
        <p:scale>
          <a:sx n="120" d="100"/>
          <a:sy n="120" d="100"/>
        </p:scale>
        <p:origin x="6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Schmid" userId="1110e7f4-0253-46c7-a340-3f814eeafb47" providerId="ADAL" clId="{01880861-311D-531E-A1C6-52F600E95700}"/>
    <pc:docChg chg="custSel addSld delSld modSld">
      <pc:chgData name="Jan Schmid" userId="1110e7f4-0253-46c7-a340-3f814eeafb47" providerId="ADAL" clId="{01880861-311D-531E-A1C6-52F600E95700}" dt="2026-10-25T14:04:06.196" v="95" actId="20577"/>
      <pc:docMkLst>
        <pc:docMk/>
      </pc:docMkLst>
      <pc:sldChg chg="modSp mod">
        <pc:chgData name="Jan Schmid" userId="1110e7f4-0253-46c7-a340-3f814eeafb47" providerId="ADAL" clId="{01880861-311D-531E-A1C6-52F600E95700}" dt="2026-10-25T14:04:06.196" v="95" actId="20577"/>
        <pc:sldMkLst>
          <pc:docMk/>
          <pc:sldMk cId="1620680839" sldId="256"/>
        </pc:sldMkLst>
        <pc:spChg chg="mod">
          <ac:chgData name="Jan Schmid" userId="1110e7f4-0253-46c7-a340-3f814eeafb47" providerId="ADAL" clId="{01880861-311D-531E-A1C6-52F600E95700}" dt="2026-10-25T14:04:06.196" v="95" actId="20577"/>
          <ac:spMkLst>
            <pc:docMk/>
            <pc:sldMk cId="1620680839" sldId="256"/>
            <ac:spMk id="2" creationId="{8382EF60-4154-D47D-E5C1-659F53115D3B}"/>
          </ac:spMkLst>
        </pc:spChg>
      </pc:sldChg>
      <pc:sldChg chg="del">
        <pc:chgData name="Jan Schmid" userId="1110e7f4-0253-46c7-a340-3f814eeafb47" providerId="ADAL" clId="{01880861-311D-531E-A1C6-52F600E95700}" dt="2026-10-25T14:02:13.887" v="0" actId="2696"/>
        <pc:sldMkLst>
          <pc:docMk/>
          <pc:sldMk cId="259781232" sldId="257"/>
        </pc:sldMkLst>
      </pc:sldChg>
      <pc:sldChg chg="del">
        <pc:chgData name="Jan Schmid" userId="1110e7f4-0253-46c7-a340-3f814eeafb47" providerId="ADAL" clId="{01880861-311D-531E-A1C6-52F600E95700}" dt="2026-10-25T14:02:13.917" v="17" actId="2696"/>
        <pc:sldMkLst>
          <pc:docMk/>
          <pc:sldMk cId="1865107572" sldId="258"/>
        </pc:sldMkLst>
      </pc:sldChg>
      <pc:sldChg chg="del">
        <pc:chgData name="Jan Schmid" userId="1110e7f4-0253-46c7-a340-3f814eeafb47" providerId="ADAL" clId="{01880861-311D-531E-A1C6-52F600E95700}" dt="2026-10-25T14:02:13.890" v="3" actId="2696"/>
        <pc:sldMkLst>
          <pc:docMk/>
          <pc:sldMk cId="2650619970" sldId="259"/>
        </pc:sldMkLst>
      </pc:sldChg>
      <pc:sldChg chg="del">
        <pc:chgData name="Jan Schmid" userId="1110e7f4-0253-46c7-a340-3f814eeafb47" providerId="ADAL" clId="{01880861-311D-531E-A1C6-52F600E95700}" dt="2026-10-25T14:02:13.892" v="5" actId="2696"/>
        <pc:sldMkLst>
          <pc:docMk/>
          <pc:sldMk cId="3500091390" sldId="260"/>
        </pc:sldMkLst>
      </pc:sldChg>
      <pc:sldChg chg="del">
        <pc:chgData name="Jan Schmid" userId="1110e7f4-0253-46c7-a340-3f814eeafb47" providerId="ADAL" clId="{01880861-311D-531E-A1C6-52F600E95700}" dt="2026-10-25T14:02:13.888" v="1" actId="2696"/>
        <pc:sldMkLst>
          <pc:docMk/>
          <pc:sldMk cId="915386734" sldId="261"/>
        </pc:sldMkLst>
      </pc:sldChg>
      <pc:sldChg chg="del">
        <pc:chgData name="Jan Schmid" userId="1110e7f4-0253-46c7-a340-3f814eeafb47" providerId="ADAL" clId="{01880861-311D-531E-A1C6-52F600E95700}" dt="2026-10-25T14:02:13.900" v="14" actId="2696"/>
        <pc:sldMkLst>
          <pc:docMk/>
          <pc:sldMk cId="657386152" sldId="262"/>
        </pc:sldMkLst>
      </pc:sldChg>
      <pc:sldChg chg="del">
        <pc:chgData name="Jan Schmid" userId="1110e7f4-0253-46c7-a340-3f814eeafb47" providerId="ADAL" clId="{01880861-311D-531E-A1C6-52F600E95700}" dt="2026-10-25T14:02:13.897" v="10" actId="2696"/>
        <pc:sldMkLst>
          <pc:docMk/>
          <pc:sldMk cId="1885741517" sldId="263"/>
        </pc:sldMkLst>
      </pc:sldChg>
      <pc:sldChg chg="del">
        <pc:chgData name="Jan Schmid" userId="1110e7f4-0253-46c7-a340-3f814eeafb47" providerId="ADAL" clId="{01880861-311D-531E-A1C6-52F600E95700}" dt="2026-10-25T14:02:13.896" v="9" actId="2696"/>
        <pc:sldMkLst>
          <pc:docMk/>
          <pc:sldMk cId="449866864" sldId="264"/>
        </pc:sldMkLst>
      </pc:sldChg>
      <pc:sldChg chg="del">
        <pc:chgData name="Jan Schmid" userId="1110e7f4-0253-46c7-a340-3f814eeafb47" providerId="ADAL" clId="{01880861-311D-531E-A1C6-52F600E95700}" dt="2026-10-25T14:02:13.929" v="29" actId="2696"/>
        <pc:sldMkLst>
          <pc:docMk/>
          <pc:sldMk cId="2481223264" sldId="265"/>
        </pc:sldMkLst>
      </pc:sldChg>
      <pc:sldChg chg="del">
        <pc:chgData name="Jan Schmid" userId="1110e7f4-0253-46c7-a340-3f814eeafb47" providerId="ADAL" clId="{01880861-311D-531E-A1C6-52F600E95700}" dt="2026-10-25T14:02:13.921" v="20" actId="2696"/>
        <pc:sldMkLst>
          <pc:docMk/>
          <pc:sldMk cId="2374759482" sldId="266"/>
        </pc:sldMkLst>
      </pc:sldChg>
      <pc:sldChg chg="del">
        <pc:chgData name="Jan Schmid" userId="1110e7f4-0253-46c7-a340-3f814eeafb47" providerId="ADAL" clId="{01880861-311D-531E-A1C6-52F600E95700}" dt="2026-10-25T14:02:13.919" v="18" actId="2696"/>
        <pc:sldMkLst>
          <pc:docMk/>
          <pc:sldMk cId="2325490035" sldId="267"/>
        </pc:sldMkLst>
      </pc:sldChg>
      <pc:sldChg chg="del">
        <pc:chgData name="Jan Schmid" userId="1110e7f4-0253-46c7-a340-3f814eeafb47" providerId="ADAL" clId="{01880861-311D-531E-A1C6-52F600E95700}" dt="2026-10-25T14:02:13.928" v="27" actId="2696"/>
        <pc:sldMkLst>
          <pc:docMk/>
          <pc:sldMk cId="272602608" sldId="268"/>
        </pc:sldMkLst>
      </pc:sldChg>
      <pc:sldChg chg="del">
        <pc:chgData name="Jan Schmid" userId="1110e7f4-0253-46c7-a340-3f814eeafb47" providerId="ADAL" clId="{01880861-311D-531E-A1C6-52F600E95700}" dt="2026-10-25T14:02:13.931" v="31" actId="2696"/>
        <pc:sldMkLst>
          <pc:docMk/>
          <pc:sldMk cId="4028475709" sldId="269"/>
        </pc:sldMkLst>
      </pc:sldChg>
      <pc:sldChg chg="del">
        <pc:chgData name="Jan Schmid" userId="1110e7f4-0253-46c7-a340-3f814eeafb47" providerId="ADAL" clId="{01880861-311D-531E-A1C6-52F600E95700}" dt="2026-10-25T14:02:13.920" v="19" actId="2696"/>
        <pc:sldMkLst>
          <pc:docMk/>
          <pc:sldMk cId="670163389" sldId="270"/>
        </pc:sldMkLst>
      </pc:sldChg>
      <pc:sldChg chg="del">
        <pc:chgData name="Jan Schmid" userId="1110e7f4-0253-46c7-a340-3f814eeafb47" providerId="ADAL" clId="{01880861-311D-531E-A1C6-52F600E95700}" dt="2026-10-25T14:02:13.932" v="32" actId="2696"/>
        <pc:sldMkLst>
          <pc:docMk/>
          <pc:sldMk cId="2243966046" sldId="271"/>
        </pc:sldMkLst>
      </pc:sldChg>
      <pc:sldChg chg="del">
        <pc:chgData name="Jan Schmid" userId="1110e7f4-0253-46c7-a340-3f814eeafb47" providerId="ADAL" clId="{01880861-311D-531E-A1C6-52F600E95700}" dt="2026-10-25T14:02:13.897" v="11" actId="2696"/>
        <pc:sldMkLst>
          <pc:docMk/>
          <pc:sldMk cId="4073575523" sldId="272"/>
        </pc:sldMkLst>
      </pc:sldChg>
      <pc:sldChg chg="del">
        <pc:chgData name="Jan Schmid" userId="1110e7f4-0253-46c7-a340-3f814eeafb47" providerId="ADAL" clId="{01880861-311D-531E-A1C6-52F600E95700}" dt="2026-10-25T14:02:13.891" v="4" actId="2696"/>
        <pc:sldMkLst>
          <pc:docMk/>
          <pc:sldMk cId="4100983243" sldId="273"/>
        </pc:sldMkLst>
      </pc:sldChg>
      <pc:sldChg chg="del">
        <pc:chgData name="Jan Schmid" userId="1110e7f4-0253-46c7-a340-3f814eeafb47" providerId="ADAL" clId="{01880861-311D-531E-A1C6-52F600E95700}" dt="2026-10-25T14:02:13.922" v="21" actId="2696"/>
        <pc:sldMkLst>
          <pc:docMk/>
          <pc:sldMk cId="2731863994" sldId="274"/>
        </pc:sldMkLst>
      </pc:sldChg>
      <pc:sldChg chg="del">
        <pc:chgData name="Jan Schmid" userId="1110e7f4-0253-46c7-a340-3f814eeafb47" providerId="ADAL" clId="{01880861-311D-531E-A1C6-52F600E95700}" dt="2026-10-25T14:02:13.924" v="22" actId="2696"/>
        <pc:sldMkLst>
          <pc:docMk/>
          <pc:sldMk cId="475202369" sldId="275"/>
        </pc:sldMkLst>
      </pc:sldChg>
      <pc:sldChg chg="del">
        <pc:chgData name="Jan Schmid" userId="1110e7f4-0253-46c7-a340-3f814eeafb47" providerId="ADAL" clId="{01880861-311D-531E-A1C6-52F600E95700}" dt="2026-10-25T14:02:13.899" v="13" actId="2696"/>
        <pc:sldMkLst>
          <pc:docMk/>
          <pc:sldMk cId="245151057" sldId="276"/>
        </pc:sldMkLst>
      </pc:sldChg>
      <pc:sldChg chg="del">
        <pc:chgData name="Jan Schmid" userId="1110e7f4-0253-46c7-a340-3f814eeafb47" providerId="ADAL" clId="{01880861-311D-531E-A1C6-52F600E95700}" dt="2026-10-25T14:02:13.925" v="24" actId="2696"/>
        <pc:sldMkLst>
          <pc:docMk/>
          <pc:sldMk cId="3992663086" sldId="277"/>
        </pc:sldMkLst>
      </pc:sldChg>
      <pc:sldChg chg="del">
        <pc:chgData name="Jan Schmid" userId="1110e7f4-0253-46c7-a340-3f814eeafb47" providerId="ADAL" clId="{01880861-311D-531E-A1C6-52F600E95700}" dt="2026-10-25T14:02:13.893" v="6" actId="2696"/>
        <pc:sldMkLst>
          <pc:docMk/>
          <pc:sldMk cId="967707614" sldId="278"/>
        </pc:sldMkLst>
      </pc:sldChg>
      <pc:sldChg chg="del">
        <pc:chgData name="Jan Schmid" userId="1110e7f4-0253-46c7-a340-3f814eeafb47" providerId="ADAL" clId="{01880861-311D-531E-A1C6-52F600E95700}" dt="2026-10-25T14:02:13.928" v="28" actId="2696"/>
        <pc:sldMkLst>
          <pc:docMk/>
          <pc:sldMk cId="653174136" sldId="279"/>
        </pc:sldMkLst>
      </pc:sldChg>
      <pc:sldChg chg="del">
        <pc:chgData name="Jan Schmid" userId="1110e7f4-0253-46c7-a340-3f814eeafb47" providerId="ADAL" clId="{01880861-311D-531E-A1C6-52F600E95700}" dt="2026-10-25T14:02:13.924" v="23" actId="2696"/>
        <pc:sldMkLst>
          <pc:docMk/>
          <pc:sldMk cId="3240333373" sldId="280"/>
        </pc:sldMkLst>
      </pc:sldChg>
      <pc:sldChg chg="add del">
        <pc:chgData name="Jan Schmid" userId="1110e7f4-0253-46c7-a340-3f814eeafb47" providerId="ADAL" clId="{01880861-311D-531E-A1C6-52F600E95700}" dt="2026-10-25T14:03:44.352" v="38"/>
        <pc:sldMkLst>
          <pc:docMk/>
          <pc:sldMk cId="2894594486" sldId="281"/>
        </pc:sldMkLst>
      </pc:sldChg>
      <pc:sldChg chg="add del">
        <pc:chgData name="Jan Schmid" userId="1110e7f4-0253-46c7-a340-3f814eeafb47" providerId="ADAL" clId="{01880861-311D-531E-A1C6-52F600E95700}" dt="2026-10-25T14:03:44.352" v="38"/>
        <pc:sldMkLst>
          <pc:docMk/>
          <pc:sldMk cId="2766794773" sldId="282"/>
        </pc:sldMkLst>
      </pc:sldChg>
      <pc:sldChg chg="del">
        <pc:chgData name="Jan Schmid" userId="1110e7f4-0253-46c7-a340-3f814eeafb47" providerId="ADAL" clId="{01880861-311D-531E-A1C6-52F600E95700}" dt="2026-10-25T14:02:13.901" v="15" actId="2696"/>
        <pc:sldMkLst>
          <pc:docMk/>
          <pc:sldMk cId="3593510068" sldId="284"/>
        </pc:sldMkLst>
      </pc:sldChg>
      <pc:sldChg chg="del">
        <pc:chgData name="Jan Schmid" userId="1110e7f4-0253-46c7-a340-3f814eeafb47" providerId="ADAL" clId="{01880861-311D-531E-A1C6-52F600E95700}" dt="2026-10-25T14:02:13.938" v="34" actId="2696"/>
        <pc:sldMkLst>
          <pc:docMk/>
          <pc:sldMk cId="3897108470" sldId="285"/>
        </pc:sldMkLst>
      </pc:sldChg>
      <pc:sldChg chg="del">
        <pc:chgData name="Jan Schmid" userId="1110e7f4-0253-46c7-a340-3f814eeafb47" providerId="ADAL" clId="{01880861-311D-531E-A1C6-52F600E95700}" dt="2026-10-25T14:02:13.927" v="26" actId="2696"/>
        <pc:sldMkLst>
          <pc:docMk/>
          <pc:sldMk cId="3677523277" sldId="286"/>
        </pc:sldMkLst>
      </pc:sldChg>
      <pc:sldChg chg="del">
        <pc:chgData name="Jan Schmid" userId="1110e7f4-0253-46c7-a340-3f814eeafb47" providerId="ADAL" clId="{01880861-311D-531E-A1C6-52F600E95700}" dt="2026-10-25T14:02:13.941" v="35" actId="2696"/>
        <pc:sldMkLst>
          <pc:docMk/>
          <pc:sldMk cId="71435596" sldId="287"/>
        </pc:sldMkLst>
      </pc:sldChg>
      <pc:sldChg chg="del">
        <pc:chgData name="Jan Schmid" userId="1110e7f4-0253-46c7-a340-3f814eeafb47" providerId="ADAL" clId="{01880861-311D-531E-A1C6-52F600E95700}" dt="2026-10-25T14:02:13.898" v="12" actId="2696"/>
        <pc:sldMkLst>
          <pc:docMk/>
          <pc:sldMk cId="1021076791" sldId="288"/>
        </pc:sldMkLst>
      </pc:sldChg>
      <pc:sldChg chg="del">
        <pc:chgData name="Jan Schmid" userId="1110e7f4-0253-46c7-a340-3f814eeafb47" providerId="ADAL" clId="{01880861-311D-531E-A1C6-52F600E95700}" dt="2026-10-25T14:02:13.932" v="33" actId="2696"/>
        <pc:sldMkLst>
          <pc:docMk/>
          <pc:sldMk cId="1674201959" sldId="289"/>
        </pc:sldMkLst>
      </pc:sldChg>
      <pc:sldChg chg="del">
        <pc:chgData name="Jan Schmid" userId="1110e7f4-0253-46c7-a340-3f814eeafb47" providerId="ADAL" clId="{01880861-311D-531E-A1C6-52F600E95700}" dt="2026-10-25T14:02:13.889" v="2" actId="2696"/>
        <pc:sldMkLst>
          <pc:docMk/>
          <pc:sldMk cId="601570168" sldId="290"/>
        </pc:sldMkLst>
      </pc:sldChg>
      <pc:sldChg chg="del">
        <pc:chgData name="Jan Schmid" userId="1110e7f4-0253-46c7-a340-3f814eeafb47" providerId="ADAL" clId="{01880861-311D-531E-A1C6-52F600E95700}" dt="2026-10-25T14:02:13.930" v="30" actId="2696"/>
        <pc:sldMkLst>
          <pc:docMk/>
          <pc:sldMk cId="2217082572" sldId="291"/>
        </pc:sldMkLst>
      </pc:sldChg>
      <pc:sldChg chg="del">
        <pc:chgData name="Jan Schmid" userId="1110e7f4-0253-46c7-a340-3f814eeafb47" providerId="ADAL" clId="{01880861-311D-531E-A1C6-52F600E95700}" dt="2026-10-25T14:02:13.895" v="8" actId="2696"/>
        <pc:sldMkLst>
          <pc:docMk/>
          <pc:sldMk cId="3152102489" sldId="292"/>
        </pc:sldMkLst>
      </pc:sldChg>
      <pc:sldChg chg="del">
        <pc:chgData name="Jan Schmid" userId="1110e7f4-0253-46c7-a340-3f814eeafb47" providerId="ADAL" clId="{01880861-311D-531E-A1C6-52F600E95700}" dt="2026-10-25T14:02:13.894" v="7" actId="2696"/>
        <pc:sldMkLst>
          <pc:docMk/>
          <pc:sldMk cId="1285179131" sldId="293"/>
        </pc:sldMkLst>
      </pc:sldChg>
      <pc:sldChg chg="del">
        <pc:chgData name="Jan Schmid" userId="1110e7f4-0253-46c7-a340-3f814eeafb47" providerId="ADAL" clId="{01880861-311D-531E-A1C6-52F600E95700}" dt="2026-10-25T14:02:13.916" v="16" actId="2696"/>
        <pc:sldMkLst>
          <pc:docMk/>
          <pc:sldMk cId="454471985" sldId="295"/>
        </pc:sldMkLst>
      </pc:sldChg>
      <pc:sldChg chg="del">
        <pc:chgData name="Jan Schmid" userId="1110e7f4-0253-46c7-a340-3f814eeafb47" providerId="ADAL" clId="{01880861-311D-531E-A1C6-52F600E95700}" dt="2026-10-25T14:02:13.926" v="25" actId="2696"/>
        <pc:sldMkLst>
          <pc:docMk/>
          <pc:sldMk cId="2138018639" sldId="296"/>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Beispielwert in Prozent</c:v>
                </c:pt>
              </c:strCache>
            </c:strRef>
          </c:tx>
          <c:spPr>
            <a:solidFill>
              <a:srgbClr val="2F6A9E"/>
            </a:solidFill>
          </c:spPr>
          <c:cat>
            <c:strRef>
              <c:f>Sheet1!$A$2:$A$4</c:f>
              <c:strCache>
                <c:ptCount val="3"/>
                <c:pt idx="0">
                  <c:v>Bern</c:v>
                </c:pt>
                <c:pt idx="1">
                  <c:v>Zürich</c:v>
                </c:pt>
                <c:pt idx="2">
                  <c:v>Genf</c:v>
                </c:pt>
              </c:strCache>
            </c:strRef>
          </c:cat>
          <c:val>
            <c:numRef>
              <c:f>Sheet1!$B$2:$B$4</c:f>
              <c:numCache>
                <c:formatCode>General</c:formatCode>
                <c:ptCount val="3"/>
                <c:pt idx="0">
                  <c:v>70</c:v>
                </c:pt>
                <c:pt idx="1">
                  <c:v>20</c:v>
                </c:pt>
                <c:pt idx="2">
                  <c:v>10</c:v>
                </c:pt>
              </c:numCache>
            </c:numRef>
          </c:val>
        </c:ser>
        <c:dLbls>
          <c:numFmt formatCode="0&quot; %&quot;" sourceLinked="0"/>
          <c:txPr>
            <a:bodyPr/>
            <a:lstStyle/>
            <a:p>
              <a:pPr>
                <a:defRPr sz="1600" b="1">
                  <a:solidFill>
                    <a:srgbClr val="1E1B1C"/>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5A5456"/>
            </a:solidFill>
          </a:ln>
        </c:spPr>
        <c:txPr>
          <a:bodyPr/>
          <a:lstStyle/>
          <a:p>
            <a:pPr>
              <a:defRPr sz="16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400">
          <a:solidFill>
            <a:srgbClr val="1E1B1C"/>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887388-1BF2-C24A-A810-E93573A3C51D}" type="datetimeFigureOut">
              <a:rPr lang="de-CH" smtClean="0"/>
              <a:t>25.10.26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1868DE-E1C3-2F4D-8307-C2561F1981A3}" type="slidenum">
              <a:rPr lang="de-CH" smtClean="0"/>
              <a:t>‹Nr.›</a:t>
            </a:fld>
            <a:endParaRPr lang="de-CH"/>
          </a:p>
        </p:txBody>
      </p:sp>
    </p:spTree>
    <p:extLst>
      <p:ext uri="{BB962C8B-B14F-4D97-AF65-F5344CB8AC3E}">
        <p14:creationId xmlns:p14="http://schemas.microsoft.com/office/powerpoint/2010/main" val="3596450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211868DE-E1C3-2F4D-8307-C2561F1981A3}" type="slidenum">
              <a:rPr lang="de-CH" smtClean="0"/>
              <a:t>5</a:t>
            </a:fld>
            <a:endParaRPr lang="de-CH"/>
          </a:p>
        </p:txBody>
      </p:sp>
    </p:spTree>
    <p:extLst>
      <p:ext uri="{BB962C8B-B14F-4D97-AF65-F5344CB8AC3E}">
        <p14:creationId xmlns:p14="http://schemas.microsoft.com/office/powerpoint/2010/main" val="3862054569"/>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Begrüssung. Das Lernversprechen laut vorlesen: Am Ende steht eine kleine eigene Unterrichtsaktivität für den Zyklus 3 mit einem beobachtbaren Lernbeleg.</a:t>
            </a:r>
          </a:p>
          <a:p/>
          <a:p>
            <a:r>
              <a:t>Kernbotschaft: KI benutzen ist nicht dasselbe wie KI-kompetent sein. Entscheidend ist, was Lernende nach der Unterstützung durch KI selbst erklären, beurteilen, entscheiden oder gestalten können.</a:t>
            </a:r>
          </a:p>
          <a:p/>
          <a:p>
            <a:r>
              <a:t>Wir erleben KI heute in drei Rollen: als Lerngegenstand (Verstehen), als Werkzeug (Anwenden) und als Reflexionsanlass (Unterricht gestalten).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Überblick über die zwei Stunden. Die Kapitel der Lernumgebung werden nicht vollständig durchgearbeitet. Jede Phase hat eine Tätigkeit, nicht nur eine Aussage.</a:t>
            </a:r>
          </a:p>
          <a:p/>
          <a:p>
            <a:r>
              <a:t>Erleben vor Einordnen: Die vier Kompetenzbereiche werden erst nach der Kartensortierung in Phase 7 benannt.</a:t>
            </a:r>
          </a:p>
          <a:p/>
          <a:p>
            <a:r>
              <a:t>Der Canvas wird in dieser Zeit nur begonnen. Fertiggestellt wird er danach in der Lernumgebung.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Vorbereitung vorab: Ein Gerät pro Zweiergruppe, Zugang zu Fobizz oder Gemini getestet, Kompetenzkarten ausgedruckt und geschnitten, Beamer angeschlossen.</a:t>
            </a:r>
          </a:p>
          <a:p/>
          <a:p>
            <a:r>
              <a:t>Datenschutz ausdrücklich sagen: keine personenbezogenen Schülerdaten in die Prompts eingeben.</a:t>
            </a:r>
          </a:p>
          <a:p/>
          <a:p>
            <a:r>
              <a:t>Reflexionen, Canvas und Fortschritt bleiben im Browser dieses Geräts. Auf geteilten Geräten gehen sie verloren, wenn das Lernjournal nicht exportiert wird.</a:t>
            </a:r>
          </a:p>
          <a:p/>
          <a:p>
            <a:r>
              <a:t>Hinweis: Der QR-Code verweist auf die erwartete GitHub-Pages-Adresse. Vor der Veranstaltung prüfen, ob die Seite erreichbar 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Begrüssen, Adresse der Lernumgebung zeigen, die vier Aussagen vorlesen. Die Begriffe dabei nicht erklären.</a:t>
            </a:r>
          </a:p>
          <a:p/>
          <a:p>
            <a:r>
              <a:t>Teilnehmende: Kapitel 1 in der Lernumgebung öffnen, den Kompetenzkompass ausfüllen und ein begründendes Beispiel notieren.</a:t>
            </a:r>
          </a:p>
          <a:p/>
          <a:p>
            <a:r>
              <a:t>Variante ohne Gerät: Vier Ecken im Raum, die Teilnehmenden stellen sich zu ihrer Einschätzung. Die Werte werden danach nachgetragen.</a:t>
            </a:r>
          </a:p>
          <a:p/>
          <a:p>
            <a:r>
              <a:t>Stolperstelle: Wer die vier Begriffe jetzt erklärt, nimmt der Kartensortierung in Phase 7 ihre Wirkung. Die Werte 1 bis 4 sind eine Selbsteinschätzung und entsprechen nicht den Modellniveaus I bis III.</a:t>
            </a:r>
          </a:p>
          <a:p/>
          <a:p>
            <a:r>
              <a:t>Übergang: «Wir kommen am Schluss auf diese vier Werte zurück. Vorher schauen wir uns an, womit wir es überhaupt zu tun haben.»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Die Fälle einzeln vorlesen und per Handzeichen abstimmen lassen. Erst danach die Auflösung zeigen (nächste Folie).</a:t>
            </a:r>
          </a:p>
          <a:p/>
          <a:p>
            <a:r>
              <a:t>Teilnehmende: Jeden Fall einer der drei Möglichkeiten zuordnen und die Begründung notieren.</a:t>
            </a:r>
          </a:p>
          <a:p/>
          <a:p>
            <a:r>
              <a:t>Stolperstelle: Mehrere Fälle sind nicht eindeutig. Das ist keine Schwäche der Aufgabe, sondern ihr Inhalt: Von aussen ist oft nicht erkennbar, was hinter einer Oberfläche arbeitet.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Auflösung zeigen und die Begründungen kurz besprechen. Bei den beiden letzten Fällen gibt es bewusst keine richtige Antwort.</a:t>
            </a:r>
          </a:p>
          <a:p/>
          <a:p>
            <a:r>
              <a:t>Die Beschreibung «Daten, Verarbeitung, Output» gilt auch für Systeme ohne KI. Entscheidend ist, wie die Verarbeitung zustande kommt.</a:t>
            </a:r>
          </a:p>
          <a:p/>
          <a:p>
            <a:r>
              <a:t>Es gibt keine Punktzahl und keine Richtig-falsch-Rückmeldung, sondern eine Einordnung mit Begründung.</a:t>
            </a:r>
          </a:p>
          <a:p/>
          <a:p>
            <a:r>
              <a:t>Übergang: «Bei mehreren Fällen konnten wir es nicht entscheiden. Schauen wir uns an, was ‹aus Daten gelernt› überhaupt heisst.»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Das Obstexperiment im Beamermodus (demo.html, Kapitel 2) einmal vorführen und einen Fall gemeinsam durchspielen. Danach übernehmen die Paare.</a:t>
            </a:r>
          </a:p>
          <a:p/>
          <a:p>
            <a:r>
              <a:t>Die Folie zeigt die Ausgangslage: Birnen mit 110 g und 130 g, Äpfel mit 150 g und 180 g, Testfall 160 g. Das Datenmodell wählt das nächste Beispiel (Apfel mit 150 g). Die feste Regel «Apfel ab 140 g» kommt zum gleichen Ergebnis.</a:t>
            </a:r>
          </a:p>
          <a:p/>
          <a:p>
            <a:r>
              <a:t>Stolperstelle: Das Verfahren speichert Beispiele und vergleicht Abstände. Es trainiert keine neuronalen Gewichte. Kurz benennen, nicht vertiefen. Die Zuordnung ist keine gemessene Wahrscheinlichkeit.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Paare führen die vier Schritte des Experimentauftrags durch und füllen anschliessend die Reflexionsfelder in der Lernumgebung aus.</a:t>
            </a:r>
          </a:p>
          <a:p/>
          <a:p>
            <a:r>
              <a:t>Kür für Schnelle: Teachable Machine als freiwillige Zusatzaufgabe, in 120 Minuten nicht eingeplant. Alternative ohne Bildschirm: Klassifikation mit Kärtchen, die mehrere Merkmale tragen (nach AI Unplugged).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Auswertung im Plenum. Die Zahlen auf der Folie sind ein eigenes Beispiel (Birne mit 165 g) und kommen im Experimentauftrag der Paare nicht vor.</a:t>
            </a:r>
          </a:p>
          <a:p/>
          <a:p>
            <a:r>
              <a:t>Ein neues Beispiel kann den nächsten Nachbarn verändern. Die feste Regel bleibt gleich, solange wir ihren Schwellenwert nicht ändern. Widersprüchliche Etiketten lösen sich durch mehr Daten nicht automatisch auf. Mehr Daten sind nicht automatisch bessere Daten.</a:t>
            </a:r>
          </a:p>
          <a:p/>
          <a:p>
            <a:r>
              <a:t>Übergang: «Dieses Modell hatte ein einziges Merkmal. Jetzt zu einem System mit sehr vielen.»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Den Regelchatbot zu zweit vorne spielen. Eine Person spricht, die andere folgt ausschliesslich den drei Regeln. Das Publikum nennt Eingaben.</a:t>
            </a:r>
          </a:p>
          <a:p/>
          <a:p>
            <a:r>
              <a:t>Beispiele auf der Folie: «Ich bin müde.» ergibt «Warum bist du müde?». «Schule ist anstrengend.» ergibt die Schulfrage. «Wir haben heute Mathe.» trifft keine Regel und ergibt «Erzähl mir mehr darüber.»</a:t>
            </a:r>
          </a:p>
          <a:p/>
          <a:p>
            <a:r>
              <a:t>Kernpunkt: Manche Antworten wirken passend, obwohl das System nur Regeln abarbeitet und nichts versteht.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Zuerst selbst ein nächstes Wort aufschreiben und vergleichen, dann in Paaren die Simulation bedienen.</a:t>
            </a:r>
          </a:p>
          <a:p/>
          <a:p>
            <a:r>
              <a:t>Noch nichts über Wahrscheinlichkeiten sagen. Die Teilnehmenden sollen zuerst bemerken, dass mehrere Fortsetzungen passen und sich die Ideen unterscheiden.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Die Token-Simulation im Beamermodus (demo.html, Kapitel 3) Schritt für Schritt zeigen. Die Folie zeigt die Verteilung zum ersten Satzanfang.</a:t>
            </a:r>
          </a:p>
          <a:p/>
          <a:p>
            <a:r>
              <a:t>Stolperstelle: Die Prozentwerte der Simulation sind erfunden und von Hand gesetzt. Das ausdrücklich sagen, sonst entsteht daraus eine Faktenbehauptung über echte Sprachmodelle. Wörter und Satzzeichen dienen als vereinfachte Token. Echte Token können auch Wortteile sein.</a:t>
            </a:r>
          </a:p>
          <a:p/>
          <a:p>
            <a:r>
              <a:t>Die Wahrscheinlichkeit einer Fortsetzung ist keine Wahrscheinlichkeit, dass eine Aussage wahr ist. Auch eine falsche Fortsetzung kann plausibel sein.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und Nutzung sind getrennte Prozesse. Beim Training werden sehr viele Parameter angepasst. Bei der Nutzung berechnet das Modell aus Prompt und Kontext eine Verteilung, wählt ein Token aus und ergänzt es. Danach beginnt die nächste Runde.</a:t>
            </a:r>
          </a:p>
          <a:p/>
          <a:p>
            <a:r>
              <a:t>Selbsttest für das Plenum: «Jeder Prompt trainiert das Modell sofort neu.» Stimmt nicht. «70 Prozent beim nächsten Token bedeuten 70 Prozent Wahrscheinlichkeit, dass die Aussage wahr ist.» Stimmt nicht. «Ein Token ist immer ein Wort.» Stimmt nicht.</a:t>
            </a:r>
          </a:p>
          <a:p/>
          <a:p>
            <a:r>
              <a:t>Manche Anwendungen ergänzen ein Sprachmodell durch Suche oder Dokumente. Auch dann müssen Aussagen und Quellen geprüft werden.</a:t>
            </a:r>
          </a:p>
          <a:p/>
          <a:p>
            <a:r>
              <a:t>Optional: Menschenähnlich heisst nicht menschlich. Ein Modell, das «ich» schreibt, hat weder Bewusstsein noch Absicht.</a:t>
            </a:r>
          </a:p>
          <a:p/>
          <a:p>
            <a:r>
              <a:t>Übergang: «Wenn eine Fortsetzung nur wahrscheinlich ist: Was heisst das für den Einsatz? Probieren wir es an einem echten System.»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Die drei Satzanfänge sammeln, je zwei bis drei Nennungen aufnehmen und sichtbar festhalten (Flipchart oder Whiteboard).</a:t>
            </a:r>
          </a:p>
          <a:p/>
          <a:p>
            <a:r>
              <a:t>Teilnehmende: Die drei Felder in Kapitel 5 der Lernumgebung ausfüllen.</a:t>
            </a:r>
          </a:p>
          <a:p/>
          <a:p>
            <a:r>
              <a:t>Hinweis: Die fünf Prüffragen aus diesem Kapitel werden hier nur erwähnt. Sie kommen nach der Pause beim Prüfen der Ausgaben zum Einsatz.</a:t>
            </a:r>
          </a:p>
          <a:p/>
          <a:p>
            <a:r>
              <a:t>Mögliche Erkenntnissicherung: KI kann Muster nutzen, Texte entwerfen und Varianten erzeugen. Sie liefert keine automatische Garantie für Wahrheit, Fairness oder Angemessenheit. Menschen setzen Ziele und Kriterien, prüfen Ergebnisse und entscheiden über die Verwendung.</a:t>
            </a:r>
          </a:p>
          <a:p/>
          <a:p>
            <a:r>
              <a:t>Übergang: «Nach der Pause prüfen wir das an echten Ausgaben.»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von 8 Minuten. Gelegenheit, die Zugänge zu Fobizz oder Gemini an den Geräten zu öffnen, damit die nächste Phase ohne Anmeldehürden startet.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Auftrag A gemeinsam starten, damit alle den Unterschied einmal sehen. Danach wählt jede Gruppe Auftrag B oder C.</a:t>
            </a:r>
          </a:p>
          <a:p/>
          <a:p>
            <a:r>
              <a:t>Teilnehmende: In Paaren an einem Gerät. Die Prompts lassen sich in Kapitel 4 der Lernumgebung kopieren.</a:t>
            </a:r>
          </a:p>
          <a:p/>
          <a:p>
            <a:r>
              <a:t>Ohne Zugang: Offline-Reserve in Kapitel 4 verwenden (bewusst erfundener Beispieloutput zur Fehlerprüfung). Das eigentliche Prompting muss dann nachgeholt werden.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Auftrag B braucht in der Gruppe eine Person mit Fachwissen zum gewählten Thema. Ohne diese Person wird die Prüfung beliebig. Eine Quellenangabe der KI ist ebenfalls zu prüfen. Wer keinen Fehler findet, hat ein gültiges Ergebnis.</a:t>
            </a:r>
          </a:p>
          <a:p/>
          <a:p>
            <a:r>
              <a:t>Auftrag C: Welche Annahmen oder Stereotype sind erkennbar? Welche reale Person müsste man zusätzlich befragen?</a:t>
            </a:r>
          </a:p>
          <a:p/>
          <a:p>
            <a:r>
              <a:t>Keine personenbezogenen Schülerdaten eingeben.</a:t>
            </a:r>
          </a:p>
          <a:p/>
          <a:p>
            <a:r>
              <a:t>Übergang: «Wir haben jetzt viel getan. Welche Fähigkeiten waren das eigentlich?» Vorher kurz die fünf Prüffragen auf der nächsten Folie anwenden.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fünf Prüffragen kommen beim Prüfen der KI-Ausgaben zum Einsatz und gelten für jede Ausgabe, die im Unterricht übernommen werden soll.</a:t>
            </a:r>
          </a:p>
          <a:p/>
          <a:p>
            <a:r>
              <a:t>Die fünfte Frage stammt aus dem KI-Kompetenzrahmen (AILit) von OECD und Europäischer Union (2026). Der Ressourcenverbrauch erscheint als Prüffrage vor dem Übernehmen eines Outputs, nicht als eigenes Umweltkapitel.</a:t>
            </a:r>
          </a:p>
          <a:p/>
          <a:p>
            <a:r>
              <a:t>In der Lernumgebung (Kapitel 5) steht dazu ein Feld: Eine Aussage oder Empfehlung, die ich nicht ungeprüft übernehmen würde, weil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Die ausgedruckten Karten austeilen (Druckpaket der Lernumgebung, «Arbeitsmaterialien drucken»). Auftrag: in vier Gruppen sortieren und eigene Namen finden. Die vier Begriffe des Modells jetzt noch nicht nennen.</a:t>
            </a:r>
          </a:p>
          <a:p/>
          <a:p>
            <a:r>
              <a:t>Teilnehmende: In Vierergruppen sortieren, die Gruppennamen in Kapitel 6 der Lernumgebung eintragen, dann mit dem Modell vergleichen.</a:t>
            </a:r>
          </a:p>
          <a:p/>
          <a:p>
            <a:r>
              <a:t>Stolperstelle: Mehrere Zuordnungen sind begründbar. Die Diskussion darüber ist wertvoller als die Übereinstimmung mit dem Modell.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werden die vier Bereiche benannt: Verstehen, Anwenden, Reflektieren, Mitgestalten. Die Gruppen vergleichen ihre Sortierung mit dem Modell (Kapitel 6, «Sortierung mit dem Modell vergleichen»).</a:t>
            </a:r>
          </a:p>
          <a:p/>
          <a:p>
            <a:r>
              <a:t>Wichtig: Nicht jeder KI-Einsatz bildet automatisch alle vier Bereiche. Fachliches Verständnis ist nicht automatisch Verständnis der KI-Funktionsweise. Eine KI-Ausgabe zu bearbeiten belegt nicht automatisch denselben Kompetenzbereich bei den Lernenden. Entscheidend ist die von ihnen selbst geleistete Handlung.</a:t>
            </a:r>
          </a:p>
          <a:p/>
          <a:p>
            <a:r>
              <a:t>Quellen: Susanne Alles, Joscha Falck, Manuel Flick und Regina Schulz, «KI-Kompetenzen für Lehrende und Lernende», vorgestellt durch den DLH Zürich. Ergänzend OECD / Europäische Union (2026), KI-Kompetenzrahmen für die Primar- und Sekundarstufe (AILit): Wissen, Fähigkeiten und Fertigkeiten sowie Haltungen. Die beiden Modelle werden nicht gleichgesetzt, ihre Stufen nicht an Klassenstufen gebunden. Karten und Kurzbeschreibungen sind didaktische Bearbeitungen.</a:t>
            </a:r>
          </a:p>
          <a:p/>
          <a:p>
            <a:r>
              <a:t>Übergang: «KI benutzen ist nicht dasselbe wie KI-kompetent sein. Was heisst das für eine Aufgabe im Unterricht?»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Die sechs Ausgangsaufgaben zeigen. Jede Gruppe wählt eine, möglichst aus dem eigenen Fach.</a:t>
            </a:r>
          </a:p>
          <a:p/>
          <a:p>
            <a:r>
              <a:t>Die Ausgangsaufträge sind nicht grundsätzlich wertlos. Sie machen den Kompetenzaufbau und seine Überprüfung noch nicht ausreichend sichtbar.</a:t>
            </a:r>
          </a:p>
          <a:p/>
          <a:p>
            <a:r>
              <a:t>Teilnehmende: In Kapitel 7 der Lernumgebung die Aufgabe wählen, das Verbesserungsraster ausfüllen und den neuen Arbeitsauftrag formulieren.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Teilnehmende: Das Verbesserungsraster ausfüllen, den neuen Arbeitsauftrag formulieren, danach die Partnerprüfung.</a:t>
            </a:r>
          </a:p>
          <a:p/>
          <a:p>
            <a:r>
              <a:t>Stolperstelle: Die Beispiellösung (nächste Folie) erst zeigen, wenn der eigene Entwurf steht. Sonst wird abgeschrieben statt gedacht.</a:t>
            </a:r>
          </a:p>
          <a:p/>
          <a:p>
            <a:r>
              <a:t>Kompetenzen nicht nur etikettieren: Ein eigener fertiger Text belegt noch kein «Mitgestalten». Dafür könnte die Klasse gemeinsame KI-Nutzungsregeln entwickeln, erproben und überarbeiten. «Verstehen» braucht einen eigenen Beleg zur Funktionsweise von KI.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 nach dem eigenen Entwurf der Gruppen zeigen und vergleichen. Das Beispiel ist ein Vorschlag, keine Musterlösung.</a:t>
            </a:r>
          </a:p>
          <a:p/>
          <a:p>
            <a:r>
              <a:t>Beachten: Die eigenen Kriterien und der eigene Anfang kommen vor der KI. Die Prüfung (Vergleich, Stereotype) und die begründete Endfassung machen den Lernbeleg sichtbar.</a:t>
            </a:r>
          </a:p>
          <a:p/>
          <a:p>
            <a:r>
              <a:t>Fünf weitere Beispiele (Fremdsprache, Geschichte, Natur und Technik, Berufliche Orientierung, Mathematik) stehen im Kapitel 7 der Lernumgebung.</a:t>
            </a:r>
          </a:p>
          <a:p/>
          <a:p>
            <a:r>
              <a:t>Übergang: «Nimm diesen Auftrag mit in deine eigene Planung.»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Vorne: Den Canvas kurz zeigen und ausdrücklich sagen, dass er hier nur begonnen wird. Zum Schluss an den Export erinnern.</a:t>
            </a:r>
          </a:p>
          <a:p/>
          <a:p>
            <a:r>
              <a:t>Teilnehmende: Fach, Ziel und Lernbeleg im Canvas eintragen (Kapitel 8). Der Canvas zeigt ein Beispiel für die Beziehung zwischen Lernziel, Lernbeleg und Qualitätskriterium.</a:t>
            </a:r>
          </a:p>
          <a:p/>
          <a:p>
            <a:r>
              <a:t>Bei mehr Zeit (Halbtag): Gallery Walk ergänzen. Ideen auslegen, Rückmeldungen geben, eine eigene Sache überarbeiten. Weitere Aktivitäten stehen in den Unterrichtsideen der Lernumgebung.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Teilnehmende: Den Kompetenzkompass erneut ausfüllen und einen Beleg notieren. Exit-Ticket und Erprobungstermin. Lernjournal exportieren.</a:t>
            </a:r>
          </a:p>
          <a:p/>
          <a:p>
            <a:r>
              <a:t>Stolperstelle: Ohne Export bleiben die Notizen nur in diesem Browser. Auf geteilten Geräten gehen sie verloren.</a:t>
            </a:r>
          </a:p>
          <a:p/>
          <a:p>
            <a:r>
              <a:t>Sinnvolle Anschlussaufträge: den Canvas fertigstellen, die eigene Aktivität einmal durchführen und den notierten Lernbeleg mit dem Ergebnis vergleichen. Die Unterrichtsideen der Lernumgebung liefern Vorlagen.</a:t>
            </a:r>
          </a:p>
          <a:p/>
          <a:p>
            <a:r>
              <a:t>Übergang zu den folgenden Folien: Wer Unterstützung bei der Umsetzung möchte, findet sie bei den PICTS.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solidFill>
          <a:srgbClr val="E9E4E5"/>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629B86-F3A0-7CD6-4964-9671430FA651}"/>
              </a:ext>
            </a:extLst>
          </p:cNvPr>
          <p:cNvSpPr>
            <a:spLocks noGrp="1"/>
          </p:cNvSpPr>
          <p:nvPr>
            <p:ph type="ctrTitle"/>
          </p:nvPr>
        </p:nvSpPr>
        <p:spPr>
          <a:xfrm>
            <a:off x="1524000" y="1122363"/>
            <a:ext cx="9144000" cy="2387600"/>
          </a:xfrm>
        </p:spPr>
        <p:txBody>
          <a:bodyPr anchor="b"/>
          <a:lstStyle>
            <a:lvl1pPr algn="ctr">
              <a:defRPr sz="6000">
                <a:latin typeface="Century Gothic" panose="020B0502020202020204" pitchFamily="34" charset="0"/>
              </a:defRPr>
            </a:lvl1pPr>
          </a:lstStyle>
          <a:p>
            <a:r>
              <a:rPr lang="de-CH" dirty="0"/>
              <a:t>Mastertitelformat bearbeiten</a:t>
            </a:r>
          </a:p>
        </p:txBody>
      </p:sp>
      <p:sp>
        <p:nvSpPr>
          <p:cNvPr id="3" name="Untertitel 2">
            <a:extLst>
              <a:ext uri="{FF2B5EF4-FFF2-40B4-BE49-F238E27FC236}">
                <a16:creationId xmlns:a16="http://schemas.microsoft.com/office/drawing/2014/main" id="{1C8BDFC5-1224-02EA-36A7-236E4CBA47E7}"/>
              </a:ext>
            </a:extLst>
          </p:cNvPr>
          <p:cNvSpPr>
            <a:spLocks noGrp="1"/>
          </p:cNvSpPr>
          <p:nvPr>
            <p:ph type="subTitle" idx="1"/>
          </p:nvPr>
        </p:nvSpPr>
        <p:spPr>
          <a:xfrm>
            <a:off x="1524000" y="3602038"/>
            <a:ext cx="9144000" cy="1655762"/>
          </a:xfrm>
        </p:spPr>
        <p:txBody>
          <a:bodyPr/>
          <a:lstStyle>
            <a:lvl1pPr marL="0" indent="0" algn="ctr">
              <a:buNone/>
              <a:defRPr sz="2400">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CH" dirty="0"/>
              <a:t>Master-Untertitelformat bearbeiten</a:t>
            </a:r>
          </a:p>
        </p:txBody>
      </p:sp>
      <p:sp>
        <p:nvSpPr>
          <p:cNvPr id="4" name="Datumsplatzhalter 3">
            <a:extLst>
              <a:ext uri="{FF2B5EF4-FFF2-40B4-BE49-F238E27FC236}">
                <a16:creationId xmlns:a16="http://schemas.microsoft.com/office/drawing/2014/main" id="{6634FE1A-73B4-035F-28BB-E727A363A825}"/>
              </a:ext>
            </a:extLst>
          </p:cNvPr>
          <p:cNvSpPr>
            <a:spLocks noGrp="1"/>
          </p:cNvSpPr>
          <p:nvPr>
            <p:ph type="dt" sz="half" idx="10"/>
          </p:nvPr>
        </p:nvSpPr>
        <p:spPr/>
        <p:txBody>
          <a:bodyPr/>
          <a:lstStyle>
            <a:lvl1pPr>
              <a:defRPr>
                <a:latin typeface="Century Gothic" panose="020B0502020202020204" pitchFamily="34" charset="0"/>
              </a:defRPr>
            </a:lvl1pPr>
          </a:lstStyle>
          <a:p>
            <a:fld id="{163DD721-D8C8-214E-A1E9-5236F682A6DA}" type="datetimeFigureOut">
              <a:rPr lang="de-CH" smtClean="0"/>
              <a:pPr/>
              <a:t>25.10.26</a:t>
            </a:fld>
            <a:endParaRPr lang="de-CH" dirty="0">
              <a:latin typeface="Century Gothic" panose="020B0502020202020204" pitchFamily="34" charset="0"/>
            </a:endParaRPr>
          </a:p>
        </p:txBody>
      </p:sp>
      <p:sp>
        <p:nvSpPr>
          <p:cNvPr id="5" name="Fußzeilenplatzhalter 4">
            <a:extLst>
              <a:ext uri="{FF2B5EF4-FFF2-40B4-BE49-F238E27FC236}">
                <a16:creationId xmlns:a16="http://schemas.microsoft.com/office/drawing/2014/main" id="{7C3E8753-2AFA-B2A1-EC75-88D26EAFD835}"/>
              </a:ext>
            </a:extLst>
          </p:cNvPr>
          <p:cNvSpPr>
            <a:spLocks noGrp="1"/>
          </p:cNvSpPr>
          <p:nvPr>
            <p:ph type="ftr" sz="quarter" idx="11"/>
          </p:nvPr>
        </p:nvSpPr>
        <p:spPr/>
        <p:txBody>
          <a:bodyPr/>
          <a:lstStyle>
            <a:lvl1pPr>
              <a:defRPr>
                <a:latin typeface="Century Gothic" panose="020B0502020202020204" pitchFamily="34" charset="0"/>
              </a:defRPr>
            </a:lvl1pPr>
          </a:lstStyle>
          <a:p>
            <a:endParaRPr lang="de-CH" dirty="0">
              <a:latin typeface="Century Gothic" panose="020B0502020202020204" pitchFamily="34" charset="0"/>
            </a:endParaRPr>
          </a:p>
        </p:txBody>
      </p:sp>
      <p:sp>
        <p:nvSpPr>
          <p:cNvPr id="6" name="Foliennummernplatzhalter 5">
            <a:extLst>
              <a:ext uri="{FF2B5EF4-FFF2-40B4-BE49-F238E27FC236}">
                <a16:creationId xmlns:a16="http://schemas.microsoft.com/office/drawing/2014/main" id="{CECB8142-0D44-825A-4FCD-CB9368735D86}"/>
              </a:ext>
            </a:extLst>
          </p:cNvPr>
          <p:cNvSpPr>
            <a:spLocks noGrp="1"/>
          </p:cNvSpPr>
          <p:nvPr>
            <p:ph type="sldNum" sz="quarter" idx="12"/>
          </p:nvPr>
        </p:nvSpPr>
        <p:spPr/>
        <p:txBody>
          <a:bodyPr/>
          <a:lstStyle>
            <a:lvl1pPr>
              <a:defRPr>
                <a:latin typeface="Century Gothic" panose="020B0502020202020204" pitchFamily="34" charset="0"/>
              </a:defRPr>
            </a:lvl1pPr>
          </a:lstStyle>
          <a:p>
            <a:fld id="{12CFCF80-CAE4-B54B-B4CA-8915CC6911A5}" type="slidenum">
              <a:rPr lang="de-CH" smtClean="0"/>
              <a:pPr/>
              <a:t>‹Nr.›</a:t>
            </a:fld>
            <a:endParaRPr lang="de-CH" dirty="0">
              <a:latin typeface="Century Gothic" panose="020B0502020202020204" pitchFamily="34" charset="0"/>
            </a:endParaRPr>
          </a:p>
        </p:txBody>
      </p:sp>
      <p:pic>
        <p:nvPicPr>
          <p:cNvPr id="7" name="Grafik 6" descr="Ein Bild, das Cartoon enthält.&#10;&#10;Automatisch generierte Beschreibung">
            <a:extLst>
              <a:ext uri="{FF2B5EF4-FFF2-40B4-BE49-F238E27FC236}">
                <a16:creationId xmlns:a16="http://schemas.microsoft.com/office/drawing/2014/main" id="{E93E8680-C76B-F290-F6DC-41E8D817CCF5}"/>
              </a:ext>
            </a:extLst>
          </p:cNvPr>
          <p:cNvPicPr>
            <a:picLocks noChangeAspect="1"/>
          </p:cNvPicPr>
          <p:nvPr userDrawn="1"/>
        </p:nvPicPr>
        <p:blipFill>
          <a:blip r:embed="rId2"/>
          <a:srcRect t="1957" r="1" b="14426"/>
          <a:stretch/>
        </p:blipFill>
        <p:spPr bwMode="auto">
          <a:xfrm>
            <a:off x="391886" y="3602038"/>
            <a:ext cx="3980663" cy="3328559"/>
          </a:xfrm>
          <a:custGeom>
            <a:avLst/>
            <a:gdLst/>
            <a:ahLst/>
            <a:cxnLst/>
            <a:rect l="l" t="t" r="r" b="b"/>
            <a:pathLst>
              <a:path w="6096000" h="5158850" extrusionOk="0">
                <a:moveTo>
                  <a:pt x="0" y="0"/>
                </a:moveTo>
                <a:lnTo>
                  <a:pt x="6096000" y="0"/>
                </a:lnTo>
                <a:lnTo>
                  <a:pt x="6096000" y="5158850"/>
                </a:lnTo>
                <a:lnTo>
                  <a:pt x="5957305" y="5157644"/>
                </a:lnTo>
                <a:cubicBezTo>
                  <a:pt x="5920540" y="5151975"/>
                  <a:pt x="5887096" y="5153588"/>
                  <a:pt x="5857259" y="5143603"/>
                </a:cubicBezTo>
                <a:cubicBezTo>
                  <a:pt x="5843335" y="5146861"/>
                  <a:pt x="5830921" y="5147051"/>
                  <a:pt x="5821375" y="5137142"/>
                </a:cubicBezTo>
                <a:cubicBezTo>
                  <a:pt x="5786501" y="5134144"/>
                  <a:pt x="5775399" y="5144200"/>
                  <a:pt x="5755916" y="5131695"/>
                </a:cubicBezTo>
                <a:cubicBezTo>
                  <a:pt x="5732132" y="5146996"/>
                  <a:pt x="5732735" y="5139753"/>
                  <a:pt x="5725007" y="5132964"/>
                </a:cubicBezTo>
                <a:lnTo>
                  <a:pt x="5723810" y="5132374"/>
                </a:lnTo>
                <a:lnTo>
                  <a:pt x="5720531" y="5134578"/>
                </a:lnTo>
                <a:lnTo>
                  <a:pt x="5714795" y="5134902"/>
                </a:lnTo>
                <a:lnTo>
                  <a:pt x="5700142" y="5131655"/>
                </a:lnTo>
                <a:lnTo>
                  <a:pt x="5694799" y="5129754"/>
                </a:lnTo>
                <a:cubicBezTo>
                  <a:pt x="5691058" y="5128696"/>
                  <a:pt x="5688491" y="5128320"/>
                  <a:pt x="5686627" y="5128420"/>
                </a:cubicBezTo>
                <a:lnTo>
                  <a:pt x="5686371" y="5128603"/>
                </a:lnTo>
                <a:lnTo>
                  <a:pt x="5678819" y="5126929"/>
                </a:lnTo>
                <a:cubicBezTo>
                  <a:pt x="5666199" y="5123608"/>
                  <a:pt x="5654035" y="5119908"/>
                  <a:pt x="5642547" y="5116000"/>
                </a:cubicBezTo>
                <a:cubicBezTo>
                  <a:pt x="5629445" y="5126457"/>
                  <a:pt x="5588783" y="5104807"/>
                  <a:pt x="5587979" y="5128480"/>
                </a:cubicBezTo>
                <a:cubicBezTo>
                  <a:pt x="5572317" y="5123886"/>
                  <a:pt x="5564904" y="5112774"/>
                  <a:pt x="5566635" y="5128675"/>
                </a:cubicBezTo>
                <a:cubicBezTo>
                  <a:pt x="5561375" y="5127594"/>
                  <a:pt x="5557787" y="5128327"/>
                  <a:pt x="5554953" y="5129937"/>
                </a:cubicBezTo>
                <a:lnTo>
                  <a:pt x="5554039" y="5130763"/>
                </a:lnTo>
                <a:lnTo>
                  <a:pt x="5514254" y="5120517"/>
                </a:lnTo>
                <a:lnTo>
                  <a:pt x="5492156" y="5111382"/>
                </a:lnTo>
                <a:lnTo>
                  <a:pt x="5480446" y="5107855"/>
                </a:lnTo>
                <a:lnTo>
                  <a:pt x="5477744" y="5104402"/>
                </a:lnTo>
                <a:cubicBezTo>
                  <a:pt x="5474490" y="5102038"/>
                  <a:pt x="5469391" y="5100405"/>
                  <a:pt x="5460150" y="5100442"/>
                </a:cubicBezTo>
                <a:lnTo>
                  <a:pt x="5457901" y="5100914"/>
                </a:lnTo>
                <a:lnTo>
                  <a:pt x="5444243" y="5094201"/>
                </a:lnTo>
                <a:cubicBezTo>
                  <a:pt x="5439994" y="5091441"/>
                  <a:pt x="5436419" y="5088231"/>
                  <a:pt x="5433825" y="5084410"/>
                </a:cubicBezTo>
                <a:cubicBezTo>
                  <a:pt x="5379443" y="5093528"/>
                  <a:pt x="5336110" y="5069767"/>
                  <a:pt x="5280996" y="5063773"/>
                </a:cubicBezTo>
                <a:cubicBezTo>
                  <a:pt x="5250806" y="5055129"/>
                  <a:pt x="5168599" y="5059471"/>
                  <a:pt x="5161582" y="5030966"/>
                </a:cubicBezTo>
                <a:cubicBezTo>
                  <a:pt x="5121870" y="5022662"/>
                  <a:pt x="5095637" y="5020496"/>
                  <a:pt x="5042717" y="5013952"/>
                </a:cubicBezTo>
                <a:cubicBezTo>
                  <a:pt x="4991136" y="4983679"/>
                  <a:pt x="4902283" y="4990567"/>
                  <a:pt x="4840514" y="4970468"/>
                </a:cubicBezTo>
                <a:cubicBezTo>
                  <a:pt x="4799904" y="4987615"/>
                  <a:pt x="4824087" y="4969531"/>
                  <a:pt x="4786778" y="4967817"/>
                </a:cubicBezTo>
                <a:cubicBezTo>
                  <a:pt x="4801901" y="4948343"/>
                  <a:pt x="4739845" y="4972374"/>
                  <a:pt x="4743741" y="4948216"/>
                </a:cubicBezTo>
                <a:cubicBezTo>
                  <a:pt x="4736829" y="4948670"/>
                  <a:pt x="4730010" y="4949869"/>
                  <a:pt x="4723136" y="4951257"/>
                </a:cubicBezTo>
                <a:lnTo>
                  <a:pt x="4719535" y="4951970"/>
                </a:lnTo>
                <a:lnTo>
                  <a:pt x="4706143" y="4950704"/>
                </a:lnTo>
                <a:lnTo>
                  <a:pt x="4701098" y="4955500"/>
                </a:lnTo>
                <a:lnTo>
                  <a:pt x="4680034" y="4957289"/>
                </a:lnTo>
                <a:cubicBezTo>
                  <a:pt x="4672339" y="4957161"/>
                  <a:pt x="4664292" y="4956094"/>
                  <a:pt x="4655741" y="4953520"/>
                </a:cubicBezTo>
                <a:cubicBezTo>
                  <a:pt x="4636359" y="4940479"/>
                  <a:pt x="4599701" y="4946454"/>
                  <a:pt x="4569298" y="4940691"/>
                </a:cubicBezTo>
                <a:lnTo>
                  <a:pt x="4555978" y="4935439"/>
                </a:lnTo>
                <a:lnTo>
                  <a:pt x="4508950" y="4932725"/>
                </a:lnTo>
                <a:cubicBezTo>
                  <a:pt x="4495669" y="4931511"/>
                  <a:pt x="4482007" y="4929765"/>
                  <a:pt x="4467838" y="4927057"/>
                </a:cubicBezTo>
                <a:lnTo>
                  <a:pt x="4441949" y="4920349"/>
                </a:lnTo>
                <a:lnTo>
                  <a:pt x="4394719" y="4912853"/>
                </a:lnTo>
                <a:lnTo>
                  <a:pt x="4356810" y="4916186"/>
                </a:lnTo>
                <a:lnTo>
                  <a:pt x="4222145" y="4920166"/>
                </a:lnTo>
                <a:cubicBezTo>
                  <a:pt x="4202488" y="4924963"/>
                  <a:pt x="4184742" y="4944595"/>
                  <a:pt x="4160481" y="4934555"/>
                </a:cubicBezTo>
                <a:cubicBezTo>
                  <a:pt x="4165854" y="4945670"/>
                  <a:pt x="4131661" y="4931019"/>
                  <a:pt x="4124879" y="4940397"/>
                </a:cubicBezTo>
                <a:cubicBezTo>
                  <a:pt x="4120895" y="4948198"/>
                  <a:pt x="4109593" y="4945570"/>
                  <a:pt x="4100114" y="4947117"/>
                </a:cubicBezTo>
                <a:cubicBezTo>
                  <a:pt x="4091835" y="4954382"/>
                  <a:pt x="4045978" y="4954676"/>
                  <a:pt x="4030957" y="4950944"/>
                </a:cubicBezTo>
                <a:cubicBezTo>
                  <a:pt x="3989825" y="4935537"/>
                  <a:pt x="3946860" y="4963196"/>
                  <a:pt x="3913764" y="4951738"/>
                </a:cubicBezTo>
                <a:cubicBezTo>
                  <a:pt x="3904534" y="4951024"/>
                  <a:pt x="3896577" y="4951663"/>
                  <a:pt x="3889457" y="4953140"/>
                </a:cubicBezTo>
                <a:lnTo>
                  <a:pt x="3871115" y="4959252"/>
                </a:lnTo>
                <a:lnTo>
                  <a:pt x="3869086" y="4964946"/>
                </a:lnTo>
                <a:lnTo>
                  <a:pt x="3856124" y="4966504"/>
                </a:lnTo>
                <a:lnTo>
                  <a:pt x="3835967" y="4975175"/>
                </a:lnTo>
                <a:cubicBezTo>
                  <a:pt x="3826465" y="4950975"/>
                  <a:pt x="3782586" y="4987146"/>
                  <a:pt x="3785910" y="4965148"/>
                </a:cubicBezTo>
                <a:cubicBezTo>
                  <a:pt x="3750785" y="4971249"/>
                  <a:pt x="3699033" y="4952693"/>
                  <a:pt x="3671085" y="4977741"/>
                </a:cubicBezTo>
                <a:cubicBezTo>
                  <a:pt x="3621255" y="4982620"/>
                  <a:pt x="3562637" y="4994206"/>
                  <a:pt x="3486928" y="4994420"/>
                </a:cubicBezTo>
                <a:cubicBezTo>
                  <a:pt x="3446030" y="4994640"/>
                  <a:pt x="3343460" y="4976299"/>
                  <a:pt x="3280956" y="4975036"/>
                </a:cubicBezTo>
                <a:cubicBezTo>
                  <a:pt x="3227193" y="4980695"/>
                  <a:pt x="3256481" y="4973778"/>
                  <a:pt x="3211563" y="4993919"/>
                </a:cubicBezTo>
                <a:cubicBezTo>
                  <a:pt x="3207119" y="4990757"/>
                  <a:pt x="3170070" y="4988394"/>
                  <a:pt x="3164681" y="4986606"/>
                </a:cubicBezTo>
                <a:lnTo>
                  <a:pt x="3127171" y="4979411"/>
                </a:lnTo>
                <a:lnTo>
                  <a:pt x="3096889" y="4976795"/>
                </a:lnTo>
                <a:cubicBezTo>
                  <a:pt x="3088441" y="4978753"/>
                  <a:pt x="3082883" y="4978233"/>
                  <a:pt x="3078620" y="4976620"/>
                </a:cubicBezTo>
                <a:lnTo>
                  <a:pt x="3074275" y="4973840"/>
                </a:lnTo>
                <a:lnTo>
                  <a:pt x="3036436" y="4968613"/>
                </a:lnTo>
                <a:lnTo>
                  <a:pt x="3031995" y="4969990"/>
                </a:lnTo>
                <a:lnTo>
                  <a:pt x="2994028" y="4967956"/>
                </a:lnTo>
                <a:cubicBezTo>
                  <a:pt x="2992299" y="4970105"/>
                  <a:pt x="2989407" y="4971561"/>
                  <a:pt x="2984001" y="4971609"/>
                </a:cubicBezTo>
                <a:cubicBezTo>
                  <a:pt x="2994191" y="4986644"/>
                  <a:pt x="2981386" y="4977427"/>
                  <a:pt x="2964542" y="4976237"/>
                </a:cubicBezTo>
                <a:cubicBezTo>
                  <a:pt x="2976613" y="4999323"/>
                  <a:pt x="2927627" y="4986817"/>
                  <a:pt x="2921274" y="4999668"/>
                </a:cubicBezTo>
                <a:cubicBezTo>
                  <a:pt x="2908629" y="4998274"/>
                  <a:pt x="2895476" y="4997220"/>
                  <a:pt x="2882111" y="4996632"/>
                </a:cubicBezTo>
                <a:lnTo>
                  <a:pt x="2874282" y="4996582"/>
                </a:lnTo>
                <a:cubicBezTo>
                  <a:pt x="2874237" y="4996658"/>
                  <a:pt x="2874193" y="4996735"/>
                  <a:pt x="2874147" y="4996812"/>
                </a:cubicBezTo>
                <a:cubicBezTo>
                  <a:pt x="2872492" y="4997296"/>
                  <a:pt x="2869935" y="4997466"/>
                  <a:pt x="2865932" y="4997221"/>
                </a:cubicBezTo>
                <a:lnTo>
                  <a:pt x="2860008" y="4996489"/>
                </a:lnTo>
                <a:lnTo>
                  <a:pt x="2844819" y="4996392"/>
                </a:lnTo>
                <a:lnTo>
                  <a:pt x="2839735" y="4997900"/>
                </a:lnTo>
                <a:lnTo>
                  <a:pt x="2837922" y="5000718"/>
                </a:lnTo>
                <a:lnTo>
                  <a:pt x="2836507" y="5000394"/>
                </a:lnTo>
                <a:cubicBezTo>
                  <a:pt x="2825749" y="4995427"/>
                  <a:pt x="2822382" y="4988291"/>
                  <a:pt x="2808859" y="5008050"/>
                </a:cubicBezTo>
                <a:cubicBezTo>
                  <a:pt x="2784233" y="4999995"/>
                  <a:pt x="2779499" y="5012041"/>
                  <a:pt x="2745907" y="5016391"/>
                </a:cubicBezTo>
                <a:cubicBezTo>
                  <a:pt x="2731796" y="5008784"/>
                  <a:pt x="2720518" y="5011549"/>
                  <a:pt x="2709519" y="5017601"/>
                </a:cubicBezTo>
                <a:cubicBezTo>
                  <a:pt x="2676766" y="5014138"/>
                  <a:pt x="2646981" y="5022656"/>
                  <a:pt x="2610212" y="5024813"/>
                </a:cubicBezTo>
                <a:cubicBezTo>
                  <a:pt x="2570359" y="5014992"/>
                  <a:pt x="2550109" y="5032793"/>
                  <a:pt x="2510814" y="5035020"/>
                </a:cubicBezTo>
                <a:cubicBezTo>
                  <a:pt x="2476639" y="5017991"/>
                  <a:pt x="2482834" y="5049980"/>
                  <a:pt x="2462736" y="5056754"/>
                </a:cubicBezTo>
                <a:lnTo>
                  <a:pt x="2457050" y="5057379"/>
                </a:lnTo>
                <a:lnTo>
                  <a:pt x="2442184" y="5054901"/>
                </a:lnTo>
                <a:lnTo>
                  <a:pt x="2436703" y="5053277"/>
                </a:lnTo>
                <a:cubicBezTo>
                  <a:pt x="2432888" y="5052418"/>
                  <a:pt x="2430299" y="5052175"/>
                  <a:pt x="2428451" y="5052373"/>
                </a:cubicBezTo>
                <a:lnTo>
                  <a:pt x="2420551" y="5051292"/>
                </a:lnTo>
                <a:cubicBezTo>
                  <a:pt x="2407700" y="5048633"/>
                  <a:pt x="2395274" y="5045570"/>
                  <a:pt x="2383501" y="5042264"/>
                </a:cubicBezTo>
                <a:cubicBezTo>
                  <a:pt x="2362992" y="5043848"/>
                  <a:pt x="2317884" y="5059023"/>
                  <a:pt x="2297493" y="5060796"/>
                </a:cubicBezTo>
                <a:lnTo>
                  <a:pt x="2261156" y="5052905"/>
                </a:lnTo>
                <a:lnTo>
                  <a:pt x="2200581" y="5036274"/>
                </a:lnTo>
                <a:lnTo>
                  <a:pt x="2198380" y="5036861"/>
                </a:lnTo>
                <a:lnTo>
                  <a:pt x="2116066" y="5030866"/>
                </a:lnTo>
                <a:cubicBezTo>
                  <a:pt x="2111600" y="5028328"/>
                  <a:pt x="2059664" y="5017338"/>
                  <a:pt x="2056754" y="5013653"/>
                </a:cubicBezTo>
                <a:cubicBezTo>
                  <a:pt x="2003393" y="5025622"/>
                  <a:pt x="1998298" y="5020073"/>
                  <a:pt x="1942916" y="5016969"/>
                </a:cubicBezTo>
                <a:cubicBezTo>
                  <a:pt x="1882138" y="5005950"/>
                  <a:pt x="1836966" y="4987831"/>
                  <a:pt x="1796717" y="4981610"/>
                </a:cubicBezTo>
                <a:cubicBezTo>
                  <a:pt x="1724075" y="4970499"/>
                  <a:pt x="1636218" y="4947449"/>
                  <a:pt x="1583222" y="4942334"/>
                </a:cubicBezTo>
                <a:cubicBezTo>
                  <a:pt x="1544265" y="4961611"/>
                  <a:pt x="1556109" y="4938719"/>
                  <a:pt x="1518821" y="4938963"/>
                </a:cubicBezTo>
                <a:cubicBezTo>
                  <a:pt x="1497291" y="4936197"/>
                  <a:pt x="1483221" y="4927794"/>
                  <a:pt x="1471837" y="4925740"/>
                </a:cubicBezTo>
                <a:lnTo>
                  <a:pt x="1450515" y="4926642"/>
                </a:lnTo>
                <a:lnTo>
                  <a:pt x="1437078" y="4926078"/>
                </a:lnTo>
                <a:lnTo>
                  <a:pt x="1432462" y="4931139"/>
                </a:lnTo>
                <a:lnTo>
                  <a:pt x="1411645" y="4934032"/>
                </a:lnTo>
                <a:cubicBezTo>
                  <a:pt x="1384856" y="4931153"/>
                  <a:pt x="1306656" y="4918434"/>
                  <a:pt x="1271729" y="4913863"/>
                </a:cubicBezTo>
                <a:cubicBezTo>
                  <a:pt x="1258697" y="4907976"/>
                  <a:pt x="1213546" y="4901042"/>
                  <a:pt x="1202076" y="4906608"/>
                </a:cubicBezTo>
                <a:cubicBezTo>
                  <a:pt x="1192059" y="4906580"/>
                  <a:pt x="1182171" y="4902320"/>
                  <a:pt x="1174670" y="4909064"/>
                </a:cubicBezTo>
                <a:cubicBezTo>
                  <a:pt x="1163701" y="4916862"/>
                  <a:pt x="1136874" y="4897641"/>
                  <a:pt x="1137035" y="4908989"/>
                </a:cubicBezTo>
                <a:cubicBezTo>
                  <a:pt x="1117838" y="4895687"/>
                  <a:pt x="1091386" y="4911450"/>
                  <a:pt x="1069882" y="4912892"/>
                </a:cubicBezTo>
                <a:cubicBezTo>
                  <a:pt x="1055589" y="4900472"/>
                  <a:pt x="1024570" y="4915744"/>
                  <a:pt x="980935" y="4911119"/>
                </a:cubicBezTo>
                <a:cubicBezTo>
                  <a:pt x="947614" y="4906556"/>
                  <a:pt x="913224" y="4897403"/>
                  <a:pt x="869960" y="4885518"/>
                </a:cubicBezTo>
                <a:cubicBezTo>
                  <a:pt x="819114" y="4856727"/>
                  <a:pt x="768074" y="4850663"/>
                  <a:pt x="721345" y="4839806"/>
                </a:cubicBezTo>
                <a:cubicBezTo>
                  <a:pt x="667944" y="4829906"/>
                  <a:pt x="698286" y="4859338"/>
                  <a:pt x="635428" y="4830000"/>
                </a:cubicBezTo>
                <a:cubicBezTo>
                  <a:pt x="626286" y="4837571"/>
                  <a:pt x="617638" y="4836842"/>
                  <a:pt x="604106" y="4830842"/>
                </a:cubicBezTo>
                <a:cubicBezTo>
                  <a:pt x="583276" y="4833091"/>
                  <a:pt x="539859" y="4845979"/>
                  <a:pt x="510451" y="4843485"/>
                </a:cubicBezTo>
                <a:cubicBezTo>
                  <a:pt x="489781" y="4840800"/>
                  <a:pt x="443867" y="4818678"/>
                  <a:pt x="427656" y="4815877"/>
                </a:cubicBezTo>
                <a:cubicBezTo>
                  <a:pt x="424088" y="4817297"/>
                  <a:pt x="419580" y="4820561"/>
                  <a:pt x="413184" y="4826676"/>
                </a:cubicBezTo>
                <a:cubicBezTo>
                  <a:pt x="387673" y="4816699"/>
                  <a:pt x="379855" y="4828170"/>
                  <a:pt x="341772" y="4829671"/>
                </a:cubicBezTo>
                <a:cubicBezTo>
                  <a:pt x="327795" y="4821005"/>
                  <a:pt x="314729" y="4822794"/>
                  <a:pt x="301266" y="4827842"/>
                </a:cubicBezTo>
                <a:cubicBezTo>
                  <a:pt x="265781" y="4821714"/>
                  <a:pt x="231017" y="4827635"/>
                  <a:pt x="189886" y="4826710"/>
                </a:cubicBezTo>
                <a:cubicBezTo>
                  <a:pt x="147910" y="4813727"/>
                  <a:pt x="121702" y="4829584"/>
                  <a:pt x="77762" y="4828518"/>
                </a:cubicBezTo>
                <a:cubicBezTo>
                  <a:pt x="38733" y="4806108"/>
                  <a:pt x="44308" y="4851138"/>
                  <a:pt x="8164" y="4846203"/>
                </a:cubicBezTo>
                <a:lnTo>
                  <a:pt x="0" y="4843648"/>
                </a:lnTo>
                <a:lnTo>
                  <a:pt x="0" y="4080681"/>
                </a:lnTo>
                <a:close/>
              </a:path>
            </a:pathLst>
          </a:custGeom>
        </p:spPr>
      </p:pic>
      <p:pic>
        <p:nvPicPr>
          <p:cNvPr id="8" name="Grafik 7" descr="Ein Bild, das Entwurf, Zeichnung, Cartoon, Kunst enthält.&#10;&#10;Automatisch generierte Beschreibung">
            <a:extLst>
              <a:ext uri="{FF2B5EF4-FFF2-40B4-BE49-F238E27FC236}">
                <a16:creationId xmlns:a16="http://schemas.microsoft.com/office/drawing/2014/main" id="{40BCE51C-D935-B390-89FC-971D2058BACB}"/>
              </a:ext>
            </a:extLst>
          </p:cNvPr>
          <p:cNvPicPr>
            <a:picLocks noChangeAspect="1"/>
          </p:cNvPicPr>
          <p:nvPr userDrawn="1"/>
        </p:nvPicPr>
        <p:blipFill>
          <a:blip r:embed="rId3"/>
          <a:srcRect l="3788" r="7323"/>
          <a:stretch/>
        </p:blipFill>
        <p:spPr bwMode="auto">
          <a:xfrm>
            <a:off x="8439314" y="2539471"/>
            <a:ext cx="3360800" cy="3780895"/>
          </a:xfrm>
          <a:custGeom>
            <a:avLst/>
            <a:gdLst/>
            <a:ahLst/>
            <a:cxnLst/>
            <a:rect l="l" t="t" r="r" b="b"/>
            <a:pathLst>
              <a:path w="6095999" h="6858000" extrusionOk="0">
                <a:moveTo>
                  <a:pt x="0" y="0"/>
                </a:moveTo>
                <a:lnTo>
                  <a:pt x="6095999" y="0"/>
                </a:lnTo>
                <a:lnTo>
                  <a:pt x="6095999" y="6858000"/>
                </a:lnTo>
                <a:lnTo>
                  <a:pt x="0" y="6858000"/>
                </a:lnTo>
                <a:lnTo>
                  <a:pt x="0" y="6857999"/>
                </a:lnTo>
                <a:lnTo>
                  <a:pt x="4220980" y="6857999"/>
                </a:lnTo>
                <a:lnTo>
                  <a:pt x="4213164" y="6851010"/>
                </a:lnTo>
                <a:cubicBezTo>
                  <a:pt x="4181666" y="6825777"/>
                  <a:pt x="4066661" y="6744343"/>
                  <a:pt x="4062999" y="6737842"/>
                </a:cubicBezTo>
                <a:cubicBezTo>
                  <a:pt x="4024279" y="6693220"/>
                  <a:pt x="4060463" y="6731339"/>
                  <a:pt x="3994350" y="6686435"/>
                </a:cubicBezTo>
                <a:cubicBezTo>
                  <a:pt x="3947033" y="6670674"/>
                  <a:pt x="3899856" y="6566625"/>
                  <a:pt x="3859426" y="6512643"/>
                </a:cubicBezTo>
                <a:cubicBezTo>
                  <a:pt x="3843619" y="6494605"/>
                  <a:pt x="3819111" y="6476220"/>
                  <a:pt x="3795266" y="6469055"/>
                </a:cubicBezTo>
                <a:cubicBezTo>
                  <a:pt x="3772240" y="6479507"/>
                  <a:pt x="3769424" y="6446115"/>
                  <a:pt x="3752228" y="6440526"/>
                </a:cubicBezTo>
                <a:cubicBezTo>
                  <a:pt x="3742060" y="6447641"/>
                  <a:pt x="3719048" y="6424775"/>
                  <a:pt x="3716355" y="6414007"/>
                </a:cubicBezTo>
                <a:cubicBezTo>
                  <a:pt x="3729286" y="6392352"/>
                  <a:pt x="3629924" y="6387100"/>
                  <a:pt x="3629916" y="6370687"/>
                </a:cubicBezTo>
                <a:cubicBezTo>
                  <a:pt x="3600280" y="6362353"/>
                  <a:pt x="3495200" y="6368444"/>
                  <a:pt x="3479034" y="6339494"/>
                </a:cubicBezTo>
                <a:cubicBezTo>
                  <a:pt x="3420435" y="6317314"/>
                  <a:pt x="3345614" y="6290932"/>
                  <a:pt x="3319627" y="6285893"/>
                </a:cubicBezTo>
                <a:cubicBezTo>
                  <a:pt x="3282294" y="6327705"/>
                  <a:pt x="3185936" y="6185255"/>
                  <a:pt x="3075494" y="6164273"/>
                </a:cubicBezTo>
                <a:cubicBezTo>
                  <a:pt x="3059427" y="6166243"/>
                  <a:pt x="3051440" y="6164859"/>
                  <a:pt x="3050019" y="6153683"/>
                </a:cubicBezTo>
                <a:cubicBezTo>
                  <a:pt x="3016030" y="6146243"/>
                  <a:pt x="2991340" y="6114870"/>
                  <a:pt x="2963636" y="6123708"/>
                </a:cubicBezTo>
                <a:cubicBezTo>
                  <a:pt x="2928425" y="6105855"/>
                  <a:pt x="2947049" y="6092097"/>
                  <a:pt x="2914912" y="6078439"/>
                </a:cubicBezTo>
                <a:lnTo>
                  <a:pt x="2770812" y="6041758"/>
                </a:lnTo>
                <a:cubicBezTo>
                  <a:pt x="2750466" y="6034724"/>
                  <a:pt x="2729222" y="6014032"/>
                  <a:pt x="2708585" y="6007728"/>
                </a:cubicBezTo>
                <a:lnTo>
                  <a:pt x="2687072" y="6003931"/>
                </a:lnTo>
                <a:lnTo>
                  <a:pt x="2674457" y="5991515"/>
                </a:lnTo>
                <a:cubicBezTo>
                  <a:pt x="2668773" y="5988707"/>
                  <a:pt x="2661696" y="5988167"/>
                  <a:pt x="2652298" y="5991525"/>
                </a:cubicBezTo>
                <a:cubicBezTo>
                  <a:pt x="2634345" y="5986939"/>
                  <a:pt x="2583809" y="5969299"/>
                  <a:pt x="2566743" y="5963996"/>
                </a:cubicBezTo>
                <a:lnTo>
                  <a:pt x="2549903" y="5959709"/>
                </a:lnTo>
                <a:lnTo>
                  <a:pt x="2542177" y="5951723"/>
                </a:lnTo>
                <a:cubicBezTo>
                  <a:pt x="2529898" y="5945994"/>
                  <a:pt x="2498812" y="5935402"/>
                  <a:pt x="2476225" y="5925338"/>
                </a:cubicBezTo>
                <a:cubicBezTo>
                  <a:pt x="2457810" y="5911056"/>
                  <a:pt x="2433846" y="5899348"/>
                  <a:pt x="2406656" y="5891344"/>
                </a:cubicBezTo>
                <a:cubicBezTo>
                  <a:pt x="2400991" y="5896275"/>
                  <a:pt x="2393612" y="5885783"/>
                  <a:pt x="2389160" y="5883030"/>
                </a:cubicBezTo>
                <a:cubicBezTo>
                  <a:pt x="2387458" y="5886701"/>
                  <a:pt x="2375233" y="5885881"/>
                  <a:pt x="2372540" y="5881920"/>
                </a:cubicBezTo>
                <a:cubicBezTo>
                  <a:pt x="2293168" y="5849488"/>
                  <a:pt x="2325743" y="5894734"/>
                  <a:pt x="2283811" y="5862541"/>
                </a:cubicBezTo>
                <a:cubicBezTo>
                  <a:pt x="2275730" y="5859531"/>
                  <a:pt x="2268484" y="5859925"/>
                  <a:pt x="2261759" y="5861764"/>
                </a:cubicBezTo>
                <a:lnTo>
                  <a:pt x="2219265" y="5849327"/>
                </a:lnTo>
                <a:cubicBezTo>
                  <a:pt x="2203078" y="5842651"/>
                  <a:pt x="2185672" y="5837119"/>
                  <a:pt x="2167456" y="5832891"/>
                </a:cubicBezTo>
                <a:cubicBezTo>
                  <a:pt x="2161387" y="5839963"/>
                  <a:pt x="2149583" y="5826532"/>
                  <a:pt x="2143288" y="5823218"/>
                </a:cubicBezTo>
                <a:cubicBezTo>
                  <a:pt x="2141966" y="5828274"/>
                  <a:pt x="2126227" y="5828196"/>
                  <a:pt x="2121889" y="5823116"/>
                </a:cubicBezTo>
                <a:cubicBezTo>
                  <a:pt x="2013448" y="5786297"/>
                  <a:pt x="2065303" y="5844161"/>
                  <a:pt x="2004548" y="5804552"/>
                </a:cubicBezTo>
                <a:cubicBezTo>
                  <a:pt x="1993575" y="5801194"/>
                  <a:pt x="1984449" y="5802325"/>
                  <a:pt x="1976317" y="5805346"/>
                </a:cubicBezTo>
                <a:lnTo>
                  <a:pt x="1960968" y="5813703"/>
                </a:lnTo>
                <a:lnTo>
                  <a:pt x="1951886" y="5808313"/>
                </a:lnTo>
                <a:cubicBezTo>
                  <a:pt x="1914205" y="5801767"/>
                  <a:pt x="1900427" y="5810657"/>
                  <a:pt x="1881129" y="5796205"/>
                </a:cubicBezTo>
                <a:cubicBezTo>
                  <a:pt x="1847467" y="5788576"/>
                  <a:pt x="1808824" y="5783942"/>
                  <a:pt x="1778393" y="5776687"/>
                </a:cubicBezTo>
                <a:cubicBezTo>
                  <a:pt x="1764338" y="5756704"/>
                  <a:pt x="1721542" y="5761928"/>
                  <a:pt x="1698544" y="5752677"/>
                </a:cubicBezTo>
                <a:cubicBezTo>
                  <a:pt x="1688689" y="5744367"/>
                  <a:pt x="1680710" y="5741898"/>
                  <a:pt x="1667763" y="5746936"/>
                </a:cubicBezTo>
                <a:cubicBezTo>
                  <a:pt x="1622782" y="5706970"/>
                  <a:pt x="1636232" y="5740258"/>
                  <a:pt x="1589890" y="5720079"/>
                </a:cubicBezTo>
                <a:cubicBezTo>
                  <a:pt x="1550522" y="5700408"/>
                  <a:pt x="1504390" y="5684235"/>
                  <a:pt x="1470745" y="5647268"/>
                </a:cubicBezTo>
                <a:cubicBezTo>
                  <a:pt x="1465307" y="5637473"/>
                  <a:pt x="1447590" y="5631171"/>
                  <a:pt x="1431171" y="5633192"/>
                </a:cubicBezTo>
                <a:cubicBezTo>
                  <a:pt x="1428344" y="5633540"/>
                  <a:pt x="1425665" y="5634127"/>
                  <a:pt x="1423215" y="5634934"/>
                </a:cubicBezTo>
                <a:cubicBezTo>
                  <a:pt x="1404063" y="5609561"/>
                  <a:pt x="1384477" y="5616951"/>
                  <a:pt x="1377158" y="5600720"/>
                </a:cubicBezTo>
                <a:cubicBezTo>
                  <a:pt x="1337416" y="5587406"/>
                  <a:pt x="1299119" y="5594952"/>
                  <a:pt x="1292001" y="5580595"/>
                </a:cubicBezTo>
                <a:cubicBezTo>
                  <a:pt x="1270404" y="5577445"/>
                  <a:pt x="1236263" y="5586393"/>
                  <a:pt x="1224877" y="5570207"/>
                </a:cubicBezTo>
                <a:cubicBezTo>
                  <a:pt x="1218892" y="5580643"/>
                  <a:pt x="1203320" y="5557444"/>
                  <a:pt x="1188481" y="5562311"/>
                </a:cubicBezTo>
                <a:cubicBezTo>
                  <a:pt x="1177571" y="5566931"/>
                  <a:pt x="1170302" y="5560971"/>
                  <a:pt x="1160620" y="5558862"/>
                </a:cubicBezTo>
                <a:cubicBezTo>
                  <a:pt x="1146504" y="5561577"/>
                  <a:pt x="1106544" y="5545833"/>
                  <a:pt x="1097113" y="5537725"/>
                </a:cubicBezTo>
                <a:cubicBezTo>
                  <a:pt x="1076260" y="5511528"/>
                  <a:pt x="1012618" y="5517876"/>
                  <a:pt x="994944" y="5497522"/>
                </a:cubicBezTo>
                <a:cubicBezTo>
                  <a:pt x="987638" y="5493756"/>
                  <a:pt x="980141" y="5491480"/>
                  <a:pt x="972567" y="5490138"/>
                </a:cubicBezTo>
                <a:lnTo>
                  <a:pt x="927036" y="5488921"/>
                </a:lnTo>
                <a:lnTo>
                  <a:pt x="905198" y="5488488"/>
                </a:lnTo>
                <a:cubicBezTo>
                  <a:pt x="920127" y="5466532"/>
                  <a:pt x="847550" y="5479119"/>
                  <a:pt x="871473" y="5463326"/>
                </a:cubicBezTo>
                <a:cubicBezTo>
                  <a:pt x="835241" y="5455796"/>
                  <a:pt x="824844" y="5441869"/>
                  <a:pt x="787335" y="5431076"/>
                </a:cubicBezTo>
                <a:lnTo>
                  <a:pt x="646418" y="5398569"/>
                </a:lnTo>
                <a:cubicBezTo>
                  <a:pt x="594533" y="5378172"/>
                  <a:pt x="569175" y="5376706"/>
                  <a:pt x="522316" y="5365133"/>
                </a:cubicBezTo>
                <a:cubicBezTo>
                  <a:pt x="485699" y="5316148"/>
                  <a:pt x="451396" y="5327743"/>
                  <a:pt x="425051" y="5295085"/>
                </a:cubicBezTo>
                <a:cubicBezTo>
                  <a:pt x="373115" y="5280721"/>
                  <a:pt x="376598" y="5265782"/>
                  <a:pt x="318461" y="5265657"/>
                </a:cubicBezTo>
                <a:lnTo>
                  <a:pt x="266536" y="5232252"/>
                </a:lnTo>
                <a:cubicBezTo>
                  <a:pt x="254867" y="5225616"/>
                  <a:pt x="251642" y="5227516"/>
                  <a:pt x="248444" y="5225838"/>
                </a:cubicBezTo>
                <a:lnTo>
                  <a:pt x="247345" y="5222181"/>
                </a:lnTo>
                <a:lnTo>
                  <a:pt x="237345" y="5217023"/>
                </a:lnTo>
                <a:lnTo>
                  <a:pt x="219603" y="5204977"/>
                </a:lnTo>
                <a:lnTo>
                  <a:pt x="214443" y="5204489"/>
                </a:lnTo>
                <a:lnTo>
                  <a:pt x="184816" y="5189073"/>
                </a:lnTo>
                <a:lnTo>
                  <a:pt x="183534" y="5189699"/>
                </a:lnTo>
                <a:cubicBezTo>
                  <a:pt x="179981" y="5190754"/>
                  <a:pt x="176085" y="5190869"/>
                  <a:pt x="171363" y="5189023"/>
                </a:cubicBezTo>
                <a:cubicBezTo>
                  <a:pt x="165797" y="5204157"/>
                  <a:pt x="163531" y="5192594"/>
                  <a:pt x="150096" y="5185813"/>
                </a:cubicBezTo>
                <a:lnTo>
                  <a:pt x="59253" y="5172817"/>
                </a:lnTo>
                <a:lnTo>
                  <a:pt x="52526" y="5170052"/>
                </a:lnTo>
                <a:lnTo>
                  <a:pt x="52188" y="5170183"/>
                </a:lnTo>
                <a:cubicBezTo>
                  <a:pt x="50293" y="5169980"/>
                  <a:pt x="47917" y="5169219"/>
                  <a:pt x="44687" y="5167637"/>
                </a:cubicBezTo>
                <a:lnTo>
                  <a:pt x="40261" y="5165012"/>
                </a:lnTo>
                <a:lnTo>
                  <a:pt x="27209" y="5159648"/>
                </a:lnTo>
                <a:lnTo>
                  <a:pt x="21368" y="5159036"/>
                </a:lnTo>
                <a:lnTo>
                  <a:pt x="0" y="5158850"/>
                </a:lnTo>
                <a:close/>
              </a:path>
            </a:pathLst>
          </a:custGeom>
        </p:spPr>
      </p:pic>
    </p:spTree>
    <p:extLst>
      <p:ext uri="{BB962C8B-B14F-4D97-AF65-F5344CB8AC3E}">
        <p14:creationId xmlns:p14="http://schemas.microsoft.com/office/powerpoint/2010/main" val="1181280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7" name="Abgerundetes Rechteck 6">
            <a:extLst>
              <a:ext uri="{FF2B5EF4-FFF2-40B4-BE49-F238E27FC236}">
                <a16:creationId xmlns:a16="http://schemas.microsoft.com/office/drawing/2014/main" id="{B562DE5B-176B-4F3A-F319-1E5E31C60AC0}"/>
              </a:ext>
            </a:extLst>
          </p:cNvPr>
          <p:cNvSpPr/>
          <p:nvPr userDrawn="1"/>
        </p:nvSpPr>
        <p:spPr>
          <a:xfrm>
            <a:off x="6615112" y="0"/>
            <a:ext cx="6734175" cy="7043737"/>
          </a:xfrm>
          <a:prstGeom prst="roundRect">
            <a:avLst/>
          </a:prstGeom>
          <a:solidFill>
            <a:srgbClr val="E9E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el 1">
            <a:extLst>
              <a:ext uri="{FF2B5EF4-FFF2-40B4-BE49-F238E27FC236}">
                <a16:creationId xmlns:a16="http://schemas.microsoft.com/office/drawing/2014/main" id="{28B885C7-6C95-F6B2-D533-EC5083ADB8F5}"/>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93AF04AC-E29E-9300-D681-76CD5B618E2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DD5D7BD2-78F4-7C97-8130-2A421BAEA465}"/>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5" name="Fußzeilenplatzhalter 4">
            <a:extLst>
              <a:ext uri="{FF2B5EF4-FFF2-40B4-BE49-F238E27FC236}">
                <a16:creationId xmlns:a16="http://schemas.microsoft.com/office/drawing/2014/main" id="{5DE607E3-BC36-9E50-2A2C-1F6462359D27}"/>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53A78AD3-34CA-6BD8-4E33-74172D3909B9}"/>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1300413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7" name="Abgerundetes Rechteck 6">
            <a:extLst>
              <a:ext uri="{FF2B5EF4-FFF2-40B4-BE49-F238E27FC236}">
                <a16:creationId xmlns:a16="http://schemas.microsoft.com/office/drawing/2014/main" id="{CFC68340-2602-A2A5-AA3A-77DE2B96566B}"/>
              </a:ext>
            </a:extLst>
          </p:cNvPr>
          <p:cNvSpPr/>
          <p:nvPr userDrawn="1"/>
        </p:nvSpPr>
        <p:spPr>
          <a:xfrm>
            <a:off x="514351" y="442913"/>
            <a:ext cx="11201400" cy="5786437"/>
          </a:xfrm>
          <a:prstGeom prst="roundRect">
            <a:avLst/>
          </a:prstGeom>
          <a:solidFill>
            <a:srgbClr val="E9E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el 1">
            <a:extLst>
              <a:ext uri="{FF2B5EF4-FFF2-40B4-BE49-F238E27FC236}">
                <a16:creationId xmlns:a16="http://schemas.microsoft.com/office/drawing/2014/main" id="{DD631AAB-CD25-B401-2EF7-A239FFEF3AB4}"/>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CCAC12BF-D926-96F4-AA0B-B4249FA431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1BA17D41-2E27-10E6-B803-AE404C85524A}"/>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5" name="Fußzeilenplatzhalter 4">
            <a:extLst>
              <a:ext uri="{FF2B5EF4-FFF2-40B4-BE49-F238E27FC236}">
                <a16:creationId xmlns:a16="http://schemas.microsoft.com/office/drawing/2014/main" id="{D2CD8B5C-042A-E12C-CA95-BEB50E0EBAC5}"/>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639CFF27-E5F0-D798-7F7D-74EECFC93D73}"/>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2442706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bg>
      <p:bgPr>
        <a:solidFill>
          <a:srgbClr val="E9E4E5"/>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2D324B-5CFE-B74F-F83C-32F50394D343}"/>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52D5D79B-E68C-FB87-6110-5185CE0F39BE}"/>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AAD647D0-7459-9ABA-7103-3DAD3419A808}"/>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95805915-D4CC-1056-F1E6-9B1C145191D5}"/>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6" name="Fußzeilenplatzhalter 5">
            <a:extLst>
              <a:ext uri="{FF2B5EF4-FFF2-40B4-BE49-F238E27FC236}">
                <a16:creationId xmlns:a16="http://schemas.microsoft.com/office/drawing/2014/main" id="{EC5811A7-4A50-2AF1-1748-759863B29018}"/>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68C5C5E2-74B4-9BE5-6BC4-9A0E5B115162}"/>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1250051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bg>
      <p:bgPr>
        <a:solidFill>
          <a:srgbClr val="E9E4E5"/>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C19AA3-EA01-32DB-FC34-FB7C4C581975}"/>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77CA0985-AD41-2D2C-2E67-522D3D73F2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5E848403-5E7F-64A7-772B-A2ECC869B3B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26FD5B09-D9F2-F714-C29B-9979892AD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9B2F1FCF-3343-2F55-8B4A-AEBF0190F18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5A0CFE28-28EB-E0A4-248F-43EAF530FED7}"/>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8" name="Fußzeilenplatzhalter 7">
            <a:extLst>
              <a:ext uri="{FF2B5EF4-FFF2-40B4-BE49-F238E27FC236}">
                <a16:creationId xmlns:a16="http://schemas.microsoft.com/office/drawing/2014/main" id="{607B8377-2D4B-3F22-2BFF-4A4AA91DB2B0}"/>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BAFDC77D-29DF-2C7D-C2A3-4D7742378782}"/>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2676467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6" name="Abgerundetes Rechteck 5">
            <a:extLst>
              <a:ext uri="{FF2B5EF4-FFF2-40B4-BE49-F238E27FC236}">
                <a16:creationId xmlns:a16="http://schemas.microsoft.com/office/drawing/2014/main" id="{BBC9F2A5-3F5A-E7AC-BC69-76011AA4C3A6}"/>
              </a:ext>
            </a:extLst>
          </p:cNvPr>
          <p:cNvSpPr/>
          <p:nvPr userDrawn="1"/>
        </p:nvSpPr>
        <p:spPr>
          <a:xfrm>
            <a:off x="-1894407" y="-92869"/>
            <a:ext cx="6734175" cy="7043737"/>
          </a:xfrm>
          <a:prstGeom prst="roundRect">
            <a:avLst/>
          </a:prstGeom>
          <a:solidFill>
            <a:srgbClr val="E9E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el 1">
            <a:extLst>
              <a:ext uri="{FF2B5EF4-FFF2-40B4-BE49-F238E27FC236}">
                <a16:creationId xmlns:a16="http://schemas.microsoft.com/office/drawing/2014/main" id="{1C60E4B4-8F6E-661D-E32D-22BD6E8D1957}"/>
              </a:ext>
            </a:extLst>
          </p:cNvPr>
          <p:cNvSpPr>
            <a:spLocks noGrp="1"/>
          </p:cNvSpPr>
          <p:nvPr>
            <p:ph type="title"/>
          </p:nvPr>
        </p:nvSpPr>
        <p:spPr/>
        <p:txBody>
          <a:bodyPr/>
          <a:lstStyle/>
          <a:p>
            <a:r>
              <a:rPr lang="de-DE"/>
              <a:t>Mastertitelformat bearbeiten</a:t>
            </a:r>
            <a:endParaRPr lang="de-CH"/>
          </a:p>
        </p:txBody>
      </p:sp>
      <p:sp>
        <p:nvSpPr>
          <p:cNvPr id="3" name="Datumsplatzhalter 2">
            <a:extLst>
              <a:ext uri="{FF2B5EF4-FFF2-40B4-BE49-F238E27FC236}">
                <a16:creationId xmlns:a16="http://schemas.microsoft.com/office/drawing/2014/main" id="{CC598749-45F4-CCF9-7EBD-36C09D5CF1C7}"/>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4" name="Fußzeilenplatzhalter 3">
            <a:extLst>
              <a:ext uri="{FF2B5EF4-FFF2-40B4-BE49-F238E27FC236}">
                <a16:creationId xmlns:a16="http://schemas.microsoft.com/office/drawing/2014/main" id="{2D38490B-6D9E-8230-529E-3BD1E17FBB36}"/>
              </a:ext>
            </a:extLst>
          </p:cNvPr>
          <p:cNvSpPr>
            <a:spLocks noGrp="1"/>
          </p:cNvSpPr>
          <p:nvPr>
            <p:ph type="ftr" sz="quarter" idx="11"/>
          </p:nvPr>
        </p:nvSpPr>
        <p:spPr/>
        <p:txBody>
          <a:bodyPr/>
          <a:lstStyle/>
          <a:p>
            <a:endParaRPr lang="de-CH"/>
          </a:p>
        </p:txBody>
      </p:sp>
      <p:sp>
        <p:nvSpPr>
          <p:cNvPr id="5" name="Foliennummernplatzhalter 4">
            <a:extLst>
              <a:ext uri="{FF2B5EF4-FFF2-40B4-BE49-F238E27FC236}">
                <a16:creationId xmlns:a16="http://schemas.microsoft.com/office/drawing/2014/main" id="{61E543A8-4082-5D1C-2EDB-C05E051448AE}"/>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4044877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Abgerundetes Rechteck 4">
            <a:extLst>
              <a:ext uri="{FF2B5EF4-FFF2-40B4-BE49-F238E27FC236}">
                <a16:creationId xmlns:a16="http://schemas.microsoft.com/office/drawing/2014/main" id="{A715DE8F-57DB-7ABA-253C-7048D49C7182}"/>
              </a:ext>
            </a:extLst>
          </p:cNvPr>
          <p:cNvSpPr/>
          <p:nvPr userDrawn="1"/>
        </p:nvSpPr>
        <p:spPr>
          <a:xfrm>
            <a:off x="6615112" y="0"/>
            <a:ext cx="6734175" cy="7043737"/>
          </a:xfrm>
          <a:prstGeom prst="roundRect">
            <a:avLst/>
          </a:prstGeom>
          <a:solidFill>
            <a:srgbClr val="E9E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Datumsplatzhalter 1">
            <a:extLst>
              <a:ext uri="{FF2B5EF4-FFF2-40B4-BE49-F238E27FC236}">
                <a16:creationId xmlns:a16="http://schemas.microsoft.com/office/drawing/2014/main" id="{8F13DD96-037C-228F-D843-E170D79E477D}"/>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3" name="Fußzeilenplatzhalter 2">
            <a:extLst>
              <a:ext uri="{FF2B5EF4-FFF2-40B4-BE49-F238E27FC236}">
                <a16:creationId xmlns:a16="http://schemas.microsoft.com/office/drawing/2014/main" id="{663EA4A4-795C-A8C6-C148-DFCA6282D9D2}"/>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8D8BDB4A-5308-8775-908F-619FA8E1C1ED}"/>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1512581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8" name="Abgerundetes Rechteck 7">
            <a:extLst>
              <a:ext uri="{FF2B5EF4-FFF2-40B4-BE49-F238E27FC236}">
                <a16:creationId xmlns:a16="http://schemas.microsoft.com/office/drawing/2014/main" id="{7AEF9711-339D-72B9-E72C-2B47E4C2F5A5}"/>
              </a:ext>
            </a:extLst>
          </p:cNvPr>
          <p:cNvSpPr/>
          <p:nvPr userDrawn="1"/>
        </p:nvSpPr>
        <p:spPr>
          <a:xfrm>
            <a:off x="5014913" y="0"/>
            <a:ext cx="8533136" cy="7043737"/>
          </a:xfrm>
          <a:prstGeom prst="roundRect">
            <a:avLst/>
          </a:prstGeom>
          <a:solidFill>
            <a:srgbClr val="E9E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el 1">
            <a:extLst>
              <a:ext uri="{FF2B5EF4-FFF2-40B4-BE49-F238E27FC236}">
                <a16:creationId xmlns:a16="http://schemas.microsoft.com/office/drawing/2014/main" id="{0941B875-CB85-FA8C-338E-7FCBA0B6AA25}"/>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EBB91BE5-D785-C188-8B6D-CAA6BA4BF4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14F71411-5FE9-AF19-23A5-E4393CA2DA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1848662-BB13-C27B-68B5-86C3798466D8}"/>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6" name="Fußzeilenplatzhalter 5">
            <a:extLst>
              <a:ext uri="{FF2B5EF4-FFF2-40B4-BE49-F238E27FC236}">
                <a16:creationId xmlns:a16="http://schemas.microsoft.com/office/drawing/2014/main" id="{719745A8-544B-EDD5-C4C1-DB29F9ED7206}"/>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7D019537-7F5B-D5E3-79D2-19C4351B5602}"/>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3419176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8" name="Abgerundetes Rechteck 7">
            <a:extLst>
              <a:ext uri="{FF2B5EF4-FFF2-40B4-BE49-F238E27FC236}">
                <a16:creationId xmlns:a16="http://schemas.microsoft.com/office/drawing/2014/main" id="{9BFD7F92-2A63-846B-F084-624A1B2E420D}"/>
              </a:ext>
            </a:extLst>
          </p:cNvPr>
          <p:cNvSpPr/>
          <p:nvPr userDrawn="1"/>
        </p:nvSpPr>
        <p:spPr>
          <a:xfrm>
            <a:off x="-1719262" y="-185737"/>
            <a:ext cx="6734175" cy="7043737"/>
          </a:xfrm>
          <a:prstGeom prst="roundRect">
            <a:avLst/>
          </a:prstGeom>
          <a:solidFill>
            <a:srgbClr val="E9E4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el 1">
            <a:extLst>
              <a:ext uri="{FF2B5EF4-FFF2-40B4-BE49-F238E27FC236}">
                <a16:creationId xmlns:a16="http://schemas.microsoft.com/office/drawing/2014/main" id="{9E2BF49B-DC6D-D5DF-BBF3-557032CA4435}"/>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435E3D14-9E7F-2276-0E34-300D8A69B0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54C0F75A-A16B-95FE-9330-C28E0BE0B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80CBC60-AFC1-B1BA-3BD3-935D2148B9D1}"/>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6" name="Fußzeilenplatzhalter 5">
            <a:extLst>
              <a:ext uri="{FF2B5EF4-FFF2-40B4-BE49-F238E27FC236}">
                <a16:creationId xmlns:a16="http://schemas.microsoft.com/office/drawing/2014/main" id="{08793D43-043B-9F94-DD46-F1599787F7DE}"/>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542EB2DC-B659-C92D-5DE0-A69BD72D07A9}"/>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3605813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049763-1AE9-9C1F-5701-C0FCE27F6985}"/>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2FB242EA-6864-2216-97AC-F413730EAFB8}"/>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6268BA6F-9917-5703-1901-AF7F82048307}"/>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5" name="Fußzeilenplatzhalter 4">
            <a:extLst>
              <a:ext uri="{FF2B5EF4-FFF2-40B4-BE49-F238E27FC236}">
                <a16:creationId xmlns:a16="http://schemas.microsoft.com/office/drawing/2014/main" id="{FA8A5FCF-17C8-8E30-0BBF-9749E0BF85E3}"/>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FBEBD490-926D-26E5-BAD6-535992CC06D6}"/>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2860498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7705B334-8BA5-3DC7-E618-D99DDF508350}"/>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591E82A3-9EC0-3F65-CC79-562DEE348642}"/>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E13B51EA-6EAF-D99A-11D6-E08551947A80}"/>
              </a:ext>
            </a:extLst>
          </p:cNvPr>
          <p:cNvSpPr>
            <a:spLocks noGrp="1"/>
          </p:cNvSpPr>
          <p:nvPr>
            <p:ph type="dt" sz="half" idx="10"/>
          </p:nvPr>
        </p:nvSpPr>
        <p:spPr/>
        <p:txBody>
          <a:bodyPr/>
          <a:lstStyle/>
          <a:p>
            <a:fld id="{163DD721-D8C8-214E-A1E9-5236F682A6DA}" type="datetimeFigureOut">
              <a:rPr lang="de-CH" smtClean="0"/>
              <a:t>25.10.26</a:t>
            </a:fld>
            <a:endParaRPr lang="de-CH"/>
          </a:p>
        </p:txBody>
      </p:sp>
      <p:sp>
        <p:nvSpPr>
          <p:cNvPr id="5" name="Fußzeilenplatzhalter 4">
            <a:extLst>
              <a:ext uri="{FF2B5EF4-FFF2-40B4-BE49-F238E27FC236}">
                <a16:creationId xmlns:a16="http://schemas.microsoft.com/office/drawing/2014/main" id="{66DF58BE-02BE-B85C-ADBB-4B6F12FDA586}"/>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623A49D1-82A9-A62D-B619-FAADD2248D88}"/>
              </a:ext>
            </a:extLst>
          </p:cNvPr>
          <p:cNvSpPr>
            <a:spLocks noGrp="1"/>
          </p:cNvSpPr>
          <p:nvPr>
            <p:ph type="sldNum" sz="quarter" idx="12"/>
          </p:nvPr>
        </p:nvSpPr>
        <p:spPr/>
        <p:txBody>
          <a:bodyPr/>
          <a:lstStyle/>
          <a:p>
            <a:fld id="{12CFCF80-CAE4-B54B-B4CA-8915CC6911A5}" type="slidenum">
              <a:rPr lang="de-CH" smtClean="0"/>
              <a:t>‹Nr.›</a:t>
            </a:fld>
            <a:endParaRPr lang="de-CH"/>
          </a:p>
        </p:txBody>
      </p:sp>
    </p:spTree>
    <p:extLst>
      <p:ext uri="{BB962C8B-B14F-4D97-AF65-F5344CB8AC3E}">
        <p14:creationId xmlns:p14="http://schemas.microsoft.com/office/powerpoint/2010/main" val="37561205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BC50EB6-82F3-81D2-3A70-59C0AFB018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endParaRPr lang="de-CH" dirty="0"/>
          </a:p>
        </p:txBody>
      </p:sp>
      <p:sp>
        <p:nvSpPr>
          <p:cNvPr id="3" name="Textplatzhalter 2">
            <a:extLst>
              <a:ext uri="{FF2B5EF4-FFF2-40B4-BE49-F238E27FC236}">
                <a16:creationId xmlns:a16="http://schemas.microsoft.com/office/drawing/2014/main" id="{B1D1F468-1C07-AF38-B2C6-0C26F3DDF4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4" name="Datumsplatzhalter 3">
            <a:extLst>
              <a:ext uri="{FF2B5EF4-FFF2-40B4-BE49-F238E27FC236}">
                <a16:creationId xmlns:a16="http://schemas.microsoft.com/office/drawing/2014/main" id="{EF9F946F-98E8-13DE-E869-ADB2BF797B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3DD721-D8C8-214E-A1E9-5236F682A6DA}" type="datetimeFigureOut">
              <a:rPr lang="de-CH" smtClean="0"/>
              <a:t>25.10.26</a:t>
            </a:fld>
            <a:endParaRPr lang="de-CH"/>
          </a:p>
        </p:txBody>
      </p:sp>
      <p:sp>
        <p:nvSpPr>
          <p:cNvPr id="5" name="Fußzeilenplatzhalter 4">
            <a:extLst>
              <a:ext uri="{FF2B5EF4-FFF2-40B4-BE49-F238E27FC236}">
                <a16:creationId xmlns:a16="http://schemas.microsoft.com/office/drawing/2014/main" id="{4E871423-9586-27E1-F6EB-407E538759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Foliennummernplatzhalter 5">
            <a:extLst>
              <a:ext uri="{FF2B5EF4-FFF2-40B4-BE49-F238E27FC236}">
                <a16:creationId xmlns:a16="http://schemas.microsoft.com/office/drawing/2014/main" id="{71E62131-E4A9-CDFB-5C08-A38881127D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CFCF80-CAE4-B54B-B4CA-8915CC6911A5}" type="slidenum">
              <a:rPr lang="de-CH" smtClean="0"/>
              <a:t>‹Nr.›</a:t>
            </a:fld>
            <a:endParaRPr lang="de-CH"/>
          </a:p>
        </p:txBody>
      </p:sp>
    </p:spTree>
    <p:extLst>
      <p:ext uri="{BB962C8B-B14F-4D97-AF65-F5344CB8AC3E}">
        <p14:creationId xmlns:p14="http://schemas.microsoft.com/office/powerpoint/2010/main" val="1678877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video" Target="https://www.youtube.com/embed/kpxR1iWV5Ig?feature=oembed" TargetMode="External"/><Relationship Id="rId2" Type="http://schemas.openxmlformats.org/officeDocument/2006/relationships/slideLayout" Target="../slideLayouts/slideLayout2.xml"/><Relationship Id="rId3" Type="http://schemas.openxmlformats.org/officeDocument/2006/relationships/image" Target="../media/image3.jpeg"/><Relationship Id="rId4" Type="http://schemas.openxmlformats.org/officeDocument/2006/relationships/hyperlink" Target="https://view.genially.com/65e9c1a89a7af80014758d8b"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ekdsch.sharepoint.com/sites/IT-HelpDS/SitePages/ITHelpdeskHome.asp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4E5"/>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82EF60-4154-D47D-E5C1-659F53115D3B}"/>
              </a:ext>
            </a:extLst>
          </p:cNvPr>
          <p:cNvSpPr>
            <a:spLocks noGrp="1"/>
          </p:cNvSpPr>
          <p:nvPr>
            <p:ph type="ctrTitle"/>
          </p:nvPr>
        </p:nvSpPr>
        <p:spPr/>
        <p:txBody>
          <a:bodyPr>
            <a:normAutofit fontScale="90000"/>
          </a:bodyPr>
          <a:lstStyle/>
          <a:p>
            <a:r>
              <a:rPr lang="de-CH" dirty="0"/>
              <a:t>KI verstehen und kompetent im </a:t>
            </a:r>
            <a:r>
              <a:rPr lang="de-CH"/>
              <a:t>Unterricht anwenden</a:t>
            </a:r>
            <a:endParaRPr lang="de-CH" dirty="0"/>
          </a:p>
        </p:txBody>
      </p:sp>
      <p:sp>
        <p:nvSpPr>
          <p:cNvPr id="5" name="Untertitel 4">
            <a:extLst>
              <a:ext uri="{FF2B5EF4-FFF2-40B4-BE49-F238E27FC236}">
                <a16:creationId xmlns:a16="http://schemas.microsoft.com/office/drawing/2014/main" id="{9872C47A-51EC-DFCC-8DDD-CA36B149A517}"/>
              </a:ext>
            </a:extLst>
          </p:cNvPr>
          <p:cNvSpPr>
            <a:spLocks noGrp="1"/>
          </p:cNvSpPr>
          <p:nvPr>
            <p:ph type="subTitle" idx="1"/>
          </p:nvPr>
        </p:nvSpPr>
        <p:spPr/>
        <p:txBody>
          <a:bodyPr/>
          <a:lstStyle/>
          <a:p>
            <a:r>
              <a:rPr lang="de-CH" dirty="0"/>
              <a:t>Digitale Kompetenzerweiterung</a:t>
            </a:r>
          </a:p>
        </p:txBody>
      </p:sp>
    </p:spTree>
    <p:extLst>
      <p:ext uri="{BB962C8B-B14F-4D97-AF65-F5344CB8AC3E}">
        <p14:creationId xmlns:p14="http://schemas.microsoft.com/office/powerpoint/2010/main" val="162068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D857CB-BF9B-0C0B-6526-069884A44C81}"/>
              </a:ext>
            </a:extLst>
          </p:cNvPr>
          <p:cNvSpPr>
            <a:spLocks noGrp="1"/>
          </p:cNvSpPr>
          <p:nvPr>
            <p:ph type="title"/>
          </p:nvPr>
        </p:nvSpPr>
        <p:spPr/>
        <p:txBody>
          <a:bodyPr>
            <a:normAutofit/>
          </a:bodyPr>
          <a:lstStyle/>
          <a:p>
            <a:r>
              <a:rPr lang="de-CH" sz="4000" dirty="0"/>
              <a:t>Digitale Kompetenzerweiterung: Was ist damit gemeint?</a:t>
            </a:r>
          </a:p>
        </p:txBody>
      </p:sp>
      <p:pic>
        <p:nvPicPr>
          <p:cNvPr id="4" name="Onlinemedien 3" descr="Einleitung Kartenset «Digitale Kompetenzen von Lehrpersonen»">
            <a:hlinkClick r:id="" action="ppaction://media"/>
            <a:extLst>
              <a:ext uri="{FF2B5EF4-FFF2-40B4-BE49-F238E27FC236}">
                <a16:creationId xmlns:a16="http://schemas.microsoft.com/office/drawing/2014/main" id="{737360B2-E2A1-B4BA-DFE0-4A569B60E4F1}"/>
              </a:ext>
            </a:extLst>
          </p:cNvPr>
          <p:cNvPicPr>
            <a:picLocks noGrp="1" noRot="1" noChangeAspect="1"/>
          </p:cNvPicPr>
          <p:nvPr>
            <p:ph idx="1"/>
            <a:videoFile r:link="rId1"/>
          </p:nvPr>
        </p:nvPicPr>
        <p:blipFill>
          <a:blip r:embed="rId3"/>
          <a:stretch>
            <a:fillRect/>
          </a:stretch>
        </p:blipFill>
        <p:spPr>
          <a:xfrm>
            <a:off x="838200" y="1690688"/>
            <a:ext cx="8257032" cy="4665539"/>
          </a:xfrm>
          <a:prstGeom prst="rect">
            <a:avLst/>
          </a:prstGeom>
        </p:spPr>
      </p:pic>
      <p:sp>
        <p:nvSpPr>
          <p:cNvPr id="5" name="Textfeld 4">
            <a:extLst>
              <a:ext uri="{FF2B5EF4-FFF2-40B4-BE49-F238E27FC236}">
                <a16:creationId xmlns:a16="http://schemas.microsoft.com/office/drawing/2014/main" id="{D9397677-FB46-9F12-3F7E-1352CB78ABD2}"/>
              </a:ext>
            </a:extLst>
          </p:cNvPr>
          <p:cNvSpPr txBox="1"/>
          <p:nvPr/>
        </p:nvSpPr>
        <p:spPr>
          <a:xfrm>
            <a:off x="9209313" y="1950098"/>
            <a:ext cx="2478564" cy="923330"/>
          </a:xfrm>
          <a:prstGeom prst="rect">
            <a:avLst/>
          </a:prstGeom>
          <a:noFill/>
        </p:spPr>
        <p:txBody>
          <a:bodyPr wrap="none" rtlCol="0">
            <a:spAutoFit/>
          </a:bodyPr>
          <a:lstStyle/>
          <a:p>
            <a:r>
              <a:rPr lang="de-CH" dirty="0">
                <a:latin typeface="Century Gothic" panose="020B0502020202020204" pitchFamily="34" charset="0"/>
                <a:hlinkClick r:id="rId4"/>
              </a:rPr>
              <a:t>Digitales </a:t>
            </a:r>
          </a:p>
          <a:p>
            <a:r>
              <a:rPr lang="de-CH" dirty="0">
                <a:latin typeface="Century Gothic" panose="020B0502020202020204" pitchFamily="34" charset="0"/>
                <a:hlinkClick r:id="rId4"/>
              </a:rPr>
              <a:t>Selbsteinschätzungs-</a:t>
            </a:r>
            <a:br>
              <a:rPr lang="de-CH" dirty="0">
                <a:latin typeface="Century Gothic" panose="020B0502020202020204" pitchFamily="34" charset="0"/>
                <a:hlinkClick r:id="rId4"/>
              </a:rPr>
            </a:br>
            <a:r>
              <a:rPr lang="de-CH" dirty="0">
                <a:latin typeface="Century Gothic" panose="020B0502020202020204" pitchFamily="34" charset="0"/>
                <a:hlinkClick r:id="rId4"/>
              </a:rPr>
              <a:t>Tool</a:t>
            </a:r>
            <a:endParaRPr lang="de-CH" dirty="0">
              <a:latin typeface="Century Gothic" panose="020B0502020202020204" pitchFamily="34" charset="0"/>
            </a:endParaRPr>
          </a:p>
        </p:txBody>
      </p:sp>
    </p:spTree>
    <p:extLst>
      <p:ext uri="{BB962C8B-B14F-4D97-AF65-F5344CB8AC3E}">
        <p14:creationId xmlns:p14="http://schemas.microsoft.com/office/powerpoint/2010/main" val="422987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C64C4F-BDEC-5C13-E11C-D95C9F01AC81}"/>
              </a:ext>
            </a:extLst>
          </p:cNvPr>
          <p:cNvSpPr>
            <a:spLocks noGrp="1"/>
          </p:cNvSpPr>
          <p:nvPr>
            <p:ph type="title"/>
          </p:nvPr>
        </p:nvSpPr>
        <p:spPr/>
        <p:txBody>
          <a:bodyPr/>
          <a:lstStyle/>
          <a:p>
            <a:r>
              <a:rPr lang="de-CH" dirty="0"/>
              <a:t>INPUT</a:t>
            </a:r>
          </a:p>
        </p:txBody>
      </p:sp>
      <p:sp>
        <p:nvSpPr>
          <p:cNvPr id="3" name="Textplatzhalter 2">
            <a:extLst>
              <a:ext uri="{FF2B5EF4-FFF2-40B4-BE49-F238E27FC236}">
                <a16:creationId xmlns:a16="http://schemas.microsoft.com/office/drawing/2014/main" id="{F7181EC9-645F-1FA4-0BD1-C2A4D67A9981}"/>
              </a:ext>
            </a:extLst>
          </p:cNvPr>
          <p:cNvSpPr>
            <a:spLocks noGrp="1"/>
          </p:cNvSpPr>
          <p:nvPr>
            <p:ph type="body" idx="1"/>
          </p:nvPr>
        </p:nvSpPr>
        <p:spPr/>
        <p:txBody>
          <a:bodyPr/>
          <a:lstStyle/>
          <a:p>
            <a:r>
              <a:rPr lang="de-CH" dirty="0">
                <a:solidFill>
                  <a:schemeClr val="bg2">
                    <a:lumMod val="25000"/>
                  </a:schemeClr>
                </a:solidFill>
              </a:rPr>
              <a:t>Unterstützung holen</a:t>
            </a:r>
          </a:p>
          <a:p>
            <a:endParaRPr lang="de-CH" dirty="0"/>
          </a:p>
        </p:txBody>
      </p:sp>
      <p:pic>
        <p:nvPicPr>
          <p:cNvPr id="4" name="Grafik 3">
            <a:extLst>
              <a:ext uri="{FF2B5EF4-FFF2-40B4-BE49-F238E27FC236}">
                <a16:creationId xmlns:a16="http://schemas.microsoft.com/office/drawing/2014/main" id="{D51A85A8-6558-089F-FA82-58A0B103D43C}"/>
              </a:ext>
            </a:extLst>
          </p:cNvPr>
          <p:cNvPicPr>
            <a:picLocks noChangeAspect="1"/>
          </p:cNvPicPr>
          <p:nvPr/>
        </p:nvPicPr>
        <p:blipFill>
          <a:blip r:embed="rId2"/>
          <a:stretch>
            <a:fillRect/>
          </a:stretch>
        </p:blipFill>
        <p:spPr>
          <a:xfrm>
            <a:off x="6631517" y="1071033"/>
            <a:ext cx="4715933" cy="4715933"/>
          </a:xfrm>
          <a:prstGeom prst="rect">
            <a:avLst/>
          </a:prstGeom>
        </p:spPr>
      </p:pic>
    </p:spTree>
    <p:extLst>
      <p:ext uri="{BB962C8B-B14F-4D97-AF65-F5344CB8AC3E}">
        <p14:creationId xmlns:p14="http://schemas.microsoft.com/office/powerpoint/2010/main" val="2894594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E50CF8-1D3C-3AA1-3FC9-027AD8855257}"/>
              </a:ext>
            </a:extLst>
          </p:cNvPr>
          <p:cNvSpPr>
            <a:spLocks noGrp="1"/>
          </p:cNvSpPr>
          <p:nvPr>
            <p:ph type="title"/>
          </p:nvPr>
        </p:nvSpPr>
        <p:spPr/>
        <p:txBody>
          <a:bodyPr/>
          <a:lstStyle/>
          <a:p>
            <a:r>
              <a:rPr lang="de-CH" dirty="0"/>
              <a:t>PICTS</a:t>
            </a:r>
          </a:p>
        </p:txBody>
      </p:sp>
      <p:sp>
        <p:nvSpPr>
          <p:cNvPr id="3" name="Inhaltsplatzhalter 2">
            <a:extLst>
              <a:ext uri="{FF2B5EF4-FFF2-40B4-BE49-F238E27FC236}">
                <a16:creationId xmlns:a16="http://schemas.microsoft.com/office/drawing/2014/main" id="{935AC3AE-4AEB-7EFD-A7C1-8E2456188796}"/>
              </a:ext>
            </a:extLst>
          </p:cNvPr>
          <p:cNvSpPr>
            <a:spLocks noGrp="1"/>
          </p:cNvSpPr>
          <p:nvPr>
            <p:ph idx="1"/>
          </p:nvPr>
        </p:nvSpPr>
        <p:spPr/>
        <p:txBody>
          <a:bodyPr/>
          <a:lstStyle/>
          <a:p>
            <a:pPr marL="0" indent="0">
              <a:buNone/>
            </a:pPr>
            <a:r>
              <a:rPr lang="de-CH" dirty="0"/>
              <a:t>Brauchst du Unterstützung in der Vorbereitung und/oder in der Durchführung eines kollaborativen Projekts?</a:t>
            </a:r>
          </a:p>
          <a:p>
            <a:pPr marL="0" indent="0">
              <a:buNone/>
            </a:pPr>
            <a:endParaRPr lang="de-CH" dirty="0"/>
          </a:p>
          <a:p>
            <a:r>
              <a:rPr lang="de-CH" dirty="0">
                <a:latin typeface="Century Gothic"/>
                <a:sym typeface="Wingdings" pitchFamily="2" charset="2"/>
              </a:rPr>
              <a:t>Schreib ein </a:t>
            </a:r>
            <a:r>
              <a:rPr lang="de-CH" dirty="0">
                <a:latin typeface="Century Gothic"/>
                <a:sym typeface="Wingdings" pitchFamily="2" charset="2"/>
                <a:hlinkClick r:id="rId2"/>
              </a:rPr>
              <a:t>Ticket</a:t>
            </a:r>
            <a:r>
              <a:rPr lang="de-CH" dirty="0">
                <a:latin typeface="Century Gothic"/>
                <a:sym typeface="Wingdings" pitchFamily="2" charset="2"/>
              </a:rPr>
              <a:t> im neuen Ticketsystem</a:t>
            </a:r>
            <a:br>
              <a:rPr lang="de-CH" dirty="0"/>
            </a:br>
            <a:r>
              <a:rPr lang="de-CH" dirty="0">
                <a:latin typeface="Century Gothic"/>
                <a:sym typeface="Wingdings" pitchFamily="2" charset="2"/>
              </a:rPr>
              <a:t>an deine PICTS – wir unterstützen </a:t>
            </a:r>
            <a:br>
              <a:rPr lang="de-CH" dirty="0"/>
            </a:br>
            <a:r>
              <a:rPr lang="de-CH" dirty="0">
                <a:latin typeface="Century Gothic"/>
                <a:sym typeface="Wingdings" pitchFamily="2" charset="2"/>
              </a:rPr>
              <a:t>dich gerne!</a:t>
            </a:r>
            <a:endParaRPr lang="de-CH" dirty="0">
              <a:latin typeface="Century Gothic"/>
            </a:endParaRPr>
          </a:p>
        </p:txBody>
      </p:sp>
    </p:spTree>
    <p:extLst>
      <p:ext uri="{BB962C8B-B14F-4D97-AF65-F5344CB8AC3E}">
        <p14:creationId xmlns:p14="http://schemas.microsoft.com/office/powerpoint/2010/main" val="2766794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8535EF-727C-B9CE-FD21-3CED55EBF687}"/>
              </a:ext>
            </a:extLst>
          </p:cNvPr>
          <p:cNvSpPr>
            <a:spLocks noGrp="1"/>
          </p:cNvSpPr>
          <p:nvPr>
            <p:ph type="title"/>
          </p:nvPr>
        </p:nvSpPr>
        <p:spPr>
          <a:xfrm>
            <a:off x="328167" y="365125"/>
            <a:ext cx="11025633" cy="1325563"/>
          </a:xfrm>
        </p:spPr>
        <p:txBody>
          <a:bodyPr/>
          <a:lstStyle/>
          <a:p>
            <a:r>
              <a:rPr lang="de-CH" dirty="0"/>
              <a:t>Stufenmodell </a:t>
            </a:r>
          </a:p>
        </p:txBody>
      </p:sp>
      <p:pic>
        <p:nvPicPr>
          <p:cNvPr id="3" name="Grafik 2">
            <a:extLst>
              <a:ext uri="{FF2B5EF4-FFF2-40B4-BE49-F238E27FC236}">
                <a16:creationId xmlns:a16="http://schemas.microsoft.com/office/drawing/2014/main" id="{8F336234-E0A8-C678-747F-279BB27B2EBC}"/>
              </a:ext>
            </a:extLst>
          </p:cNvPr>
          <p:cNvPicPr>
            <a:picLocks noChangeAspect="1"/>
          </p:cNvPicPr>
          <p:nvPr/>
        </p:nvPicPr>
        <p:blipFill>
          <a:blip r:embed="rId3"/>
          <a:stretch>
            <a:fillRect/>
          </a:stretch>
        </p:blipFill>
        <p:spPr>
          <a:xfrm>
            <a:off x="3687208" y="1475243"/>
            <a:ext cx="8763046" cy="6352645"/>
          </a:xfrm>
          <a:prstGeom prst="rect">
            <a:avLst/>
          </a:prstGeom>
        </p:spPr>
      </p:pic>
      <p:sp>
        <p:nvSpPr>
          <p:cNvPr id="12" name="Rechteck 11">
            <a:extLst>
              <a:ext uri="{FF2B5EF4-FFF2-40B4-BE49-F238E27FC236}">
                <a16:creationId xmlns:a16="http://schemas.microsoft.com/office/drawing/2014/main" id="{85CCBB05-7E1B-0E40-BDE3-51B404AF8F3A}"/>
              </a:ext>
            </a:extLst>
          </p:cNvPr>
          <p:cNvSpPr/>
          <p:nvPr/>
        </p:nvSpPr>
        <p:spPr>
          <a:xfrm rot="2802873">
            <a:off x="5343277" y="1094115"/>
            <a:ext cx="1640865" cy="57035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 name="Textfeld 10">
            <a:extLst>
              <a:ext uri="{FF2B5EF4-FFF2-40B4-BE49-F238E27FC236}">
                <a16:creationId xmlns:a16="http://schemas.microsoft.com/office/drawing/2014/main" id="{056A1896-ABDC-154D-B84A-862F5C6541F4}"/>
              </a:ext>
            </a:extLst>
          </p:cNvPr>
          <p:cNvSpPr txBox="1"/>
          <p:nvPr/>
        </p:nvSpPr>
        <p:spPr>
          <a:xfrm>
            <a:off x="328167" y="4013775"/>
            <a:ext cx="7162800" cy="1015663"/>
          </a:xfrm>
          <a:prstGeom prst="rect">
            <a:avLst/>
          </a:prstGeom>
          <a:noFill/>
        </p:spPr>
        <p:txBody>
          <a:bodyPr wrap="square">
            <a:spAutoFit/>
          </a:bodyPr>
          <a:lstStyle/>
          <a:p>
            <a:pPr marL="0" marR="0">
              <a:buNone/>
            </a:pPr>
            <a:r>
              <a:rPr lang="de-CH" sz="1500" b="1" dirty="0">
                <a:solidFill>
                  <a:schemeClr val="tx1"/>
                </a:solidFill>
                <a:effectLst/>
                <a:latin typeface="Century Gothic" panose="020B0502020202020204" pitchFamily="34" charset="0"/>
              </a:rPr>
              <a:t>Stufe 3:</a:t>
            </a:r>
            <a:endParaRPr lang="de-CH" sz="1500" dirty="0">
              <a:solidFill>
                <a:schemeClr val="tx1"/>
              </a:solidFill>
              <a:effectLst/>
              <a:latin typeface="Century Gothic" panose="020B0502020202020204" pitchFamily="34" charset="0"/>
            </a:endParaRPr>
          </a:p>
          <a:p>
            <a:pPr marL="0" marR="0">
              <a:buNone/>
            </a:pPr>
            <a:r>
              <a:rPr lang="de-CH" sz="1500" dirty="0">
                <a:solidFill>
                  <a:schemeClr val="tx1"/>
                </a:solidFill>
                <a:effectLst/>
                <a:latin typeface="Century Gothic" panose="020B0502020202020204" pitchFamily="34" charset="0"/>
              </a:rPr>
              <a:t>PICTS und </a:t>
            </a:r>
            <a:r>
              <a:rPr lang="de-CH" sz="1500" dirty="0">
                <a:latin typeface="Century Gothic" panose="020B0502020202020204" pitchFamily="34" charset="0"/>
              </a:rPr>
              <a:t>LP</a:t>
            </a:r>
            <a:r>
              <a:rPr lang="de-CH" sz="1500" dirty="0">
                <a:solidFill>
                  <a:schemeClr val="tx1"/>
                </a:solidFill>
                <a:effectLst/>
                <a:latin typeface="Century Gothic" panose="020B0502020202020204" pitchFamily="34" charset="0"/>
              </a:rPr>
              <a:t> bereiten Unterricht gemeinsam vor, die LP unterrichtet nun alleine, der PICTS ist im Klassenzimmer und kann wenn nötig helfen/</a:t>
            </a:r>
          </a:p>
          <a:p>
            <a:pPr marL="0" marR="0">
              <a:buNone/>
            </a:pPr>
            <a:r>
              <a:rPr lang="de-CH" sz="1500" dirty="0">
                <a:solidFill>
                  <a:schemeClr val="tx1"/>
                </a:solidFill>
                <a:effectLst/>
                <a:latin typeface="Century Gothic" panose="020B0502020202020204" pitchFamily="34" charset="0"/>
              </a:rPr>
              <a:t>unterstützen.</a:t>
            </a:r>
            <a:endParaRPr lang="de-CH" sz="1500" dirty="0">
              <a:solidFill>
                <a:srgbClr val="000000"/>
              </a:solidFill>
              <a:effectLst/>
              <a:latin typeface="Century Gothic" panose="020B0502020202020204" pitchFamily="34" charset="0"/>
            </a:endParaRPr>
          </a:p>
        </p:txBody>
      </p:sp>
      <p:sp>
        <p:nvSpPr>
          <p:cNvPr id="5" name="Textfeld 4">
            <a:extLst>
              <a:ext uri="{FF2B5EF4-FFF2-40B4-BE49-F238E27FC236}">
                <a16:creationId xmlns:a16="http://schemas.microsoft.com/office/drawing/2014/main" id="{7C4A3598-67C5-1824-0575-108031CB9B6A}"/>
              </a:ext>
            </a:extLst>
          </p:cNvPr>
          <p:cNvSpPr txBox="1"/>
          <p:nvPr/>
        </p:nvSpPr>
        <p:spPr>
          <a:xfrm>
            <a:off x="328167" y="1367522"/>
            <a:ext cx="11434255" cy="646331"/>
          </a:xfrm>
          <a:prstGeom prst="rect">
            <a:avLst/>
          </a:prstGeom>
          <a:noFill/>
        </p:spPr>
        <p:txBody>
          <a:bodyPr wrap="square">
            <a:spAutoFit/>
          </a:bodyPr>
          <a:lstStyle/>
          <a:p>
            <a:pPr marL="0" marR="0">
              <a:buNone/>
            </a:pPr>
            <a:r>
              <a:rPr lang="de-CH" sz="1800" dirty="0">
                <a:solidFill>
                  <a:schemeClr val="tx1"/>
                </a:solidFill>
                <a:effectLst/>
                <a:latin typeface="Century Gothic" panose="020B0502020202020204" pitchFamily="34" charset="0"/>
              </a:rPr>
              <a:t>Ein/</a:t>
            </a:r>
            <a:r>
              <a:rPr lang="de-CH" sz="1800" dirty="0" err="1">
                <a:solidFill>
                  <a:schemeClr val="tx1"/>
                </a:solidFill>
                <a:effectLst/>
                <a:latin typeface="Century Gothic" panose="020B0502020202020204" pitchFamily="34" charset="0"/>
              </a:rPr>
              <a:t>e</a:t>
            </a:r>
            <a:r>
              <a:rPr lang="de-CH" sz="1800" dirty="0">
                <a:solidFill>
                  <a:schemeClr val="tx1"/>
                </a:solidFill>
                <a:effectLst/>
                <a:latin typeface="Century Gothic" panose="020B0502020202020204" pitchFamily="34" charset="0"/>
              </a:rPr>
              <a:t> PICTS steigt je nach Vorwissen, Interesse, Device-Ausstattung usw. im Team auf einer an-</a:t>
            </a:r>
          </a:p>
          <a:p>
            <a:pPr marL="0" marR="0">
              <a:buNone/>
            </a:pPr>
            <a:r>
              <a:rPr lang="de-CH" sz="1800" dirty="0">
                <a:solidFill>
                  <a:schemeClr val="tx1"/>
                </a:solidFill>
                <a:effectLst/>
                <a:latin typeface="Century Gothic" panose="020B0502020202020204" pitchFamily="34" charset="0"/>
              </a:rPr>
              <a:t>deren Stufe des «5-Stufenmodells der PICTS» ein:</a:t>
            </a:r>
            <a:endParaRPr lang="de-CH" sz="825" dirty="0">
              <a:solidFill>
                <a:srgbClr val="000000"/>
              </a:solidFill>
              <a:effectLst/>
              <a:latin typeface="Century Gothic" panose="020B0502020202020204" pitchFamily="34" charset="0"/>
            </a:endParaRPr>
          </a:p>
        </p:txBody>
      </p:sp>
      <p:sp>
        <p:nvSpPr>
          <p:cNvPr id="7" name="Textfeld 6">
            <a:extLst>
              <a:ext uri="{FF2B5EF4-FFF2-40B4-BE49-F238E27FC236}">
                <a16:creationId xmlns:a16="http://schemas.microsoft.com/office/drawing/2014/main" id="{24FC2169-CD6C-1070-76AF-DC05CAE11916}"/>
              </a:ext>
            </a:extLst>
          </p:cNvPr>
          <p:cNvSpPr txBox="1"/>
          <p:nvPr/>
        </p:nvSpPr>
        <p:spPr>
          <a:xfrm>
            <a:off x="328167" y="5780782"/>
            <a:ext cx="7562765" cy="1015663"/>
          </a:xfrm>
          <a:prstGeom prst="rect">
            <a:avLst/>
          </a:prstGeom>
          <a:noFill/>
        </p:spPr>
        <p:txBody>
          <a:bodyPr wrap="square">
            <a:spAutoFit/>
          </a:bodyPr>
          <a:lstStyle/>
          <a:p>
            <a:pPr marL="0" marR="0">
              <a:buNone/>
            </a:pPr>
            <a:r>
              <a:rPr lang="de-CH" sz="1500" b="1" dirty="0">
                <a:solidFill>
                  <a:schemeClr val="tx1"/>
                </a:solidFill>
                <a:effectLst/>
                <a:latin typeface="Century Gothic" panose="020B0502020202020204" pitchFamily="34" charset="0"/>
              </a:rPr>
              <a:t>Stufe 1:</a:t>
            </a:r>
            <a:endParaRPr lang="de-CH" sz="1500" dirty="0">
              <a:solidFill>
                <a:schemeClr val="tx1"/>
              </a:solidFill>
              <a:effectLst/>
              <a:latin typeface="Century Gothic" panose="020B0502020202020204" pitchFamily="34" charset="0"/>
            </a:endParaRPr>
          </a:p>
          <a:p>
            <a:pPr marL="0" marR="0">
              <a:buNone/>
            </a:pPr>
            <a:r>
              <a:rPr lang="de-CH" sz="1500" dirty="0">
                <a:solidFill>
                  <a:schemeClr val="tx1"/>
                </a:solidFill>
                <a:effectLst/>
                <a:latin typeface="Century Gothic" panose="020B0502020202020204" pitchFamily="34" charset="0"/>
              </a:rPr>
              <a:t>PICTS geht in die Klasse und führt selber ein Projekt/Thema/</a:t>
            </a:r>
          </a:p>
          <a:p>
            <a:pPr marL="0" marR="0">
              <a:buNone/>
            </a:pPr>
            <a:r>
              <a:rPr lang="de-CH" sz="1500" dirty="0">
                <a:solidFill>
                  <a:schemeClr val="tx1"/>
                </a:solidFill>
                <a:effectLst/>
                <a:latin typeface="Century Gothic" panose="020B0502020202020204" pitchFamily="34" charset="0"/>
              </a:rPr>
              <a:t>Tool ein; vorgängig wurde der Inhalt der Stunde der </a:t>
            </a:r>
            <a:r>
              <a:rPr lang="de-CH" sz="1500" dirty="0">
                <a:latin typeface="Century Gothic" panose="020B0502020202020204" pitchFamily="34" charset="0"/>
              </a:rPr>
              <a:t>LP</a:t>
            </a:r>
            <a:r>
              <a:rPr lang="de-CH" sz="1500" dirty="0">
                <a:solidFill>
                  <a:schemeClr val="tx1"/>
                </a:solidFill>
                <a:effectLst/>
                <a:latin typeface="Century Gothic" panose="020B0502020202020204" pitchFamily="34" charset="0"/>
              </a:rPr>
              <a:t> </a:t>
            </a:r>
          </a:p>
          <a:p>
            <a:pPr marL="0" marR="0">
              <a:buNone/>
            </a:pPr>
            <a:r>
              <a:rPr lang="de-CH" sz="1500" dirty="0">
                <a:solidFill>
                  <a:schemeClr val="tx1"/>
                </a:solidFill>
                <a:effectLst/>
                <a:latin typeface="Century Gothic" panose="020B0502020202020204" pitchFamily="34" charset="0"/>
              </a:rPr>
              <a:t>vorgestellt (noch keine gemeinsame Planung)</a:t>
            </a:r>
            <a:endParaRPr lang="de-CH" sz="1500" dirty="0">
              <a:solidFill>
                <a:srgbClr val="000000"/>
              </a:solidFill>
              <a:effectLst/>
              <a:latin typeface="Century Gothic" panose="020B0502020202020204" pitchFamily="34" charset="0"/>
            </a:endParaRPr>
          </a:p>
        </p:txBody>
      </p:sp>
      <p:sp>
        <p:nvSpPr>
          <p:cNvPr id="9" name="Textfeld 8">
            <a:extLst>
              <a:ext uri="{FF2B5EF4-FFF2-40B4-BE49-F238E27FC236}">
                <a16:creationId xmlns:a16="http://schemas.microsoft.com/office/drawing/2014/main" id="{32270B54-3871-F761-78CA-B353246150D0}"/>
              </a:ext>
            </a:extLst>
          </p:cNvPr>
          <p:cNvSpPr txBox="1"/>
          <p:nvPr/>
        </p:nvSpPr>
        <p:spPr>
          <a:xfrm>
            <a:off x="328167" y="5019794"/>
            <a:ext cx="7230532" cy="784830"/>
          </a:xfrm>
          <a:prstGeom prst="rect">
            <a:avLst/>
          </a:prstGeom>
          <a:noFill/>
        </p:spPr>
        <p:txBody>
          <a:bodyPr wrap="square">
            <a:spAutoFit/>
          </a:bodyPr>
          <a:lstStyle/>
          <a:p>
            <a:pPr marL="0" marR="0">
              <a:buNone/>
            </a:pPr>
            <a:r>
              <a:rPr lang="de-CH" sz="1500" b="1" dirty="0">
                <a:solidFill>
                  <a:schemeClr val="tx1"/>
                </a:solidFill>
                <a:effectLst/>
                <a:latin typeface="Century Gothic" panose="020B0502020202020204" pitchFamily="34" charset="0"/>
              </a:rPr>
              <a:t>Stufe 2:</a:t>
            </a:r>
            <a:endParaRPr lang="de-CH" sz="1500" dirty="0">
              <a:solidFill>
                <a:schemeClr val="tx1"/>
              </a:solidFill>
              <a:effectLst/>
              <a:latin typeface="Century Gothic" panose="020B0502020202020204" pitchFamily="34" charset="0"/>
            </a:endParaRPr>
          </a:p>
          <a:p>
            <a:pPr marL="0" marR="0">
              <a:buNone/>
            </a:pPr>
            <a:r>
              <a:rPr lang="de-CH" sz="1500" dirty="0">
                <a:solidFill>
                  <a:schemeClr val="tx1"/>
                </a:solidFill>
                <a:effectLst/>
                <a:latin typeface="Century Gothic" panose="020B0502020202020204" pitchFamily="34" charset="0"/>
              </a:rPr>
              <a:t>PICTS und </a:t>
            </a:r>
            <a:r>
              <a:rPr lang="de-CH" sz="1500" dirty="0">
                <a:latin typeface="Century Gothic" panose="020B0502020202020204" pitchFamily="34" charset="0"/>
              </a:rPr>
              <a:t>LP </a:t>
            </a:r>
            <a:r>
              <a:rPr lang="de-CH" sz="1500" dirty="0">
                <a:solidFill>
                  <a:schemeClr val="tx1"/>
                </a:solidFill>
                <a:effectLst/>
                <a:latin typeface="Century Gothic" panose="020B0502020202020204" pitchFamily="34" charset="0"/>
              </a:rPr>
              <a:t>bereiten den Unterricht gemeinsam vor und </a:t>
            </a:r>
          </a:p>
          <a:p>
            <a:pPr marL="0" marR="0">
              <a:buNone/>
            </a:pPr>
            <a:r>
              <a:rPr lang="de-CH" sz="1500" dirty="0">
                <a:solidFill>
                  <a:schemeClr val="tx1"/>
                </a:solidFill>
                <a:effectLst/>
                <a:latin typeface="Century Gothic" panose="020B0502020202020204" pitchFamily="34" charset="0"/>
              </a:rPr>
              <a:t>Unterrichten im Teamteaching.</a:t>
            </a:r>
            <a:endParaRPr lang="de-CH" sz="1500" dirty="0">
              <a:solidFill>
                <a:srgbClr val="000000"/>
              </a:solidFill>
              <a:effectLst/>
              <a:latin typeface="Century Gothic" panose="020B0502020202020204" pitchFamily="34" charset="0"/>
            </a:endParaRPr>
          </a:p>
        </p:txBody>
      </p:sp>
      <p:sp>
        <p:nvSpPr>
          <p:cNvPr id="14" name="Textfeld 13">
            <a:extLst>
              <a:ext uri="{FF2B5EF4-FFF2-40B4-BE49-F238E27FC236}">
                <a16:creationId xmlns:a16="http://schemas.microsoft.com/office/drawing/2014/main" id="{4C9852EB-2A96-F6A5-D32C-8660BFD79EEE}"/>
              </a:ext>
            </a:extLst>
          </p:cNvPr>
          <p:cNvSpPr txBox="1"/>
          <p:nvPr/>
        </p:nvSpPr>
        <p:spPr>
          <a:xfrm>
            <a:off x="328167" y="3076410"/>
            <a:ext cx="7239000" cy="1015663"/>
          </a:xfrm>
          <a:prstGeom prst="rect">
            <a:avLst/>
          </a:prstGeom>
          <a:noFill/>
        </p:spPr>
        <p:txBody>
          <a:bodyPr wrap="square">
            <a:spAutoFit/>
          </a:bodyPr>
          <a:lstStyle/>
          <a:p>
            <a:pPr marL="0" marR="0">
              <a:buNone/>
            </a:pPr>
            <a:r>
              <a:rPr lang="de-CH" sz="1500" b="1" dirty="0">
                <a:solidFill>
                  <a:schemeClr val="tx1"/>
                </a:solidFill>
                <a:effectLst/>
                <a:latin typeface="Century Gothic" panose="020B0502020202020204" pitchFamily="34" charset="0"/>
              </a:rPr>
              <a:t>Stufe 4:</a:t>
            </a:r>
            <a:endParaRPr lang="de-CH" sz="1500" dirty="0">
              <a:solidFill>
                <a:schemeClr val="tx1"/>
              </a:solidFill>
              <a:effectLst/>
              <a:latin typeface="Century Gothic" panose="020B0502020202020204" pitchFamily="34" charset="0"/>
            </a:endParaRPr>
          </a:p>
          <a:p>
            <a:pPr marL="0" marR="0">
              <a:buNone/>
            </a:pPr>
            <a:r>
              <a:rPr lang="de-CH" sz="1500" dirty="0">
                <a:solidFill>
                  <a:schemeClr val="tx1"/>
                </a:solidFill>
                <a:effectLst/>
                <a:latin typeface="Century Gothic" panose="020B0502020202020204" pitchFamily="34" charset="0"/>
              </a:rPr>
              <a:t>PICTS und die LP bereiten Unterricht gemeinsam vor, die LP unterrichtet alleine im Klassenzimmer, der PICTS ist im Schulhaus (und erreichbar für</a:t>
            </a:r>
          </a:p>
          <a:p>
            <a:pPr marL="0" marR="0">
              <a:buNone/>
            </a:pPr>
            <a:r>
              <a:rPr lang="de-CH" sz="1500" dirty="0">
                <a:solidFill>
                  <a:schemeClr val="tx1"/>
                </a:solidFill>
                <a:effectLst/>
                <a:latin typeface="Century Gothic" panose="020B0502020202020204" pitchFamily="34" charset="0"/>
              </a:rPr>
              <a:t>Notfälle).</a:t>
            </a:r>
            <a:endParaRPr lang="de-CH" sz="1500" dirty="0">
              <a:solidFill>
                <a:srgbClr val="000000"/>
              </a:solidFill>
              <a:effectLst/>
              <a:latin typeface="Century Gothic" panose="020B0502020202020204" pitchFamily="34" charset="0"/>
            </a:endParaRPr>
          </a:p>
        </p:txBody>
      </p:sp>
      <p:sp>
        <p:nvSpPr>
          <p:cNvPr id="16" name="Textfeld 15">
            <a:extLst>
              <a:ext uri="{FF2B5EF4-FFF2-40B4-BE49-F238E27FC236}">
                <a16:creationId xmlns:a16="http://schemas.microsoft.com/office/drawing/2014/main" id="{7FB612CB-DED1-A968-3F67-8D8E08D6EF26}"/>
              </a:ext>
            </a:extLst>
          </p:cNvPr>
          <p:cNvSpPr txBox="1"/>
          <p:nvPr/>
        </p:nvSpPr>
        <p:spPr>
          <a:xfrm>
            <a:off x="328167" y="2121574"/>
            <a:ext cx="9195817" cy="1015663"/>
          </a:xfrm>
          <a:prstGeom prst="rect">
            <a:avLst/>
          </a:prstGeom>
          <a:noFill/>
        </p:spPr>
        <p:txBody>
          <a:bodyPr wrap="square">
            <a:spAutoFit/>
          </a:bodyPr>
          <a:lstStyle/>
          <a:p>
            <a:pPr marL="0" marR="0">
              <a:buNone/>
            </a:pPr>
            <a:r>
              <a:rPr lang="de-CH" sz="1500" b="1" dirty="0">
                <a:solidFill>
                  <a:schemeClr val="tx1"/>
                </a:solidFill>
                <a:effectLst/>
                <a:latin typeface="Century Gothic" panose="020B0502020202020204" pitchFamily="34" charset="0"/>
              </a:rPr>
              <a:t>Stufe 5:</a:t>
            </a:r>
            <a:endParaRPr lang="de-CH" sz="1500" dirty="0">
              <a:solidFill>
                <a:schemeClr val="tx1"/>
              </a:solidFill>
              <a:effectLst/>
              <a:latin typeface="Century Gothic" panose="020B0502020202020204" pitchFamily="34" charset="0"/>
            </a:endParaRPr>
          </a:p>
          <a:p>
            <a:pPr marL="0" marR="0">
              <a:buNone/>
            </a:pPr>
            <a:r>
              <a:rPr lang="de-CH" sz="1500" dirty="0">
                <a:solidFill>
                  <a:schemeClr val="tx1"/>
                </a:solidFill>
                <a:effectLst/>
                <a:latin typeface="Century Gothic" panose="020B0502020202020204" pitchFamily="34" charset="0"/>
              </a:rPr>
              <a:t>Die LP bereitet den Unterricht alleine vor, der PICTS kann vorgängig/während</a:t>
            </a:r>
          </a:p>
          <a:p>
            <a:pPr marL="0" marR="0">
              <a:buNone/>
            </a:pPr>
            <a:r>
              <a:rPr lang="de-CH" sz="1500" dirty="0">
                <a:solidFill>
                  <a:schemeClr val="tx1"/>
                </a:solidFill>
                <a:effectLst/>
                <a:latin typeface="Century Gothic" panose="020B0502020202020204" pitchFamily="34" charset="0"/>
              </a:rPr>
              <a:t>Sprechstunden natürlich jederzeit um Rat/Ideen/Materialien/Einführung in ein Tool </a:t>
            </a:r>
          </a:p>
          <a:p>
            <a:pPr marL="0" marR="0">
              <a:buNone/>
            </a:pPr>
            <a:r>
              <a:rPr lang="de-CH" sz="1500" dirty="0">
                <a:solidFill>
                  <a:schemeClr val="tx1"/>
                </a:solidFill>
                <a:effectLst/>
                <a:latin typeface="Century Gothic" panose="020B0502020202020204" pitchFamily="34" charset="0"/>
              </a:rPr>
              <a:t>gefragt werden.</a:t>
            </a:r>
            <a:endParaRPr lang="de-CH" sz="1500" dirty="0">
              <a:solidFill>
                <a:srgbClr val="000000"/>
              </a:solidFill>
              <a:effectLst/>
              <a:latin typeface="Century Gothic" panose="020B0502020202020204" pitchFamily="34" charset="0"/>
            </a:endParaRPr>
          </a:p>
        </p:txBody>
      </p:sp>
    </p:spTree>
    <p:extLst>
      <p:ext uri="{BB962C8B-B14F-4D97-AF65-F5344CB8AC3E}">
        <p14:creationId xmlns:p14="http://schemas.microsoft.com/office/powerpoint/2010/main" val="3138316066"/>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Was wir heute erreichen wollen</a:t>
            </a:r>
          </a:p>
        </p:txBody>
      </p:sp>
      <p:sp>
        <p:nvSpPr>
          <p:cNvPr id="3" name="Phase"/>
          <p:cNvSpPr/>
          <p:nvPr/>
        </p:nvSpPr>
        <p:spPr>
          <a:xfrm>
            <a:off x="548640" y="347472"/>
            <a:ext cx="1463040"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ZIEL</a:t>
            </a:r>
          </a:p>
        </p:txBody>
      </p:sp>
      <p:sp>
        <p:nvSpPr>
          <p:cNvPr id="4" name="Kernsatz"/>
          <p:cNvSpPr txBox="1"/>
          <p:nvPr/>
        </p:nvSpPr>
        <p:spPr>
          <a:xfrm>
            <a:off x="548640" y="1965960"/>
            <a:ext cx="5760720" cy="1371600"/>
          </a:xfrm>
          <a:prstGeom prst="rect">
            <a:avLst/>
          </a:prstGeom>
          <a:noFill/>
        </p:spPr>
        <p:txBody>
          <a:bodyPr wrap="square" anchor="t" lIns="0" rIns="0" tIns="0" bIns="0">
            <a:noAutofit/>
          </a:bodyPr>
          <a:lstStyle/>
          <a:p>
            <a:r>
              <a:rPr sz="2800" b="1">
                <a:solidFill>
                  <a:srgbClr val="1E1B1C"/>
                </a:solidFill>
              </a:rPr>
              <a:t>KI benutzen ist nicht dasselbe wie KI-kompetent sein.</a:t>
            </a:r>
          </a:p>
        </p:txBody>
      </p:sp>
      <p:sp>
        <p:nvSpPr>
          <p:cNvPr id="5" name="Erläuterung"/>
          <p:cNvSpPr txBox="1"/>
          <p:nvPr/>
        </p:nvSpPr>
        <p:spPr>
          <a:xfrm>
            <a:off x="548640" y="3429000"/>
            <a:ext cx="5760720" cy="914400"/>
          </a:xfrm>
          <a:prstGeom prst="rect">
            <a:avLst/>
          </a:prstGeom>
          <a:noFill/>
        </p:spPr>
        <p:txBody>
          <a:bodyPr wrap="square" anchor="t" lIns="0" rIns="0" tIns="0" bIns="0">
            <a:noAutofit/>
          </a:bodyPr>
          <a:lstStyle/>
          <a:p>
            <a:r>
              <a:rPr sz="1700" b="0">
                <a:solidFill>
                  <a:srgbClr val="1E1B1C"/>
                </a:solidFill>
              </a:rPr>
              <a:t>Entscheidend ist, was Lernende nach der Unterstützung durch KI selbst erklären, beurteilen, entscheiden oder gestalten können.</a:t>
            </a:r>
          </a:p>
        </p:txBody>
      </p:sp>
      <p:sp>
        <p:nvSpPr>
          <p:cNvPr id="6" name="Lernversprechen"/>
          <p:cNvSpPr txBox="1"/>
          <p:nvPr/>
        </p:nvSpPr>
        <p:spPr>
          <a:xfrm>
            <a:off x="548640" y="4572000"/>
            <a:ext cx="5760720" cy="1280160"/>
          </a:xfrm>
          <a:prstGeom prst="rect">
            <a:avLst/>
          </a:prstGeom>
          <a:noFill/>
        </p:spPr>
        <p:txBody>
          <a:bodyPr wrap="square" anchor="t" lIns="0" rIns="0" tIns="0" bIns="0">
            <a:noAutofit/>
          </a:bodyPr>
          <a:lstStyle/>
          <a:p>
            <a:r>
              <a:rPr sz="1700" b="1">
                <a:solidFill>
                  <a:srgbClr val="1E1B1C"/>
                </a:solidFill>
              </a:rPr>
              <a:t>Am Ende steht: </a:t>
            </a:r>
            <a:r>
              <a:rPr sz="1700" b="0">
                <a:solidFill>
                  <a:srgbClr val="1E1B1C"/>
                </a:solidFill>
              </a:rPr>
              <a:t>eine kleine eigene Unterrichtsaktivität für den Zyklus 3, mit einem Lernbeleg, den ihr beobachten könnt.</a:t>
            </a:r>
          </a:p>
        </p:txBody>
      </p:sp>
      <p:sp>
        <p:nvSpPr>
          <p:cNvPr id="7"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Kartentitel"/>
          <p:cNvSpPr txBox="1"/>
          <p:nvPr/>
        </p:nvSpPr>
        <p:spPr>
          <a:xfrm>
            <a:off x="7315200" y="960120"/>
            <a:ext cx="4023360" cy="365760"/>
          </a:xfrm>
          <a:prstGeom prst="rect">
            <a:avLst/>
          </a:prstGeom>
          <a:noFill/>
        </p:spPr>
        <p:txBody>
          <a:bodyPr wrap="square" anchor="t" lIns="0" rIns="0" tIns="0" bIns="0">
            <a:noAutofit/>
          </a:bodyPr>
          <a:lstStyle/>
          <a:p>
            <a:r>
              <a:rPr sz="2000" b="1">
                <a:solidFill>
                  <a:srgbClr val="1E1B1C"/>
                </a:solidFill>
              </a:rPr>
              <a:t>Wir erleben KI als …</a:t>
            </a:r>
          </a:p>
        </p:txBody>
      </p:sp>
      <p:sp>
        <p:nvSpPr>
          <p:cNvPr id="9" name="Nummer 1"/>
          <p:cNvSpPr/>
          <p:nvPr/>
        </p:nvSpPr>
        <p:spPr>
          <a:xfrm>
            <a:off x="7315200" y="1737360"/>
            <a:ext cx="566928" cy="566928"/>
          </a:xfrm>
          <a:prstGeom prst="ellipse">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2000" b="1">
                <a:solidFill>
                  <a:srgbClr val="FFFFFF"/>
                </a:solidFill>
              </a:rPr>
              <a:t>1</a:t>
            </a:r>
          </a:p>
        </p:txBody>
      </p:sp>
      <p:sp>
        <p:nvSpPr>
          <p:cNvPr id="10" name="Perspektive 1"/>
          <p:cNvSpPr txBox="1"/>
          <p:nvPr/>
        </p:nvSpPr>
        <p:spPr>
          <a:xfrm>
            <a:off x="8092440" y="1691640"/>
            <a:ext cx="3383280" cy="1188720"/>
          </a:xfrm>
          <a:prstGeom prst="rect">
            <a:avLst/>
          </a:prstGeom>
          <a:noFill/>
        </p:spPr>
        <p:txBody>
          <a:bodyPr wrap="square" anchor="t" lIns="0" rIns="0" tIns="0" bIns="0">
            <a:noAutofit/>
          </a:bodyPr>
          <a:lstStyle/>
          <a:p>
            <a:pPr>
              <a:spcAft>
                <a:spcPts val="300"/>
              </a:spcAft>
            </a:pPr>
            <a:r>
              <a:rPr sz="2000" b="1">
                <a:solidFill>
                  <a:srgbClr val="1E1B1C"/>
                </a:solidFill>
              </a:rPr>
              <a:t>Lerngegenstand</a:t>
            </a:r>
          </a:p>
          <a:p>
            <a:r>
              <a:rPr sz="1600" b="0">
                <a:solidFill>
                  <a:srgbClr val="5A5456"/>
                </a:solidFill>
              </a:rPr>
              <a:t>Wie funktioniert das überhaupt?</a:t>
            </a:r>
          </a:p>
        </p:txBody>
      </p:sp>
      <p:sp>
        <p:nvSpPr>
          <p:cNvPr id="11" name="Nummer 2"/>
          <p:cNvSpPr/>
          <p:nvPr/>
        </p:nvSpPr>
        <p:spPr>
          <a:xfrm>
            <a:off x="7315200" y="3200400"/>
            <a:ext cx="566928" cy="566928"/>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2000" b="1">
                <a:solidFill>
                  <a:srgbClr val="1E1B1C"/>
                </a:solidFill>
              </a:rPr>
              <a:t>2</a:t>
            </a:r>
          </a:p>
        </p:txBody>
      </p:sp>
      <p:sp>
        <p:nvSpPr>
          <p:cNvPr id="12" name="Perspektive 2"/>
          <p:cNvSpPr txBox="1"/>
          <p:nvPr/>
        </p:nvSpPr>
        <p:spPr>
          <a:xfrm>
            <a:off x="8092440" y="3154680"/>
            <a:ext cx="3383280" cy="1188720"/>
          </a:xfrm>
          <a:prstGeom prst="rect">
            <a:avLst/>
          </a:prstGeom>
          <a:noFill/>
        </p:spPr>
        <p:txBody>
          <a:bodyPr wrap="square" anchor="t" lIns="0" rIns="0" tIns="0" bIns="0">
            <a:noAutofit/>
          </a:bodyPr>
          <a:lstStyle/>
          <a:p>
            <a:pPr>
              <a:spcAft>
                <a:spcPts val="300"/>
              </a:spcAft>
            </a:pPr>
            <a:r>
              <a:rPr sz="2000" b="1">
                <a:solidFill>
                  <a:srgbClr val="1E1B1C"/>
                </a:solidFill>
              </a:rPr>
              <a:t>Werkzeug</a:t>
            </a:r>
          </a:p>
          <a:p>
            <a:r>
              <a:rPr sz="1600" b="0">
                <a:solidFill>
                  <a:srgbClr val="5A5456"/>
                </a:solidFill>
              </a:rPr>
              <a:t>Wie setze ich es sinnvoll ein?</a:t>
            </a:r>
          </a:p>
        </p:txBody>
      </p:sp>
      <p:sp>
        <p:nvSpPr>
          <p:cNvPr id="13" name="Nummer 3"/>
          <p:cNvSpPr/>
          <p:nvPr/>
        </p:nvSpPr>
        <p:spPr>
          <a:xfrm>
            <a:off x="7315200" y="4663440"/>
            <a:ext cx="566928" cy="566928"/>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2000" b="1">
                <a:solidFill>
                  <a:srgbClr val="FFFFFF"/>
                </a:solidFill>
              </a:rPr>
              <a:t>3</a:t>
            </a:r>
          </a:p>
        </p:txBody>
      </p:sp>
      <p:sp>
        <p:nvSpPr>
          <p:cNvPr id="14" name="Perspektive 3"/>
          <p:cNvSpPr txBox="1"/>
          <p:nvPr/>
        </p:nvSpPr>
        <p:spPr>
          <a:xfrm>
            <a:off x="8092440" y="4617720"/>
            <a:ext cx="3383280" cy="1188720"/>
          </a:xfrm>
          <a:prstGeom prst="rect">
            <a:avLst/>
          </a:prstGeom>
          <a:noFill/>
        </p:spPr>
        <p:txBody>
          <a:bodyPr wrap="square" anchor="t" lIns="0" rIns="0" tIns="0" bIns="0">
            <a:noAutofit/>
          </a:bodyPr>
          <a:lstStyle/>
          <a:p>
            <a:pPr>
              <a:spcAft>
                <a:spcPts val="300"/>
              </a:spcAft>
            </a:pPr>
            <a:r>
              <a:rPr sz="2000" b="1">
                <a:solidFill>
                  <a:srgbClr val="1E1B1C"/>
                </a:solidFill>
              </a:rPr>
              <a:t>Reflexionsanlass</a:t>
            </a:r>
          </a:p>
          <a:p>
            <a:r>
              <a:rPr sz="1600" b="0">
                <a:solidFill>
                  <a:srgbClr val="5A5456"/>
                </a:solidFill>
              </a:rPr>
              <a:t>Was heisst das für meinen Unterricht?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Der Ablauf in 120 Minuten</a:t>
            </a:r>
          </a:p>
        </p:txBody>
      </p:sp>
      <p:sp>
        <p:nvSpPr>
          <p:cNvPr id="3" name="Phase"/>
          <p:cNvSpPr/>
          <p:nvPr/>
        </p:nvSpPr>
        <p:spPr>
          <a:xfrm>
            <a:off x="548640" y="347472"/>
            <a:ext cx="146304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ABLAUF</a:t>
            </a:r>
          </a:p>
        </p:txBody>
      </p:sp>
      <p:sp>
        <p:nvSpPr>
          <p:cNvPr id="4" name="Zeitleiste Ankommen und Standort bestimmen"/>
          <p:cNvSpPr/>
          <p:nvPr/>
        </p:nvSpPr>
        <p:spPr>
          <a:xfrm>
            <a:off x="548640" y="1645920"/>
            <a:ext cx="739444" cy="274320"/>
          </a:xfrm>
          <a:prstGeom prst="rect">
            <a:avLst/>
          </a:prstGeom>
          <a:solidFill>
            <a:srgbClr val="5A545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Zeitleiste KI oder nicht KI"/>
          <p:cNvSpPr/>
          <p:nvPr/>
        </p:nvSpPr>
        <p:spPr>
          <a:xfrm>
            <a:off x="1288084" y="1645920"/>
            <a:ext cx="739444" cy="274320"/>
          </a:xfrm>
          <a:prstGeom prst="rect">
            <a:avLst/>
          </a:prstGeom>
          <a:solidFill>
            <a:srgbClr val="2F6A9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6" name="Zeitleiste Lernen aus Daten"/>
          <p:cNvSpPr/>
          <p:nvPr/>
        </p:nvSpPr>
        <p:spPr>
          <a:xfrm>
            <a:off x="2027529" y="1645920"/>
            <a:ext cx="1663750" cy="274320"/>
          </a:xfrm>
          <a:prstGeom prst="rect">
            <a:avLst/>
          </a:prstGeom>
          <a:solidFill>
            <a:srgbClr val="2F6A9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7" name="Zeitleiste Von Regeln zu Sprachmodellen"/>
          <p:cNvSpPr/>
          <p:nvPr/>
        </p:nvSpPr>
        <p:spPr>
          <a:xfrm>
            <a:off x="3691280" y="1645920"/>
            <a:ext cx="1663750" cy="274320"/>
          </a:xfrm>
          <a:prstGeom prst="rect">
            <a:avLst/>
          </a:prstGeom>
          <a:solidFill>
            <a:srgbClr val="2F6A9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Zeitleiste Zwischensicherung"/>
          <p:cNvSpPr/>
          <p:nvPr/>
        </p:nvSpPr>
        <p:spPr>
          <a:xfrm>
            <a:off x="5355031" y="1645920"/>
            <a:ext cx="554583" cy="274320"/>
          </a:xfrm>
          <a:prstGeom prst="rect">
            <a:avLst/>
          </a:prstGeom>
          <a:solidFill>
            <a:srgbClr val="2F6A9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9" name="Zeitleiste Pause"/>
          <p:cNvSpPr/>
          <p:nvPr/>
        </p:nvSpPr>
        <p:spPr>
          <a:xfrm>
            <a:off x="5909614" y="1645920"/>
            <a:ext cx="739444" cy="274320"/>
          </a:xfrm>
          <a:prstGeom prst="rect">
            <a:avLst/>
          </a:prstGeom>
          <a:solidFill>
            <a:srgbClr val="A9A1A3"/>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0" name="Zeitleiste Prompting ausprobieren"/>
          <p:cNvSpPr/>
          <p:nvPr/>
        </p:nvSpPr>
        <p:spPr>
          <a:xfrm>
            <a:off x="6649059" y="1645920"/>
            <a:ext cx="1478889" cy="274320"/>
          </a:xfrm>
          <a:prstGeom prst="rect">
            <a:avLst/>
          </a:prstGeom>
          <a:solidFill>
            <a:srgbClr val="F4B93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1" name="Zeitleiste Kompetenzen entdecken"/>
          <p:cNvSpPr/>
          <p:nvPr/>
        </p:nvSpPr>
        <p:spPr>
          <a:xfrm>
            <a:off x="8127949" y="1645920"/>
            <a:ext cx="1109167" cy="274320"/>
          </a:xfrm>
          <a:prstGeom prst="rect">
            <a:avLst/>
          </a:prstGeom>
          <a:solidFill>
            <a:srgbClr val="6B4FA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2" name="Zeitleiste Aufgaben verbessern"/>
          <p:cNvSpPr/>
          <p:nvPr/>
        </p:nvSpPr>
        <p:spPr>
          <a:xfrm>
            <a:off x="9237116" y="1645920"/>
            <a:ext cx="1386459" cy="274320"/>
          </a:xfrm>
          <a:prstGeom prst="rect">
            <a:avLst/>
          </a:prstGeom>
          <a:solidFill>
            <a:srgbClr val="6B4FA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3" name="Zeitleiste Eigene Aktivität und Abschluss"/>
          <p:cNvSpPr/>
          <p:nvPr/>
        </p:nvSpPr>
        <p:spPr>
          <a:xfrm>
            <a:off x="10623575" y="1645920"/>
            <a:ext cx="1016736" cy="274320"/>
          </a:xfrm>
          <a:prstGeom prst="rect">
            <a:avLst/>
          </a:prstGeom>
          <a:solidFill>
            <a:srgbClr val="6B4FA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4" name="Legende Standort"/>
          <p:cNvSpPr/>
          <p:nvPr/>
        </p:nvSpPr>
        <p:spPr>
          <a:xfrm>
            <a:off x="548640" y="2103120"/>
            <a:ext cx="146304" cy="146304"/>
          </a:xfrm>
          <a:prstGeom prst="ellipse">
            <a:avLst/>
          </a:prstGeom>
          <a:solidFill>
            <a:srgbClr val="5A54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5" name="Legendentext Standort"/>
          <p:cNvSpPr txBox="1"/>
          <p:nvPr/>
        </p:nvSpPr>
        <p:spPr>
          <a:xfrm>
            <a:off x="768096" y="2039112"/>
            <a:ext cx="2011680" cy="274320"/>
          </a:xfrm>
          <a:prstGeom prst="rect">
            <a:avLst/>
          </a:prstGeom>
          <a:noFill/>
        </p:spPr>
        <p:txBody>
          <a:bodyPr wrap="square" anchor="t" lIns="0" rIns="0" tIns="0" bIns="0">
            <a:noAutofit/>
          </a:bodyPr>
          <a:lstStyle/>
          <a:p>
            <a:r>
              <a:rPr sz="1200" b="0">
                <a:solidFill>
                  <a:srgbClr val="5A5456"/>
                </a:solidFill>
              </a:rPr>
              <a:t>Standort</a:t>
            </a:r>
          </a:p>
        </p:txBody>
      </p:sp>
      <p:sp>
        <p:nvSpPr>
          <p:cNvPr id="16" name="Legende KI verstehen"/>
          <p:cNvSpPr/>
          <p:nvPr/>
        </p:nvSpPr>
        <p:spPr>
          <a:xfrm>
            <a:off x="2103120" y="2103120"/>
            <a:ext cx="146304" cy="146304"/>
          </a:xfrm>
          <a:prstGeom prst="ellipse">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7" name="Legendentext KI verstehen"/>
          <p:cNvSpPr txBox="1"/>
          <p:nvPr/>
        </p:nvSpPr>
        <p:spPr>
          <a:xfrm>
            <a:off x="2322576" y="2039112"/>
            <a:ext cx="2011680" cy="274320"/>
          </a:xfrm>
          <a:prstGeom prst="rect">
            <a:avLst/>
          </a:prstGeom>
          <a:noFill/>
        </p:spPr>
        <p:txBody>
          <a:bodyPr wrap="square" anchor="t" lIns="0" rIns="0" tIns="0" bIns="0">
            <a:noAutofit/>
          </a:bodyPr>
          <a:lstStyle/>
          <a:p>
            <a:r>
              <a:rPr sz="1200" b="0">
                <a:solidFill>
                  <a:srgbClr val="5A5456"/>
                </a:solidFill>
              </a:rPr>
              <a:t>KI verstehen</a:t>
            </a:r>
          </a:p>
        </p:txBody>
      </p:sp>
      <p:sp>
        <p:nvSpPr>
          <p:cNvPr id="18" name="Legende KI anwenden"/>
          <p:cNvSpPr/>
          <p:nvPr/>
        </p:nvSpPr>
        <p:spPr>
          <a:xfrm>
            <a:off x="3840480" y="2103120"/>
            <a:ext cx="146304" cy="14630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9" name="Legendentext KI anwenden"/>
          <p:cNvSpPr txBox="1"/>
          <p:nvPr/>
        </p:nvSpPr>
        <p:spPr>
          <a:xfrm>
            <a:off x="4059936" y="2039112"/>
            <a:ext cx="2011680" cy="274320"/>
          </a:xfrm>
          <a:prstGeom prst="rect">
            <a:avLst/>
          </a:prstGeom>
          <a:noFill/>
        </p:spPr>
        <p:txBody>
          <a:bodyPr wrap="square" anchor="t" lIns="0" rIns="0" tIns="0" bIns="0">
            <a:noAutofit/>
          </a:bodyPr>
          <a:lstStyle/>
          <a:p>
            <a:r>
              <a:rPr sz="1200" b="0">
                <a:solidFill>
                  <a:srgbClr val="5A5456"/>
                </a:solidFill>
              </a:rPr>
              <a:t>KI anwenden</a:t>
            </a:r>
          </a:p>
        </p:txBody>
      </p:sp>
      <p:sp>
        <p:nvSpPr>
          <p:cNvPr id="20" name="Legende Unterricht gestalten"/>
          <p:cNvSpPr/>
          <p:nvPr/>
        </p:nvSpPr>
        <p:spPr>
          <a:xfrm>
            <a:off x="5577840" y="2103120"/>
            <a:ext cx="146304" cy="146304"/>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1" name="Legendentext Unterricht gestalten"/>
          <p:cNvSpPr txBox="1"/>
          <p:nvPr/>
        </p:nvSpPr>
        <p:spPr>
          <a:xfrm>
            <a:off x="5797296" y="2039112"/>
            <a:ext cx="2011680" cy="274320"/>
          </a:xfrm>
          <a:prstGeom prst="rect">
            <a:avLst/>
          </a:prstGeom>
          <a:noFill/>
        </p:spPr>
        <p:txBody>
          <a:bodyPr wrap="square" anchor="t" lIns="0" rIns="0" tIns="0" bIns="0">
            <a:noAutofit/>
          </a:bodyPr>
          <a:lstStyle/>
          <a:p>
            <a:r>
              <a:rPr sz="1200" b="0">
                <a:solidFill>
                  <a:srgbClr val="5A5456"/>
                </a:solidFill>
              </a:rPr>
              <a:t>Unterricht gestalten</a:t>
            </a:r>
          </a:p>
        </p:txBody>
      </p:sp>
      <p:sp>
        <p:nvSpPr>
          <p:cNvPr id="22" name="Legende Pause"/>
          <p:cNvSpPr/>
          <p:nvPr/>
        </p:nvSpPr>
        <p:spPr>
          <a:xfrm>
            <a:off x="7863840" y="2103120"/>
            <a:ext cx="146304" cy="146304"/>
          </a:xfrm>
          <a:prstGeom prst="ellipse">
            <a:avLst/>
          </a:prstGeom>
          <a:solidFill>
            <a:srgbClr val="A9A1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3" name="Legendentext Pause"/>
          <p:cNvSpPr txBox="1"/>
          <p:nvPr/>
        </p:nvSpPr>
        <p:spPr>
          <a:xfrm>
            <a:off x="8083296" y="2039112"/>
            <a:ext cx="2011680" cy="274320"/>
          </a:xfrm>
          <a:prstGeom prst="rect">
            <a:avLst/>
          </a:prstGeom>
          <a:noFill/>
        </p:spPr>
        <p:txBody>
          <a:bodyPr wrap="square" anchor="t" lIns="0" rIns="0" tIns="0" bIns="0">
            <a:noAutofit/>
          </a:bodyPr>
          <a:lstStyle/>
          <a:p>
            <a:r>
              <a:rPr sz="1200" b="0">
                <a:solidFill>
                  <a:srgbClr val="5A5456"/>
                </a:solidFill>
              </a:rPr>
              <a:t>Pause</a:t>
            </a:r>
          </a:p>
        </p:txBody>
      </p:sp>
      <p:sp>
        <p:nvSpPr>
          <p:cNvPr id="24" name="Karte Ankommen und Standort bestimmen"/>
          <p:cNvSpPr/>
          <p:nvPr/>
        </p:nvSpPr>
        <p:spPr>
          <a:xfrm>
            <a:off x="548640" y="251460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5" name="Markierung"/>
          <p:cNvSpPr/>
          <p:nvPr/>
        </p:nvSpPr>
        <p:spPr>
          <a:xfrm>
            <a:off x="731520" y="2697480"/>
            <a:ext cx="146304" cy="146304"/>
          </a:xfrm>
          <a:prstGeom prst="ellipse">
            <a:avLst/>
          </a:prstGeom>
          <a:solidFill>
            <a:srgbClr val="5A54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6" name="Zeit"/>
          <p:cNvSpPr txBox="1"/>
          <p:nvPr/>
        </p:nvSpPr>
        <p:spPr>
          <a:xfrm>
            <a:off x="960120" y="2642616"/>
            <a:ext cx="1559966" cy="274320"/>
          </a:xfrm>
          <a:prstGeom prst="rect">
            <a:avLst/>
          </a:prstGeom>
          <a:noFill/>
        </p:spPr>
        <p:txBody>
          <a:bodyPr wrap="square" anchor="t" lIns="0" rIns="0" tIns="0" bIns="0">
            <a:noAutofit/>
          </a:bodyPr>
          <a:lstStyle/>
          <a:p>
            <a:r>
              <a:rPr sz="1200" b="1">
                <a:solidFill>
                  <a:srgbClr val="5A5456"/>
                </a:solidFill>
              </a:rPr>
              <a:t>Min. 0 bis 8</a:t>
            </a:r>
          </a:p>
        </p:txBody>
      </p:sp>
      <p:sp>
        <p:nvSpPr>
          <p:cNvPr id="27" name="Phase"/>
          <p:cNvSpPr txBox="1"/>
          <p:nvPr/>
        </p:nvSpPr>
        <p:spPr>
          <a:xfrm>
            <a:off x="731520" y="3017520"/>
            <a:ext cx="1834286" cy="822960"/>
          </a:xfrm>
          <a:prstGeom prst="rect">
            <a:avLst/>
          </a:prstGeom>
          <a:noFill/>
        </p:spPr>
        <p:txBody>
          <a:bodyPr wrap="square" anchor="t" lIns="0" rIns="0" tIns="0" bIns="0">
            <a:noAutofit/>
          </a:bodyPr>
          <a:lstStyle/>
          <a:p>
            <a:r>
              <a:rPr sz="1400" b="1">
                <a:solidFill>
                  <a:srgbClr val="1E1B1C"/>
                </a:solidFill>
              </a:rPr>
              <a:t>Ankommen und Standort bestimmen</a:t>
            </a:r>
          </a:p>
        </p:txBody>
      </p:sp>
      <p:sp>
        <p:nvSpPr>
          <p:cNvPr id="28" name="Sozialform"/>
          <p:cNvSpPr txBox="1"/>
          <p:nvPr/>
        </p:nvSpPr>
        <p:spPr>
          <a:xfrm>
            <a:off x="731520" y="3886200"/>
            <a:ext cx="1742846" cy="274320"/>
          </a:xfrm>
          <a:prstGeom prst="rect">
            <a:avLst/>
          </a:prstGeom>
          <a:noFill/>
        </p:spPr>
        <p:txBody>
          <a:bodyPr wrap="square" anchor="t" lIns="0" rIns="0" tIns="0" bIns="0">
            <a:noAutofit/>
          </a:bodyPr>
          <a:lstStyle/>
          <a:p>
            <a:r>
              <a:rPr sz="1200" b="0">
                <a:solidFill>
                  <a:srgbClr val="5A5456"/>
                </a:solidFill>
              </a:rPr>
              <a:t>einzeln</a:t>
            </a:r>
          </a:p>
        </p:txBody>
      </p:sp>
      <p:sp>
        <p:nvSpPr>
          <p:cNvPr id="29" name="Karte KI oder nicht KI"/>
          <p:cNvSpPr/>
          <p:nvPr/>
        </p:nvSpPr>
        <p:spPr>
          <a:xfrm>
            <a:off x="2794406" y="251460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30" name="Markierung"/>
          <p:cNvSpPr/>
          <p:nvPr/>
        </p:nvSpPr>
        <p:spPr>
          <a:xfrm>
            <a:off x="2977286" y="2697480"/>
            <a:ext cx="146304" cy="146304"/>
          </a:xfrm>
          <a:prstGeom prst="ellipse">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31" name="Zeit"/>
          <p:cNvSpPr txBox="1"/>
          <p:nvPr/>
        </p:nvSpPr>
        <p:spPr>
          <a:xfrm>
            <a:off x="3205886" y="2642616"/>
            <a:ext cx="1559966" cy="274320"/>
          </a:xfrm>
          <a:prstGeom prst="rect">
            <a:avLst/>
          </a:prstGeom>
          <a:noFill/>
        </p:spPr>
        <p:txBody>
          <a:bodyPr wrap="square" anchor="t" lIns="0" rIns="0" tIns="0" bIns="0">
            <a:noAutofit/>
          </a:bodyPr>
          <a:lstStyle/>
          <a:p>
            <a:r>
              <a:rPr sz="1200" b="1">
                <a:solidFill>
                  <a:srgbClr val="5A5456"/>
                </a:solidFill>
              </a:rPr>
              <a:t>Min. 8 bis 16</a:t>
            </a:r>
          </a:p>
        </p:txBody>
      </p:sp>
      <p:sp>
        <p:nvSpPr>
          <p:cNvPr id="32" name="Phase"/>
          <p:cNvSpPr txBox="1"/>
          <p:nvPr/>
        </p:nvSpPr>
        <p:spPr>
          <a:xfrm>
            <a:off x="2977286" y="3017520"/>
            <a:ext cx="1834286" cy="822960"/>
          </a:xfrm>
          <a:prstGeom prst="rect">
            <a:avLst/>
          </a:prstGeom>
          <a:noFill/>
        </p:spPr>
        <p:txBody>
          <a:bodyPr wrap="square" anchor="t" lIns="0" rIns="0" tIns="0" bIns="0">
            <a:noAutofit/>
          </a:bodyPr>
          <a:lstStyle/>
          <a:p>
            <a:r>
              <a:rPr sz="1400" b="1">
                <a:solidFill>
                  <a:srgbClr val="1E1B1C"/>
                </a:solidFill>
              </a:rPr>
              <a:t>KI oder nicht KI</a:t>
            </a:r>
          </a:p>
        </p:txBody>
      </p:sp>
      <p:sp>
        <p:nvSpPr>
          <p:cNvPr id="33" name="Sozialform"/>
          <p:cNvSpPr txBox="1"/>
          <p:nvPr/>
        </p:nvSpPr>
        <p:spPr>
          <a:xfrm>
            <a:off x="2977286" y="3886200"/>
            <a:ext cx="1742846" cy="274320"/>
          </a:xfrm>
          <a:prstGeom prst="rect">
            <a:avLst/>
          </a:prstGeom>
          <a:noFill/>
        </p:spPr>
        <p:txBody>
          <a:bodyPr wrap="square" anchor="t" lIns="0" rIns="0" tIns="0" bIns="0">
            <a:noAutofit/>
          </a:bodyPr>
          <a:lstStyle/>
          <a:p>
            <a:r>
              <a:rPr sz="1200" b="0">
                <a:solidFill>
                  <a:srgbClr val="5A5456"/>
                </a:solidFill>
              </a:rPr>
              <a:t>Plenum</a:t>
            </a:r>
          </a:p>
        </p:txBody>
      </p:sp>
      <p:sp>
        <p:nvSpPr>
          <p:cNvPr id="34" name="Karte Lernen aus Daten"/>
          <p:cNvSpPr/>
          <p:nvPr/>
        </p:nvSpPr>
        <p:spPr>
          <a:xfrm>
            <a:off x="5040172" y="251460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35" name="Markierung"/>
          <p:cNvSpPr/>
          <p:nvPr/>
        </p:nvSpPr>
        <p:spPr>
          <a:xfrm>
            <a:off x="5223052" y="2697480"/>
            <a:ext cx="146304" cy="146304"/>
          </a:xfrm>
          <a:prstGeom prst="ellipse">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36" name="Zeit"/>
          <p:cNvSpPr txBox="1"/>
          <p:nvPr/>
        </p:nvSpPr>
        <p:spPr>
          <a:xfrm>
            <a:off x="5451652" y="2642616"/>
            <a:ext cx="1559966" cy="274320"/>
          </a:xfrm>
          <a:prstGeom prst="rect">
            <a:avLst/>
          </a:prstGeom>
          <a:noFill/>
        </p:spPr>
        <p:txBody>
          <a:bodyPr wrap="square" anchor="t" lIns="0" rIns="0" tIns="0" bIns="0">
            <a:noAutofit/>
          </a:bodyPr>
          <a:lstStyle/>
          <a:p>
            <a:r>
              <a:rPr sz="1200" b="1">
                <a:solidFill>
                  <a:srgbClr val="5A5456"/>
                </a:solidFill>
              </a:rPr>
              <a:t>Min. 16 bis 34</a:t>
            </a:r>
          </a:p>
        </p:txBody>
      </p:sp>
      <p:sp>
        <p:nvSpPr>
          <p:cNvPr id="37" name="Phase"/>
          <p:cNvSpPr txBox="1"/>
          <p:nvPr/>
        </p:nvSpPr>
        <p:spPr>
          <a:xfrm>
            <a:off x="5223052" y="3017520"/>
            <a:ext cx="1834286" cy="822960"/>
          </a:xfrm>
          <a:prstGeom prst="rect">
            <a:avLst/>
          </a:prstGeom>
          <a:noFill/>
        </p:spPr>
        <p:txBody>
          <a:bodyPr wrap="square" anchor="t" lIns="0" rIns="0" tIns="0" bIns="0">
            <a:noAutofit/>
          </a:bodyPr>
          <a:lstStyle/>
          <a:p>
            <a:r>
              <a:rPr sz="1400" b="1">
                <a:solidFill>
                  <a:srgbClr val="1E1B1C"/>
                </a:solidFill>
              </a:rPr>
              <a:t>Lernen aus Daten</a:t>
            </a:r>
          </a:p>
        </p:txBody>
      </p:sp>
      <p:sp>
        <p:nvSpPr>
          <p:cNvPr id="38" name="Sozialform"/>
          <p:cNvSpPr txBox="1"/>
          <p:nvPr/>
        </p:nvSpPr>
        <p:spPr>
          <a:xfrm>
            <a:off x="5223052" y="3886200"/>
            <a:ext cx="1742846" cy="274320"/>
          </a:xfrm>
          <a:prstGeom prst="rect">
            <a:avLst/>
          </a:prstGeom>
          <a:noFill/>
        </p:spPr>
        <p:txBody>
          <a:bodyPr wrap="square" anchor="t" lIns="0" rIns="0" tIns="0" bIns="0">
            <a:noAutofit/>
          </a:bodyPr>
          <a:lstStyle/>
          <a:p>
            <a:r>
              <a:rPr sz="1200" b="0">
                <a:solidFill>
                  <a:srgbClr val="5A5456"/>
                </a:solidFill>
              </a:rPr>
              <a:t>Paare</a:t>
            </a:r>
          </a:p>
        </p:txBody>
      </p:sp>
      <p:sp>
        <p:nvSpPr>
          <p:cNvPr id="39" name="Karte Von Regeln zu Sprachmodellen"/>
          <p:cNvSpPr/>
          <p:nvPr/>
        </p:nvSpPr>
        <p:spPr>
          <a:xfrm>
            <a:off x="7285939" y="251460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40" name="Markierung"/>
          <p:cNvSpPr/>
          <p:nvPr/>
        </p:nvSpPr>
        <p:spPr>
          <a:xfrm>
            <a:off x="7468819" y="2697480"/>
            <a:ext cx="146304" cy="146304"/>
          </a:xfrm>
          <a:prstGeom prst="ellipse">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41" name="Zeit"/>
          <p:cNvSpPr txBox="1"/>
          <p:nvPr/>
        </p:nvSpPr>
        <p:spPr>
          <a:xfrm>
            <a:off x="7697419" y="2642616"/>
            <a:ext cx="1559966" cy="274320"/>
          </a:xfrm>
          <a:prstGeom prst="rect">
            <a:avLst/>
          </a:prstGeom>
          <a:noFill/>
        </p:spPr>
        <p:txBody>
          <a:bodyPr wrap="square" anchor="t" lIns="0" rIns="0" tIns="0" bIns="0">
            <a:noAutofit/>
          </a:bodyPr>
          <a:lstStyle/>
          <a:p>
            <a:r>
              <a:rPr sz="1200" b="1">
                <a:solidFill>
                  <a:srgbClr val="5A5456"/>
                </a:solidFill>
              </a:rPr>
              <a:t>Min. 34 bis 52</a:t>
            </a:r>
          </a:p>
        </p:txBody>
      </p:sp>
      <p:sp>
        <p:nvSpPr>
          <p:cNvPr id="42" name="Phase"/>
          <p:cNvSpPr txBox="1"/>
          <p:nvPr/>
        </p:nvSpPr>
        <p:spPr>
          <a:xfrm>
            <a:off x="7468819" y="3017520"/>
            <a:ext cx="1834286" cy="822960"/>
          </a:xfrm>
          <a:prstGeom prst="rect">
            <a:avLst/>
          </a:prstGeom>
          <a:noFill/>
        </p:spPr>
        <p:txBody>
          <a:bodyPr wrap="square" anchor="t" lIns="0" rIns="0" tIns="0" bIns="0">
            <a:noAutofit/>
          </a:bodyPr>
          <a:lstStyle/>
          <a:p>
            <a:r>
              <a:rPr sz="1400" b="1">
                <a:solidFill>
                  <a:srgbClr val="1E1B1C"/>
                </a:solidFill>
              </a:rPr>
              <a:t>Von Regeln zu Sprachmodellen</a:t>
            </a:r>
          </a:p>
        </p:txBody>
      </p:sp>
      <p:sp>
        <p:nvSpPr>
          <p:cNvPr id="43" name="Sozialform"/>
          <p:cNvSpPr txBox="1"/>
          <p:nvPr/>
        </p:nvSpPr>
        <p:spPr>
          <a:xfrm>
            <a:off x="7468819" y="3886200"/>
            <a:ext cx="1742846" cy="274320"/>
          </a:xfrm>
          <a:prstGeom prst="rect">
            <a:avLst/>
          </a:prstGeom>
          <a:noFill/>
        </p:spPr>
        <p:txBody>
          <a:bodyPr wrap="square" anchor="t" lIns="0" rIns="0" tIns="0" bIns="0">
            <a:noAutofit/>
          </a:bodyPr>
          <a:lstStyle/>
          <a:p>
            <a:r>
              <a:rPr sz="1200" b="0">
                <a:solidFill>
                  <a:srgbClr val="5A5456"/>
                </a:solidFill>
              </a:rPr>
              <a:t>Plenum und Paare</a:t>
            </a:r>
          </a:p>
        </p:txBody>
      </p:sp>
      <p:sp>
        <p:nvSpPr>
          <p:cNvPr id="44" name="Karte Zwischensicherung"/>
          <p:cNvSpPr/>
          <p:nvPr/>
        </p:nvSpPr>
        <p:spPr>
          <a:xfrm>
            <a:off x="9531705" y="251460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45" name="Markierung"/>
          <p:cNvSpPr/>
          <p:nvPr/>
        </p:nvSpPr>
        <p:spPr>
          <a:xfrm>
            <a:off x="9714585" y="2697480"/>
            <a:ext cx="146304" cy="146304"/>
          </a:xfrm>
          <a:prstGeom prst="ellipse">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46" name="Zeit"/>
          <p:cNvSpPr txBox="1"/>
          <p:nvPr/>
        </p:nvSpPr>
        <p:spPr>
          <a:xfrm>
            <a:off x="9943185" y="2642616"/>
            <a:ext cx="1559966" cy="274320"/>
          </a:xfrm>
          <a:prstGeom prst="rect">
            <a:avLst/>
          </a:prstGeom>
          <a:noFill/>
        </p:spPr>
        <p:txBody>
          <a:bodyPr wrap="square" anchor="t" lIns="0" rIns="0" tIns="0" bIns="0">
            <a:noAutofit/>
          </a:bodyPr>
          <a:lstStyle/>
          <a:p>
            <a:r>
              <a:rPr sz="1200" b="1">
                <a:solidFill>
                  <a:srgbClr val="5A5456"/>
                </a:solidFill>
              </a:rPr>
              <a:t>Min. 52 bis 58</a:t>
            </a:r>
          </a:p>
        </p:txBody>
      </p:sp>
      <p:sp>
        <p:nvSpPr>
          <p:cNvPr id="47" name="Phase"/>
          <p:cNvSpPr txBox="1"/>
          <p:nvPr/>
        </p:nvSpPr>
        <p:spPr>
          <a:xfrm>
            <a:off x="9714585" y="3017520"/>
            <a:ext cx="1834286" cy="822960"/>
          </a:xfrm>
          <a:prstGeom prst="rect">
            <a:avLst/>
          </a:prstGeom>
          <a:noFill/>
        </p:spPr>
        <p:txBody>
          <a:bodyPr wrap="square" anchor="t" lIns="0" rIns="0" tIns="0" bIns="0">
            <a:noAutofit/>
          </a:bodyPr>
          <a:lstStyle/>
          <a:p>
            <a:r>
              <a:rPr sz="1400" b="1">
                <a:solidFill>
                  <a:srgbClr val="1E1B1C"/>
                </a:solidFill>
              </a:rPr>
              <a:t>Zwischensicherung</a:t>
            </a:r>
          </a:p>
        </p:txBody>
      </p:sp>
      <p:sp>
        <p:nvSpPr>
          <p:cNvPr id="48" name="Sozialform"/>
          <p:cNvSpPr txBox="1"/>
          <p:nvPr/>
        </p:nvSpPr>
        <p:spPr>
          <a:xfrm>
            <a:off x="9714585" y="3886200"/>
            <a:ext cx="1742846" cy="274320"/>
          </a:xfrm>
          <a:prstGeom prst="rect">
            <a:avLst/>
          </a:prstGeom>
          <a:noFill/>
        </p:spPr>
        <p:txBody>
          <a:bodyPr wrap="square" anchor="t" lIns="0" rIns="0" tIns="0" bIns="0">
            <a:noAutofit/>
          </a:bodyPr>
          <a:lstStyle/>
          <a:p>
            <a:r>
              <a:rPr sz="1200" b="0">
                <a:solidFill>
                  <a:srgbClr val="5A5456"/>
                </a:solidFill>
              </a:rPr>
              <a:t>Plenum</a:t>
            </a:r>
          </a:p>
        </p:txBody>
      </p:sp>
      <p:sp>
        <p:nvSpPr>
          <p:cNvPr id="49" name="Karte Pause"/>
          <p:cNvSpPr/>
          <p:nvPr/>
        </p:nvSpPr>
        <p:spPr>
          <a:xfrm>
            <a:off x="548640" y="448056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0" name="Markierung"/>
          <p:cNvSpPr/>
          <p:nvPr/>
        </p:nvSpPr>
        <p:spPr>
          <a:xfrm>
            <a:off x="731520" y="4663440"/>
            <a:ext cx="146304" cy="146304"/>
          </a:xfrm>
          <a:prstGeom prst="ellipse">
            <a:avLst/>
          </a:prstGeom>
          <a:solidFill>
            <a:srgbClr val="A9A1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1" name="Zeit"/>
          <p:cNvSpPr txBox="1"/>
          <p:nvPr/>
        </p:nvSpPr>
        <p:spPr>
          <a:xfrm>
            <a:off x="960120" y="4608576"/>
            <a:ext cx="1559966" cy="274320"/>
          </a:xfrm>
          <a:prstGeom prst="rect">
            <a:avLst/>
          </a:prstGeom>
          <a:noFill/>
        </p:spPr>
        <p:txBody>
          <a:bodyPr wrap="square" anchor="t" lIns="0" rIns="0" tIns="0" bIns="0">
            <a:noAutofit/>
          </a:bodyPr>
          <a:lstStyle/>
          <a:p>
            <a:r>
              <a:rPr sz="1200" b="1">
                <a:solidFill>
                  <a:srgbClr val="5A5456"/>
                </a:solidFill>
              </a:rPr>
              <a:t>Min. 58 bis 66</a:t>
            </a:r>
          </a:p>
        </p:txBody>
      </p:sp>
      <p:sp>
        <p:nvSpPr>
          <p:cNvPr id="52" name="Phase"/>
          <p:cNvSpPr txBox="1"/>
          <p:nvPr/>
        </p:nvSpPr>
        <p:spPr>
          <a:xfrm>
            <a:off x="731520" y="4983480"/>
            <a:ext cx="1834286" cy="822960"/>
          </a:xfrm>
          <a:prstGeom prst="rect">
            <a:avLst/>
          </a:prstGeom>
          <a:noFill/>
        </p:spPr>
        <p:txBody>
          <a:bodyPr wrap="square" anchor="t" lIns="0" rIns="0" tIns="0" bIns="0">
            <a:noAutofit/>
          </a:bodyPr>
          <a:lstStyle/>
          <a:p>
            <a:r>
              <a:rPr sz="1400" b="1">
                <a:solidFill>
                  <a:srgbClr val="1E1B1C"/>
                </a:solidFill>
              </a:rPr>
              <a:t>Pause</a:t>
            </a:r>
          </a:p>
        </p:txBody>
      </p:sp>
      <p:sp>
        <p:nvSpPr>
          <p:cNvPr id="53" name="Karte Prompting ausprobieren"/>
          <p:cNvSpPr/>
          <p:nvPr/>
        </p:nvSpPr>
        <p:spPr>
          <a:xfrm>
            <a:off x="2794406" y="448056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4" name="Markierung"/>
          <p:cNvSpPr/>
          <p:nvPr/>
        </p:nvSpPr>
        <p:spPr>
          <a:xfrm>
            <a:off x="2977286" y="4663440"/>
            <a:ext cx="146304" cy="14630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5" name="Zeit"/>
          <p:cNvSpPr txBox="1"/>
          <p:nvPr/>
        </p:nvSpPr>
        <p:spPr>
          <a:xfrm>
            <a:off x="3205886" y="4608576"/>
            <a:ext cx="1559966" cy="274320"/>
          </a:xfrm>
          <a:prstGeom prst="rect">
            <a:avLst/>
          </a:prstGeom>
          <a:noFill/>
        </p:spPr>
        <p:txBody>
          <a:bodyPr wrap="square" anchor="t" lIns="0" rIns="0" tIns="0" bIns="0">
            <a:noAutofit/>
          </a:bodyPr>
          <a:lstStyle/>
          <a:p>
            <a:r>
              <a:rPr sz="1200" b="1">
                <a:solidFill>
                  <a:srgbClr val="5A5456"/>
                </a:solidFill>
              </a:rPr>
              <a:t>Min. 66 bis 82</a:t>
            </a:r>
          </a:p>
        </p:txBody>
      </p:sp>
      <p:sp>
        <p:nvSpPr>
          <p:cNvPr id="56" name="Phase"/>
          <p:cNvSpPr txBox="1"/>
          <p:nvPr/>
        </p:nvSpPr>
        <p:spPr>
          <a:xfrm>
            <a:off x="2977286" y="4983480"/>
            <a:ext cx="1834286" cy="822960"/>
          </a:xfrm>
          <a:prstGeom prst="rect">
            <a:avLst/>
          </a:prstGeom>
          <a:noFill/>
        </p:spPr>
        <p:txBody>
          <a:bodyPr wrap="square" anchor="t" lIns="0" rIns="0" tIns="0" bIns="0">
            <a:noAutofit/>
          </a:bodyPr>
          <a:lstStyle/>
          <a:p>
            <a:r>
              <a:rPr sz="1400" b="1">
                <a:solidFill>
                  <a:srgbClr val="1E1B1C"/>
                </a:solidFill>
              </a:rPr>
              <a:t>Prompting ausprobieren</a:t>
            </a:r>
          </a:p>
        </p:txBody>
      </p:sp>
      <p:sp>
        <p:nvSpPr>
          <p:cNvPr id="57" name="Sozialform"/>
          <p:cNvSpPr txBox="1"/>
          <p:nvPr/>
        </p:nvSpPr>
        <p:spPr>
          <a:xfrm>
            <a:off x="2977286" y="5852160"/>
            <a:ext cx="1742846" cy="274320"/>
          </a:xfrm>
          <a:prstGeom prst="rect">
            <a:avLst/>
          </a:prstGeom>
          <a:noFill/>
        </p:spPr>
        <p:txBody>
          <a:bodyPr wrap="square" anchor="t" lIns="0" rIns="0" tIns="0" bIns="0">
            <a:noAutofit/>
          </a:bodyPr>
          <a:lstStyle/>
          <a:p>
            <a:r>
              <a:rPr sz="1200" b="0">
                <a:solidFill>
                  <a:srgbClr val="5A5456"/>
                </a:solidFill>
              </a:rPr>
              <a:t>Paare</a:t>
            </a:r>
          </a:p>
        </p:txBody>
      </p:sp>
      <p:sp>
        <p:nvSpPr>
          <p:cNvPr id="58" name="Karte Kompetenzen entdecken"/>
          <p:cNvSpPr/>
          <p:nvPr/>
        </p:nvSpPr>
        <p:spPr>
          <a:xfrm>
            <a:off x="5040172" y="448056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9" name="Markierung"/>
          <p:cNvSpPr/>
          <p:nvPr/>
        </p:nvSpPr>
        <p:spPr>
          <a:xfrm>
            <a:off x="5223052" y="4663440"/>
            <a:ext cx="146304" cy="146304"/>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60" name="Zeit"/>
          <p:cNvSpPr txBox="1"/>
          <p:nvPr/>
        </p:nvSpPr>
        <p:spPr>
          <a:xfrm>
            <a:off x="5451652" y="4608576"/>
            <a:ext cx="1559966" cy="274320"/>
          </a:xfrm>
          <a:prstGeom prst="rect">
            <a:avLst/>
          </a:prstGeom>
          <a:noFill/>
        </p:spPr>
        <p:txBody>
          <a:bodyPr wrap="square" anchor="t" lIns="0" rIns="0" tIns="0" bIns="0">
            <a:noAutofit/>
          </a:bodyPr>
          <a:lstStyle/>
          <a:p>
            <a:r>
              <a:rPr sz="1200" b="1">
                <a:solidFill>
                  <a:srgbClr val="5A5456"/>
                </a:solidFill>
              </a:rPr>
              <a:t>Min. 82 bis 94</a:t>
            </a:r>
          </a:p>
        </p:txBody>
      </p:sp>
      <p:sp>
        <p:nvSpPr>
          <p:cNvPr id="61" name="Phase"/>
          <p:cNvSpPr txBox="1"/>
          <p:nvPr/>
        </p:nvSpPr>
        <p:spPr>
          <a:xfrm>
            <a:off x="5223052" y="4983480"/>
            <a:ext cx="1834286" cy="822960"/>
          </a:xfrm>
          <a:prstGeom prst="rect">
            <a:avLst/>
          </a:prstGeom>
          <a:noFill/>
        </p:spPr>
        <p:txBody>
          <a:bodyPr wrap="square" anchor="t" lIns="0" rIns="0" tIns="0" bIns="0">
            <a:noAutofit/>
          </a:bodyPr>
          <a:lstStyle/>
          <a:p>
            <a:r>
              <a:rPr sz="1400" b="1">
                <a:solidFill>
                  <a:srgbClr val="1E1B1C"/>
                </a:solidFill>
              </a:rPr>
              <a:t>Kompetenzen entdecken</a:t>
            </a:r>
          </a:p>
        </p:txBody>
      </p:sp>
      <p:sp>
        <p:nvSpPr>
          <p:cNvPr id="62" name="Sozialform"/>
          <p:cNvSpPr txBox="1"/>
          <p:nvPr/>
        </p:nvSpPr>
        <p:spPr>
          <a:xfrm>
            <a:off x="5223052" y="5852160"/>
            <a:ext cx="1742846" cy="274320"/>
          </a:xfrm>
          <a:prstGeom prst="rect">
            <a:avLst/>
          </a:prstGeom>
          <a:noFill/>
        </p:spPr>
        <p:txBody>
          <a:bodyPr wrap="square" anchor="t" lIns="0" rIns="0" tIns="0" bIns="0">
            <a:noAutofit/>
          </a:bodyPr>
          <a:lstStyle/>
          <a:p>
            <a:r>
              <a:rPr sz="1200" b="0">
                <a:solidFill>
                  <a:srgbClr val="5A5456"/>
                </a:solidFill>
              </a:rPr>
              <a:t>Vierergruppen</a:t>
            </a:r>
          </a:p>
        </p:txBody>
      </p:sp>
      <p:sp>
        <p:nvSpPr>
          <p:cNvPr id="63" name="Karte Aufgaben verbessern"/>
          <p:cNvSpPr/>
          <p:nvPr/>
        </p:nvSpPr>
        <p:spPr>
          <a:xfrm>
            <a:off x="7285939" y="448056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64" name="Markierung"/>
          <p:cNvSpPr/>
          <p:nvPr/>
        </p:nvSpPr>
        <p:spPr>
          <a:xfrm>
            <a:off x="7468819" y="4663440"/>
            <a:ext cx="146304" cy="146304"/>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65" name="Zeit"/>
          <p:cNvSpPr txBox="1"/>
          <p:nvPr/>
        </p:nvSpPr>
        <p:spPr>
          <a:xfrm>
            <a:off x="7697419" y="4608576"/>
            <a:ext cx="1559966" cy="274320"/>
          </a:xfrm>
          <a:prstGeom prst="rect">
            <a:avLst/>
          </a:prstGeom>
          <a:noFill/>
        </p:spPr>
        <p:txBody>
          <a:bodyPr wrap="square" anchor="t" lIns="0" rIns="0" tIns="0" bIns="0">
            <a:noAutofit/>
          </a:bodyPr>
          <a:lstStyle/>
          <a:p>
            <a:r>
              <a:rPr sz="1200" b="1">
                <a:solidFill>
                  <a:srgbClr val="5A5456"/>
                </a:solidFill>
              </a:rPr>
              <a:t>Min. 94 bis 109</a:t>
            </a:r>
          </a:p>
        </p:txBody>
      </p:sp>
      <p:sp>
        <p:nvSpPr>
          <p:cNvPr id="66" name="Phase"/>
          <p:cNvSpPr txBox="1"/>
          <p:nvPr/>
        </p:nvSpPr>
        <p:spPr>
          <a:xfrm>
            <a:off x="7468819" y="4983480"/>
            <a:ext cx="1834286" cy="822960"/>
          </a:xfrm>
          <a:prstGeom prst="rect">
            <a:avLst/>
          </a:prstGeom>
          <a:noFill/>
        </p:spPr>
        <p:txBody>
          <a:bodyPr wrap="square" anchor="t" lIns="0" rIns="0" tIns="0" bIns="0">
            <a:noAutofit/>
          </a:bodyPr>
          <a:lstStyle/>
          <a:p>
            <a:r>
              <a:rPr sz="1400" b="1">
                <a:solidFill>
                  <a:srgbClr val="1E1B1C"/>
                </a:solidFill>
              </a:rPr>
              <a:t>Aufgaben verbessern</a:t>
            </a:r>
          </a:p>
        </p:txBody>
      </p:sp>
      <p:sp>
        <p:nvSpPr>
          <p:cNvPr id="67" name="Sozialform"/>
          <p:cNvSpPr txBox="1"/>
          <p:nvPr/>
        </p:nvSpPr>
        <p:spPr>
          <a:xfrm>
            <a:off x="7468819" y="5852160"/>
            <a:ext cx="1742846" cy="274320"/>
          </a:xfrm>
          <a:prstGeom prst="rect">
            <a:avLst/>
          </a:prstGeom>
          <a:noFill/>
        </p:spPr>
        <p:txBody>
          <a:bodyPr wrap="square" anchor="t" lIns="0" rIns="0" tIns="0" bIns="0">
            <a:noAutofit/>
          </a:bodyPr>
          <a:lstStyle/>
          <a:p>
            <a:r>
              <a:rPr sz="1200" b="0">
                <a:solidFill>
                  <a:srgbClr val="5A5456"/>
                </a:solidFill>
              </a:rPr>
              <a:t>Gruppen</a:t>
            </a:r>
          </a:p>
        </p:txBody>
      </p:sp>
      <p:sp>
        <p:nvSpPr>
          <p:cNvPr id="68" name="Karte Eigene Aktivität und Abschluss"/>
          <p:cNvSpPr/>
          <p:nvPr/>
        </p:nvSpPr>
        <p:spPr>
          <a:xfrm>
            <a:off x="9531705" y="4480560"/>
            <a:ext cx="2108606"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69" name="Markierung"/>
          <p:cNvSpPr/>
          <p:nvPr/>
        </p:nvSpPr>
        <p:spPr>
          <a:xfrm>
            <a:off x="9714585" y="4663440"/>
            <a:ext cx="146304" cy="146304"/>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70" name="Zeit"/>
          <p:cNvSpPr txBox="1"/>
          <p:nvPr/>
        </p:nvSpPr>
        <p:spPr>
          <a:xfrm>
            <a:off x="9943185" y="4608576"/>
            <a:ext cx="1559966" cy="274320"/>
          </a:xfrm>
          <a:prstGeom prst="rect">
            <a:avLst/>
          </a:prstGeom>
          <a:noFill/>
        </p:spPr>
        <p:txBody>
          <a:bodyPr wrap="square" anchor="t" lIns="0" rIns="0" tIns="0" bIns="0">
            <a:noAutofit/>
          </a:bodyPr>
          <a:lstStyle/>
          <a:p>
            <a:r>
              <a:rPr sz="1200" b="1">
                <a:solidFill>
                  <a:srgbClr val="5A5456"/>
                </a:solidFill>
              </a:rPr>
              <a:t>Min. 109 bis 120</a:t>
            </a:r>
          </a:p>
        </p:txBody>
      </p:sp>
      <p:sp>
        <p:nvSpPr>
          <p:cNvPr id="71" name="Phase"/>
          <p:cNvSpPr txBox="1"/>
          <p:nvPr/>
        </p:nvSpPr>
        <p:spPr>
          <a:xfrm>
            <a:off x="9714585" y="4983480"/>
            <a:ext cx="1834286" cy="822960"/>
          </a:xfrm>
          <a:prstGeom prst="rect">
            <a:avLst/>
          </a:prstGeom>
          <a:noFill/>
        </p:spPr>
        <p:txBody>
          <a:bodyPr wrap="square" anchor="t" lIns="0" rIns="0" tIns="0" bIns="0">
            <a:noAutofit/>
          </a:bodyPr>
          <a:lstStyle/>
          <a:p>
            <a:r>
              <a:rPr sz="1400" b="1">
                <a:solidFill>
                  <a:srgbClr val="1E1B1C"/>
                </a:solidFill>
              </a:rPr>
              <a:t>Eigene Aktivität und Abschluss</a:t>
            </a:r>
          </a:p>
        </p:txBody>
      </p:sp>
      <p:sp>
        <p:nvSpPr>
          <p:cNvPr id="72" name="Sozialform"/>
          <p:cNvSpPr txBox="1"/>
          <p:nvPr/>
        </p:nvSpPr>
        <p:spPr>
          <a:xfrm>
            <a:off x="9714585" y="5852160"/>
            <a:ext cx="1742846" cy="274320"/>
          </a:xfrm>
          <a:prstGeom prst="rect">
            <a:avLst/>
          </a:prstGeom>
          <a:noFill/>
        </p:spPr>
        <p:txBody>
          <a:bodyPr wrap="square" anchor="t" lIns="0" rIns="0" tIns="0" bIns="0">
            <a:noAutofit/>
          </a:bodyPr>
          <a:lstStyle/>
          <a:p>
            <a:r>
              <a:rPr sz="1200" b="0">
                <a:solidFill>
                  <a:srgbClr val="5A5456"/>
                </a:solidFill>
              </a:rPr>
              <a:t>einzeln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So arbeiten wir heute</a:t>
            </a:r>
          </a:p>
        </p:txBody>
      </p:sp>
      <p:sp>
        <p:nvSpPr>
          <p:cNvPr id="3" name="Phase"/>
          <p:cNvSpPr/>
          <p:nvPr/>
        </p:nvSpPr>
        <p:spPr>
          <a:xfrm>
            <a:off x="548640" y="347472"/>
            <a:ext cx="1627632"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ORGANISATION</a:t>
            </a:r>
          </a:p>
        </p:txBody>
      </p:sp>
      <p:sp>
        <p:nvSpPr>
          <p:cNvPr id="4" name="Regeln"/>
          <p:cNvSpPr txBox="1"/>
          <p:nvPr/>
        </p:nvSpPr>
        <p:spPr>
          <a:xfrm>
            <a:off x="548640" y="1965960"/>
            <a:ext cx="5760720" cy="4206240"/>
          </a:xfrm>
          <a:prstGeom prst="rect">
            <a:avLst/>
          </a:prstGeom>
          <a:noFill/>
        </p:spPr>
        <p:txBody>
          <a:bodyPr wrap="square" anchor="t" lIns="0" rIns="0" tIns="0" bIns="0">
            <a:noAutofit/>
          </a:bodyPr>
          <a:lstStyle/>
          <a:p>
            <a:pPr marL="201168" indent="-201168">
              <a:spcAft>
                <a:spcPts val="1600"/>
              </a:spcAft>
              <a:buFont typeface="Arial"/>
              <a:buChar char="•"/>
            </a:pPr>
            <a:r>
              <a:rPr sz="2000" b="0">
                <a:solidFill>
                  <a:srgbClr val="1E1B1C"/>
                </a:solidFill>
              </a:rPr>
              <a:t>Zu zweit an einem Gerät, die Lernumgebung im Browser geöffnet</a:t>
            </a:r>
          </a:p>
          <a:p>
            <a:pPr marL="201168" indent="-201168">
              <a:spcAft>
                <a:spcPts val="1600"/>
              </a:spcAft>
              <a:buFont typeface="Arial"/>
              <a:buChar char="•"/>
            </a:pPr>
            <a:r>
              <a:rPr sz="2000" b="0">
                <a:solidFill>
                  <a:srgbClr val="1E1B1C"/>
                </a:solidFill>
              </a:rPr>
              <a:t>Zugang zu Fobizz oder Gemini vorab getestet</a:t>
            </a:r>
          </a:p>
          <a:p>
            <a:pPr marL="201168" indent="-201168">
              <a:spcAft>
                <a:spcPts val="1600"/>
              </a:spcAft>
              <a:buFont typeface="Arial"/>
              <a:buChar char="•"/>
            </a:pPr>
            <a:r>
              <a:rPr sz="2000" b="1">
                <a:solidFill>
                  <a:srgbClr val="1E1B1C"/>
                </a:solidFill>
              </a:rPr>
              <a:t>Keine personenbezogenen Schülerdaten </a:t>
            </a:r>
            <a:r>
              <a:rPr sz="2000" b="0">
                <a:solidFill>
                  <a:srgbClr val="1E1B1C"/>
                </a:solidFill>
              </a:rPr>
              <a:t>in KI-Prompts eingeben, nur fiktive Beispiele</a:t>
            </a:r>
          </a:p>
          <a:p>
            <a:pPr marL="201168" indent="-201168">
              <a:spcAft>
                <a:spcPts val="1600"/>
              </a:spcAft>
              <a:buFont typeface="Arial"/>
              <a:buChar char="•"/>
            </a:pPr>
            <a:r>
              <a:rPr sz="2000" b="0">
                <a:solidFill>
                  <a:srgbClr val="1E1B1C"/>
                </a:solidFill>
              </a:rPr>
              <a:t>Eingaben bleiben nur in diesem Browser. Am Schluss das Lernjournal exportieren</a:t>
            </a:r>
          </a:p>
          <a:p>
            <a:pPr marL="201168" indent="-201168">
              <a:buFont typeface="Arial"/>
              <a:buChar char="•"/>
            </a:pPr>
            <a:r>
              <a:rPr sz="2000" b="0">
                <a:solidFill>
                  <a:srgbClr val="1E1B1C"/>
                </a:solidFill>
              </a:rPr>
              <a:t>Kurz erklärt, viel getan: Jede Phase hat eine Tätigkeit</a:t>
            </a:r>
          </a:p>
        </p:txBody>
      </p:sp>
      <p:sp>
        <p:nvSpPr>
          <p:cNvPr id="5"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pic>
        <p:nvPicPr>
          <p:cNvPr id="6" name="QR-Code Lernumgebung" descr="QR-Code zur Lernumgebung KI verstehen, Unterricht gestalten"/>
          <p:cNvPicPr>
            <a:picLocks noChangeAspect="1"/>
          </p:cNvPicPr>
          <p:nvPr/>
        </p:nvPicPr>
        <p:blipFill>
          <a:blip r:embed="rId2"/>
          <a:stretch>
            <a:fillRect/>
          </a:stretch>
        </p:blipFill>
        <p:spPr>
          <a:xfrm>
            <a:off x="7909560" y="1051560"/>
            <a:ext cx="2788920" cy="2788920"/>
          </a:xfrm>
          <a:prstGeom prst="rect">
            <a:avLst/>
          </a:prstGeom>
        </p:spPr>
      </p:pic>
      <p:sp>
        <p:nvSpPr>
          <p:cNvPr id="7" name="Adresse"/>
          <p:cNvSpPr txBox="1"/>
          <p:nvPr/>
        </p:nvSpPr>
        <p:spPr>
          <a:xfrm>
            <a:off x="7269480" y="4114800"/>
            <a:ext cx="4160520" cy="365760"/>
          </a:xfrm>
          <a:prstGeom prst="rect">
            <a:avLst/>
          </a:prstGeom>
          <a:noFill/>
        </p:spPr>
        <p:txBody>
          <a:bodyPr wrap="square" anchor="t" lIns="0" rIns="0" tIns="0" bIns="0">
            <a:noAutofit/>
          </a:bodyPr>
          <a:lstStyle/>
          <a:p>
            <a:pPr algn="ctr"/>
            <a:r>
              <a:rPr sz="1600" b="1">
                <a:solidFill>
                  <a:srgbClr val="1E1B1C"/>
                </a:solidFill>
              </a:rPr>
              <a:t>schmij03.github.io/KI-Kompetenzen</a:t>
            </a:r>
          </a:p>
        </p:txBody>
      </p:sp>
      <p:sp>
        <p:nvSpPr>
          <p:cNvPr id="8" name="Beschreibung"/>
          <p:cNvSpPr txBox="1"/>
          <p:nvPr/>
        </p:nvSpPr>
        <p:spPr>
          <a:xfrm>
            <a:off x="7269480" y="4572000"/>
            <a:ext cx="4160520" cy="1097280"/>
          </a:xfrm>
          <a:prstGeom prst="rect">
            <a:avLst/>
          </a:prstGeom>
          <a:noFill/>
        </p:spPr>
        <p:txBody>
          <a:bodyPr wrap="square" anchor="t" lIns="0" rIns="0" tIns="0" bIns="0">
            <a:noAutofit/>
          </a:bodyPr>
          <a:lstStyle/>
          <a:p>
            <a:pPr algn="ctr">
              <a:spcAft>
                <a:spcPts val="400"/>
              </a:spcAft>
            </a:pPr>
            <a:r>
              <a:rPr sz="1400" b="0">
                <a:solidFill>
                  <a:srgbClr val="5A5456"/>
                </a:solidFill>
              </a:rPr>
              <a:t>Lernumgebung «KI verstehen · Unterricht gestalten»</a:t>
            </a:r>
          </a:p>
          <a:p>
            <a:pPr algn="ctr"/>
            <a:r>
              <a:rPr sz="1400" b="0">
                <a:solidFill>
                  <a:srgbClr val="5A5456"/>
                </a:solidFill>
              </a:rPr>
              <a:t>Acht Kapitel, Druckpaket, Canvas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Wo stehe ich heute?</a:t>
            </a:r>
          </a:p>
        </p:txBody>
      </p:sp>
      <p:sp>
        <p:nvSpPr>
          <p:cNvPr id="3" name="Phase"/>
          <p:cNvSpPr/>
          <p:nvPr/>
        </p:nvSpPr>
        <p:spPr>
          <a:xfrm>
            <a:off x="548640" y="347472"/>
            <a:ext cx="267919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1 · MIN. 0 BIS 8</a:t>
            </a:r>
          </a:p>
        </p:txBody>
      </p:sp>
      <p:sp>
        <p:nvSpPr>
          <p:cNvPr id="4" name="Aussage 1"/>
          <p:cNvSpPr/>
          <p:nvPr/>
        </p:nvSpPr>
        <p:spPr>
          <a:xfrm>
            <a:off x="548640" y="1645920"/>
            <a:ext cx="11091672"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Aussagetext 1"/>
          <p:cNvSpPr txBox="1"/>
          <p:nvPr/>
        </p:nvSpPr>
        <p:spPr>
          <a:xfrm>
            <a:off x="822960" y="1719072"/>
            <a:ext cx="7772400" cy="813816"/>
          </a:xfrm>
          <a:prstGeom prst="rect">
            <a:avLst/>
          </a:prstGeom>
          <a:noFill/>
        </p:spPr>
        <p:txBody>
          <a:bodyPr wrap="square" anchor="ctr" lIns="0" rIns="0" tIns="0" bIns="0">
            <a:noAutofit/>
          </a:bodyPr>
          <a:lstStyle/>
          <a:p>
            <a:r>
              <a:rPr sz="1900" b="0">
                <a:solidFill>
                  <a:srgbClr val="1E1B1C"/>
                </a:solidFill>
              </a:rPr>
              <a:t>Ich kann grundsätzlich erklären, wie ein KI-System bzw. Sprachmodell funktioniert.</a:t>
            </a:r>
          </a:p>
        </p:txBody>
      </p:sp>
      <p:sp>
        <p:nvSpPr>
          <p:cNvPr id="6" name="Wert 1"/>
          <p:cNvSpPr/>
          <p:nvPr/>
        </p:nvSpPr>
        <p:spPr>
          <a:xfrm>
            <a:off x="9006840" y="189738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1</a:t>
            </a:r>
          </a:p>
        </p:txBody>
      </p:sp>
      <p:sp>
        <p:nvSpPr>
          <p:cNvPr id="7" name="Wert 2"/>
          <p:cNvSpPr/>
          <p:nvPr/>
        </p:nvSpPr>
        <p:spPr>
          <a:xfrm>
            <a:off x="9646919" y="189738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2</a:t>
            </a:r>
          </a:p>
        </p:txBody>
      </p:sp>
      <p:sp>
        <p:nvSpPr>
          <p:cNvPr id="8" name="Wert 3"/>
          <p:cNvSpPr/>
          <p:nvPr/>
        </p:nvSpPr>
        <p:spPr>
          <a:xfrm>
            <a:off x="10287000" y="189738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3</a:t>
            </a:r>
          </a:p>
        </p:txBody>
      </p:sp>
      <p:sp>
        <p:nvSpPr>
          <p:cNvPr id="9" name="Wert 4"/>
          <p:cNvSpPr/>
          <p:nvPr/>
        </p:nvSpPr>
        <p:spPr>
          <a:xfrm>
            <a:off x="10927080" y="189738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4</a:t>
            </a:r>
          </a:p>
        </p:txBody>
      </p:sp>
      <p:sp>
        <p:nvSpPr>
          <p:cNvPr id="10" name="Aussage 2"/>
          <p:cNvSpPr/>
          <p:nvPr/>
        </p:nvSpPr>
        <p:spPr>
          <a:xfrm>
            <a:off x="548640" y="2743200"/>
            <a:ext cx="11091672"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1" name="Aussagetext 2"/>
          <p:cNvSpPr txBox="1"/>
          <p:nvPr/>
        </p:nvSpPr>
        <p:spPr>
          <a:xfrm>
            <a:off x="822960" y="2816352"/>
            <a:ext cx="7772400" cy="813816"/>
          </a:xfrm>
          <a:prstGeom prst="rect">
            <a:avLst/>
          </a:prstGeom>
          <a:noFill/>
        </p:spPr>
        <p:txBody>
          <a:bodyPr wrap="square" anchor="ctr" lIns="0" rIns="0" tIns="0" bIns="0">
            <a:noAutofit/>
          </a:bodyPr>
          <a:lstStyle/>
          <a:p>
            <a:r>
              <a:rPr sz="1900" b="0">
                <a:solidFill>
                  <a:srgbClr val="1E1B1C"/>
                </a:solidFill>
              </a:rPr>
              <a:t>Ich kann für eine Aufgabe sinnvoll entscheiden, ob und wie ich KI einsetze.</a:t>
            </a:r>
          </a:p>
        </p:txBody>
      </p:sp>
      <p:sp>
        <p:nvSpPr>
          <p:cNvPr id="12" name="Wert 1"/>
          <p:cNvSpPr/>
          <p:nvPr/>
        </p:nvSpPr>
        <p:spPr>
          <a:xfrm>
            <a:off x="9006840" y="299466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1</a:t>
            </a:r>
          </a:p>
        </p:txBody>
      </p:sp>
      <p:sp>
        <p:nvSpPr>
          <p:cNvPr id="13" name="Wert 2"/>
          <p:cNvSpPr/>
          <p:nvPr/>
        </p:nvSpPr>
        <p:spPr>
          <a:xfrm>
            <a:off x="9646919" y="299466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2</a:t>
            </a:r>
          </a:p>
        </p:txBody>
      </p:sp>
      <p:sp>
        <p:nvSpPr>
          <p:cNvPr id="14" name="Wert 3"/>
          <p:cNvSpPr/>
          <p:nvPr/>
        </p:nvSpPr>
        <p:spPr>
          <a:xfrm>
            <a:off x="10287000" y="299466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3</a:t>
            </a:r>
          </a:p>
        </p:txBody>
      </p:sp>
      <p:sp>
        <p:nvSpPr>
          <p:cNvPr id="15" name="Wert 4"/>
          <p:cNvSpPr/>
          <p:nvPr/>
        </p:nvSpPr>
        <p:spPr>
          <a:xfrm>
            <a:off x="10927080" y="299466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4</a:t>
            </a:r>
          </a:p>
        </p:txBody>
      </p:sp>
      <p:sp>
        <p:nvSpPr>
          <p:cNvPr id="16" name="Aussage 3"/>
          <p:cNvSpPr/>
          <p:nvPr/>
        </p:nvSpPr>
        <p:spPr>
          <a:xfrm>
            <a:off x="548640" y="3840480"/>
            <a:ext cx="11091672"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7" name="Aussagetext 3"/>
          <p:cNvSpPr txBox="1"/>
          <p:nvPr/>
        </p:nvSpPr>
        <p:spPr>
          <a:xfrm>
            <a:off x="822960" y="3913632"/>
            <a:ext cx="7772400" cy="813816"/>
          </a:xfrm>
          <a:prstGeom prst="rect">
            <a:avLst/>
          </a:prstGeom>
          <a:noFill/>
        </p:spPr>
        <p:txBody>
          <a:bodyPr wrap="square" anchor="ctr" lIns="0" rIns="0" tIns="0" bIns="0">
            <a:noAutofit/>
          </a:bodyPr>
          <a:lstStyle/>
          <a:p>
            <a:r>
              <a:rPr sz="1900" b="0">
                <a:solidFill>
                  <a:srgbClr val="1E1B1C"/>
                </a:solidFill>
              </a:rPr>
              <a:t>Ich kann KI-Ergebnisse hinsichtlich Richtigkeit, Verzerrung, Datenschutz und Auswirkungen beurteilen.</a:t>
            </a:r>
          </a:p>
        </p:txBody>
      </p:sp>
      <p:sp>
        <p:nvSpPr>
          <p:cNvPr id="18" name="Wert 1"/>
          <p:cNvSpPr/>
          <p:nvPr/>
        </p:nvSpPr>
        <p:spPr>
          <a:xfrm>
            <a:off x="9006840" y="409194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1</a:t>
            </a:r>
          </a:p>
        </p:txBody>
      </p:sp>
      <p:sp>
        <p:nvSpPr>
          <p:cNvPr id="19" name="Wert 2"/>
          <p:cNvSpPr/>
          <p:nvPr/>
        </p:nvSpPr>
        <p:spPr>
          <a:xfrm>
            <a:off x="9646919" y="409194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2</a:t>
            </a:r>
          </a:p>
        </p:txBody>
      </p:sp>
      <p:sp>
        <p:nvSpPr>
          <p:cNvPr id="20" name="Wert 3"/>
          <p:cNvSpPr/>
          <p:nvPr/>
        </p:nvSpPr>
        <p:spPr>
          <a:xfrm>
            <a:off x="10287000" y="409194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3</a:t>
            </a:r>
          </a:p>
        </p:txBody>
      </p:sp>
      <p:sp>
        <p:nvSpPr>
          <p:cNvPr id="21" name="Wert 4"/>
          <p:cNvSpPr/>
          <p:nvPr/>
        </p:nvSpPr>
        <p:spPr>
          <a:xfrm>
            <a:off x="10927080" y="409194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4</a:t>
            </a:r>
          </a:p>
        </p:txBody>
      </p:sp>
      <p:sp>
        <p:nvSpPr>
          <p:cNvPr id="22" name="Aussage 4"/>
          <p:cNvSpPr/>
          <p:nvPr/>
        </p:nvSpPr>
        <p:spPr>
          <a:xfrm>
            <a:off x="548640" y="4937759"/>
            <a:ext cx="11091672"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3" name="Aussagetext 4"/>
          <p:cNvSpPr txBox="1"/>
          <p:nvPr/>
        </p:nvSpPr>
        <p:spPr>
          <a:xfrm>
            <a:off x="822960" y="5010912"/>
            <a:ext cx="7772400" cy="813816"/>
          </a:xfrm>
          <a:prstGeom prst="rect">
            <a:avLst/>
          </a:prstGeom>
          <a:noFill/>
        </p:spPr>
        <p:txBody>
          <a:bodyPr wrap="square" anchor="ctr" lIns="0" rIns="0" tIns="0" bIns="0">
            <a:noAutofit/>
          </a:bodyPr>
          <a:lstStyle/>
          <a:p>
            <a:r>
              <a:rPr sz="1900" b="0">
                <a:solidFill>
                  <a:srgbClr val="1E1B1C"/>
                </a:solidFill>
              </a:rPr>
              <a:t>Ich kann KI-Nutzungsregeln, Lösungen oder Lernsettings gemeinsam entwickeln, erproben und begründet verbessern.</a:t>
            </a:r>
          </a:p>
        </p:txBody>
      </p:sp>
      <p:sp>
        <p:nvSpPr>
          <p:cNvPr id="24" name="Wert 1"/>
          <p:cNvSpPr/>
          <p:nvPr/>
        </p:nvSpPr>
        <p:spPr>
          <a:xfrm>
            <a:off x="9006840" y="518922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1</a:t>
            </a:r>
          </a:p>
        </p:txBody>
      </p:sp>
      <p:sp>
        <p:nvSpPr>
          <p:cNvPr id="25" name="Wert 2"/>
          <p:cNvSpPr/>
          <p:nvPr/>
        </p:nvSpPr>
        <p:spPr>
          <a:xfrm>
            <a:off x="9646919" y="518922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2</a:t>
            </a:r>
          </a:p>
        </p:txBody>
      </p:sp>
      <p:sp>
        <p:nvSpPr>
          <p:cNvPr id="26" name="Wert 3"/>
          <p:cNvSpPr/>
          <p:nvPr/>
        </p:nvSpPr>
        <p:spPr>
          <a:xfrm>
            <a:off x="10287000" y="518922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3</a:t>
            </a:r>
          </a:p>
        </p:txBody>
      </p:sp>
      <p:sp>
        <p:nvSpPr>
          <p:cNvPr id="27" name="Wert 4"/>
          <p:cNvSpPr/>
          <p:nvPr/>
        </p:nvSpPr>
        <p:spPr>
          <a:xfrm>
            <a:off x="10927080" y="5189220"/>
            <a:ext cx="457200" cy="457200"/>
          </a:xfrm>
          <a:prstGeom prst="ellipse">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4</a:t>
            </a:r>
          </a:p>
        </p:txBody>
      </p:sp>
      <p:sp>
        <p:nvSpPr>
          <p:cNvPr id="28" name="Skala"/>
          <p:cNvSpPr txBox="1"/>
          <p:nvPr/>
        </p:nvSpPr>
        <p:spPr>
          <a:xfrm>
            <a:off x="548640" y="6126480"/>
            <a:ext cx="11091672" cy="365760"/>
          </a:xfrm>
          <a:prstGeom prst="rect">
            <a:avLst/>
          </a:prstGeom>
          <a:noFill/>
        </p:spPr>
        <p:txBody>
          <a:bodyPr wrap="square" anchor="t" lIns="0" rIns="0" tIns="0" bIns="0">
            <a:noAutofit/>
          </a:bodyPr>
          <a:lstStyle/>
          <a:p>
            <a:r>
              <a:rPr sz="1600" b="1">
                <a:solidFill>
                  <a:srgbClr val="5A5456"/>
                </a:solidFill>
              </a:rPr>
              <a:t>1</a:t>
            </a:r>
            <a:r>
              <a:rPr sz="1600" b="0">
                <a:solidFill>
                  <a:srgbClr val="5A5456"/>
                </a:solidFill>
              </a:rPr>
              <a:t> noch unsicher     </a:t>
            </a:r>
            <a:r>
              <a:rPr sz="1600" b="1">
                <a:solidFill>
                  <a:srgbClr val="5A5456"/>
                </a:solidFill>
              </a:rPr>
              <a:t>2</a:t>
            </a:r>
            <a:r>
              <a:rPr sz="1600" b="0">
                <a:solidFill>
                  <a:srgbClr val="5A5456"/>
                </a:solidFill>
              </a:rPr>
              <a:t> eher unsicher     </a:t>
            </a:r>
            <a:r>
              <a:rPr sz="1600" b="1">
                <a:solidFill>
                  <a:srgbClr val="5A5456"/>
                </a:solidFill>
              </a:rPr>
              <a:t>3</a:t>
            </a:r>
            <a:r>
              <a:rPr sz="1600" b="0">
                <a:solidFill>
                  <a:srgbClr val="5A5456"/>
                </a:solidFill>
              </a:rPr>
              <a:t> eher sicher     </a:t>
            </a:r>
            <a:r>
              <a:rPr sz="1600" b="1">
                <a:solidFill>
                  <a:srgbClr val="5A5456"/>
                </a:solidFill>
              </a:rPr>
              <a:t>4</a:t>
            </a:r>
            <a:r>
              <a:rPr sz="1600" b="0">
                <a:solidFill>
                  <a:srgbClr val="5A5456"/>
                </a:solidFill>
              </a:rPr>
              <a:t> sehr sicher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KI oder nicht KI?</a:t>
            </a:r>
          </a:p>
        </p:txBody>
      </p:sp>
      <p:sp>
        <p:nvSpPr>
          <p:cNvPr id="3" name="Phase"/>
          <p:cNvSpPr/>
          <p:nvPr/>
        </p:nvSpPr>
        <p:spPr>
          <a:xfrm>
            <a:off x="548640" y="347472"/>
            <a:ext cx="278434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2 · MIN. 8 BIS 16</a:t>
            </a:r>
          </a:p>
        </p:txBody>
      </p:sp>
      <p:sp>
        <p:nvSpPr>
          <p:cNvPr id="4" name="Fall 1"/>
          <p:cNvSpPr/>
          <p:nvPr/>
        </p:nvSpPr>
        <p:spPr>
          <a:xfrm>
            <a:off x="548640" y="1645920"/>
            <a:ext cx="3566160" cy="14630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Fallnummer"/>
          <p:cNvSpPr txBox="1"/>
          <p:nvPr/>
        </p:nvSpPr>
        <p:spPr>
          <a:xfrm>
            <a:off x="777240" y="1783080"/>
            <a:ext cx="3108960" cy="274320"/>
          </a:xfrm>
          <a:prstGeom prst="rect">
            <a:avLst/>
          </a:prstGeom>
          <a:noFill/>
        </p:spPr>
        <p:txBody>
          <a:bodyPr wrap="square" anchor="t" lIns="0" rIns="0" tIns="0" bIns="0">
            <a:noAutofit/>
          </a:bodyPr>
          <a:lstStyle/>
          <a:p>
            <a:r>
              <a:rPr sz="1200" b="1">
                <a:solidFill>
                  <a:srgbClr val="5A5456"/>
                </a:solidFill>
              </a:rPr>
              <a:t>Fall 1</a:t>
            </a:r>
          </a:p>
        </p:txBody>
      </p:sp>
      <p:sp>
        <p:nvSpPr>
          <p:cNvPr id="6" name="Fall"/>
          <p:cNvSpPr txBox="1"/>
          <p:nvPr/>
        </p:nvSpPr>
        <p:spPr>
          <a:xfrm>
            <a:off x="777240" y="2084832"/>
            <a:ext cx="3108960" cy="960120"/>
          </a:xfrm>
          <a:prstGeom prst="rect">
            <a:avLst/>
          </a:prstGeom>
          <a:noFill/>
        </p:spPr>
        <p:txBody>
          <a:bodyPr wrap="square" anchor="t" lIns="0" rIns="0" tIns="0" bIns="0">
            <a:noAutofit/>
          </a:bodyPr>
          <a:lstStyle/>
          <a:p>
            <a:r>
              <a:rPr sz="1800" b="0">
                <a:solidFill>
                  <a:srgbClr val="1E1B1C"/>
                </a:solidFill>
              </a:rPr>
              <a:t>Ein Taschenrechner addiert zwei Zahlen.</a:t>
            </a:r>
          </a:p>
        </p:txBody>
      </p:sp>
      <p:sp>
        <p:nvSpPr>
          <p:cNvPr id="7" name="Fall 2"/>
          <p:cNvSpPr/>
          <p:nvPr/>
        </p:nvSpPr>
        <p:spPr>
          <a:xfrm>
            <a:off x="4311396" y="1645920"/>
            <a:ext cx="3566160" cy="14630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Fallnummer"/>
          <p:cNvSpPr txBox="1"/>
          <p:nvPr/>
        </p:nvSpPr>
        <p:spPr>
          <a:xfrm>
            <a:off x="4539996" y="1783080"/>
            <a:ext cx="3108960" cy="274320"/>
          </a:xfrm>
          <a:prstGeom prst="rect">
            <a:avLst/>
          </a:prstGeom>
          <a:noFill/>
        </p:spPr>
        <p:txBody>
          <a:bodyPr wrap="square" anchor="t" lIns="0" rIns="0" tIns="0" bIns="0">
            <a:noAutofit/>
          </a:bodyPr>
          <a:lstStyle/>
          <a:p>
            <a:r>
              <a:rPr sz="1200" b="1">
                <a:solidFill>
                  <a:srgbClr val="5A5456"/>
                </a:solidFill>
              </a:rPr>
              <a:t>Fall 2</a:t>
            </a:r>
          </a:p>
        </p:txBody>
      </p:sp>
      <p:sp>
        <p:nvSpPr>
          <p:cNvPr id="9" name="Fall"/>
          <p:cNvSpPr txBox="1"/>
          <p:nvPr/>
        </p:nvSpPr>
        <p:spPr>
          <a:xfrm>
            <a:off x="4539996" y="2084832"/>
            <a:ext cx="3108960" cy="960120"/>
          </a:xfrm>
          <a:prstGeom prst="rect">
            <a:avLst/>
          </a:prstGeom>
          <a:noFill/>
        </p:spPr>
        <p:txBody>
          <a:bodyPr wrap="square" anchor="t" lIns="0" rIns="0" tIns="0" bIns="0">
            <a:noAutofit/>
          </a:bodyPr>
          <a:lstStyle/>
          <a:p>
            <a:r>
              <a:rPr sz="1800" b="0">
                <a:solidFill>
                  <a:srgbClr val="1E1B1C"/>
                </a:solidFill>
              </a:rPr>
              <a:t>Ein Wecker klingelt um 6:30 Uhr.</a:t>
            </a:r>
          </a:p>
        </p:txBody>
      </p:sp>
      <p:sp>
        <p:nvSpPr>
          <p:cNvPr id="10" name="Fall 3"/>
          <p:cNvSpPr/>
          <p:nvPr/>
        </p:nvSpPr>
        <p:spPr>
          <a:xfrm>
            <a:off x="8074152" y="1645920"/>
            <a:ext cx="3566160" cy="14630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1" name="Fallnummer"/>
          <p:cNvSpPr txBox="1"/>
          <p:nvPr/>
        </p:nvSpPr>
        <p:spPr>
          <a:xfrm>
            <a:off x="8302752" y="1783080"/>
            <a:ext cx="3108960" cy="274320"/>
          </a:xfrm>
          <a:prstGeom prst="rect">
            <a:avLst/>
          </a:prstGeom>
          <a:noFill/>
        </p:spPr>
        <p:txBody>
          <a:bodyPr wrap="square" anchor="t" lIns="0" rIns="0" tIns="0" bIns="0">
            <a:noAutofit/>
          </a:bodyPr>
          <a:lstStyle/>
          <a:p>
            <a:r>
              <a:rPr sz="1200" b="1">
                <a:solidFill>
                  <a:srgbClr val="5A5456"/>
                </a:solidFill>
              </a:rPr>
              <a:t>Fall 3</a:t>
            </a:r>
          </a:p>
        </p:txBody>
      </p:sp>
      <p:sp>
        <p:nvSpPr>
          <p:cNvPr id="12" name="Fall"/>
          <p:cNvSpPr txBox="1"/>
          <p:nvPr/>
        </p:nvSpPr>
        <p:spPr>
          <a:xfrm>
            <a:off x="8302752" y="2084832"/>
            <a:ext cx="3108960" cy="960120"/>
          </a:xfrm>
          <a:prstGeom prst="rect">
            <a:avLst/>
          </a:prstGeom>
          <a:noFill/>
        </p:spPr>
        <p:txBody>
          <a:bodyPr wrap="square" anchor="t" lIns="0" rIns="0" tIns="0" bIns="0">
            <a:noAutofit/>
          </a:bodyPr>
          <a:lstStyle/>
          <a:p>
            <a:r>
              <a:rPr sz="1800" b="0">
                <a:solidFill>
                  <a:srgbClr val="1E1B1C"/>
                </a:solidFill>
              </a:rPr>
              <a:t>Eine Foto-App findet alle Bilder, auf denen ein Hund zu sehen ist.</a:t>
            </a:r>
          </a:p>
        </p:txBody>
      </p:sp>
      <p:sp>
        <p:nvSpPr>
          <p:cNvPr id="13" name="Fall 4"/>
          <p:cNvSpPr/>
          <p:nvPr/>
        </p:nvSpPr>
        <p:spPr>
          <a:xfrm>
            <a:off x="548640" y="3273552"/>
            <a:ext cx="3566160" cy="14630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4" name="Fallnummer"/>
          <p:cNvSpPr txBox="1"/>
          <p:nvPr/>
        </p:nvSpPr>
        <p:spPr>
          <a:xfrm>
            <a:off x="777240" y="3410712"/>
            <a:ext cx="3108960" cy="274320"/>
          </a:xfrm>
          <a:prstGeom prst="rect">
            <a:avLst/>
          </a:prstGeom>
          <a:noFill/>
        </p:spPr>
        <p:txBody>
          <a:bodyPr wrap="square" anchor="t" lIns="0" rIns="0" tIns="0" bIns="0">
            <a:noAutofit/>
          </a:bodyPr>
          <a:lstStyle/>
          <a:p>
            <a:r>
              <a:rPr sz="1200" b="1">
                <a:solidFill>
                  <a:srgbClr val="5A5456"/>
                </a:solidFill>
              </a:rPr>
              <a:t>Fall 4</a:t>
            </a:r>
          </a:p>
        </p:txBody>
      </p:sp>
      <p:sp>
        <p:nvSpPr>
          <p:cNvPr id="15" name="Fall"/>
          <p:cNvSpPr txBox="1"/>
          <p:nvPr/>
        </p:nvSpPr>
        <p:spPr>
          <a:xfrm>
            <a:off x="777240" y="3712464"/>
            <a:ext cx="3108960" cy="960120"/>
          </a:xfrm>
          <a:prstGeom prst="rect">
            <a:avLst/>
          </a:prstGeom>
          <a:noFill/>
        </p:spPr>
        <p:txBody>
          <a:bodyPr wrap="square" anchor="t" lIns="0" rIns="0" tIns="0" bIns="0">
            <a:noAutofit/>
          </a:bodyPr>
          <a:lstStyle/>
          <a:p>
            <a:r>
              <a:rPr sz="1800" b="0">
                <a:solidFill>
                  <a:srgbClr val="1E1B1C"/>
                </a:solidFill>
              </a:rPr>
              <a:t>Ein Spamfilter sortiert eine E-Mail aus.</a:t>
            </a:r>
          </a:p>
        </p:txBody>
      </p:sp>
      <p:sp>
        <p:nvSpPr>
          <p:cNvPr id="16" name="Fall 5"/>
          <p:cNvSpPr/>
          <p:nvPr/>
        </p:nvSpPr>
        <p:spPr>
          <a:xfrm>
            <a:off x="4311396" y="3273552"/>
            <a:ext cx="3566160" cy="14630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7" name="Fallnummer"/>
          <p:cNvSpPr txBox="1"/>
          <p:nvPr/>
        </p:nvSpPr>
        <p:spPr>
          <a:xfrm>
            <a:off x="4539996" y="3410712"/>
            <a:ext cx="3108960" cy="274320"/>
          </a:xfrm>
          <a:prstGeom prst="rect">
            <a:avLst/>
          </a:prstGeom>
          <a:noFill/>
        </p:spPr>
        <p:txBody>
          <a:bodyPr wrap="square" anchor="t" lIns="0" rIns="0" tIns="0" bIns="0">
            <a:noAutofit/>
          </a:bodyPr>
          <a:lstStyle/>
          <a:p>
            <a:r>
              <a:rPr sz="1200" b="1">
                <a:solidFill>
                  <a:srgbClr val="5A5456"/>
                </a:solidFill>
              </a:rPr>
              <a:t>Fall 5</a:t>
            </a:r>
          </a:p>
        </p:txBody>
      </p:sp>
      <p:sp>
        <p:nvSpPr>
          <p:cNvPr id="18" name="Fall"/>
          <p:cNvSpPr txBox="1"/>
          <p:nvPr/>
        </p:nvSpPr>
        <p:spPr>
          <a:xfrm>
            <a:off x="4539996" y="3712464"/>
            <a:ext cx="3108960" cy="960120"/>
          </a:xfrm>
          <a:prstGeom prst="rect">
            <a:avLst/>
          </a:prstGeom>
          <a:noFill/>
        </p:spPr>
        <p:txBody>
          <a:bodyPr wrap="square" anchor="t" lIns="0" rIns="0" tIns="0" bIns="0">
            <a:noAutofit/>
          </a:bodyPr>
          <a:lstStyle/>
          <a:p>
            <a:r>
              <a:rPr sz="1800" b="0">
                <a:solidFill>
                  <a:srgbClr val="1E1B1C"/>
                </a:solidFill>
              </a:rPr>
              <a:t>Ein Streamingdienst empfiehlt dir den nächsten Film.</a:t>
            </a:r>
          </a:p>
        </p:txBody>
      </p:sp>
      <p:sp>
        <p:nvSpPr>
          <p:cNvPr id="19" name="Fall 6"/>
          <p:cNvSpPr/>
          <p:nvPr/>
        </p:nvSpPr>
        <p:spPr>
          <a:xfrm>
            <a:off x="8074152" y="3273552"/>
            <a:ext cx="3566160" cy="14630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0" name="Fallnummer"/>
          <p:cNvSpPr txBox="1"/>
          <p:nvPr/>
        </p:nvSpPr>
        <p:spPr>
          <a:xfrm>
            <a:off x="8302752" y="3410712"/>
            <a:ext cx="3108960" cy="274320"/>
          </a:xfrm>
          <a:prstGeom prst="rect">
            <a:avLst/>
          </a:prstGeom>
          <a:noFill/>
        </p:spPr>
        <p:txBody>
          <a:bodyPr wrap="square" anchor="t" lIns="0" rIns="0" tIns="0" bIns="0">
            <a:noAutofit/>
          </a:bodyPr>
          <a:lstStyle/>
          <a:p>
            <a:r>
              <a:rPr sz="1200" b="1">
                <a:solidFill>
                  <a:srgbClr val="5A5456"/>
                </a:solidFill>
              </a:rPr>
              <a:t>Fall 6</a:t>
            </a:r>
          </a:p>
        </p:txBody>
      </p:sp>
      <p:sp>
        <p:nvSpPr>
          <p:cNvPr id="21" name="Fall"/>
          <p:cNvSpPr txBox="1"/>
          <p:nvPr/>
        </p:nvSpPr>
        <p:spPr>
          <a:xfrm>
            <a:off x="8302752" y="3712464"/>
            <a:ext cx="3108960" cy="960120"/>
          </a:xfrm>
          <a:prstGeom prst="rect">
            <a:avLst/>
          </a:prstGeom>
          <a:noFill/>
        </p:spPr>
        <p:txBody>
          <a:bodyPr wrap="square" anchor="t" lIns="0" rIns="0" tIns="0" bIns="0">
            <a:noAutofit/>
          </a:bodyPr>
          <a:lstStyle/>
          <a:p>
            <a:r>
              <a:rPr sz="1800" b="0">
                <a:solidFill>
                  <a:srgbClr val="1E1B1C"/>
                </a:solidFill>
              </a:rPr>
              <a:t>Ein Chatfenster auf einer Website beantwortet deine Frage.</a:t>
            </a:r>
          </a:p>
        </p:txBody>
      </p:sp>
      <p:sp>
        <p:nvSpPr>
          <p:cNvPr id="22" name="Option Feste Regeln"/>
          <p:cNvSpPr/>
          <p:nvPr/>
        </p:nvSpPr>
        <p:spPr>
          <a:xfrm>
            <a:off x="548640" y="5029200"/>
            <a:ext cx="3566160" cy="685800"/>
          </a:xfrm>
          <a:prstGeom prst="roundRect">
            <a:avLst>
              <a:gd name="adj" fmla="val 50000"/>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1">
                <a:solidFill>
                  <a:srgbClr val="FFFFFF"/>
                </a:solidFill>
              </a:rPr>
              <a:t>Feste Regeln</a:t>
            </a:r>
          </a:p>
        </p:txBody>
      </p:sp>
      <p:sp>
        <p:nvSpPr>
          <p:cNvPr id="23" name="Option Aus Daten gelernt"/>
          <p:cNvSpPr/>
          <p:nvPr/>
        </p:nvSpPr>
        <p:spPr>
          <a:xfrm>
            <a:off x="4311396" y="5029200"/>
            <a:ext cx="3566160" cy="685800"/>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1">
                <a:solidFill>
                  <a:srgbClr val="1E1B1C"/>
                </a:solidFill>
              </a:rPr>
              <a:t>Aus Daten gelernt</a:t>
            </a:r>
          </a:p>
        </p:txBody>
      </p:sp>
      <p:sp>
        <p:nvSpPr>
          <p:cNvPr id="24" name="Option Von aussen nicht entscheidbar"/>
          <p:cNvSpPr/>
          <p:nvPr/>
        </p:nvSpPr>
        <p:spPr>
          <a:xfrm>
            <a:off x="8074152" y="5029200"/>
            <a:ext cx="3566160" cy="685800"/>
          </a:xfrm>
          <a:prstGeom prst="roundRect">
            <a:avLst>
              <a:gd name="adj" fmla="val 50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1">
                <a:solidFill>
                  <a:srgbClr val="FFFFFF"/>
                </a:solidFill>
              </a:rPr>
              <a:t>Von aussen nicht entscheidbar</a:t>
            </a:r>
          </a:p>
        </p:txBody>
      </p:sp>
      <p:sp>
        <p:nvSpPr>
          <p:cNvPr id="25" name="Auftrag"/>
          <p:cNvSpPr txBox="1"/>
          <p:nvPr/>
        </p:nvSpPr>
        <p:spPr>
          <a:xfrm>
            <a:off x="548640" y="5897880"/>
            <a:ext cx="11091672" cy="365760"/>
          </a:xfrm>
          <a:prstGeom prst="rect">
            <a:avLst/>
          </a:prstGeom>
          <a:noFill/>
        </p:spPr>
        <p:txBody>
          <a:bodyPr wrap="square" anchor="t" lIns="0" rIns="0" tIns="0" bIns="0">
            <a:noAutofit/>
          </a:bodyPr>
          <a:lstStyle/>
          <a:p>
            <a:r>
              <a:rPr sz="1600" b="0">
                <a:solidFill>
                  <a:srgbClr val="5A5456"/>
                </a:solidFill>
              </a:rPr>
              <a:t>Wie arbeitet dieses System? Pro Fall per Handzeichen abstimmen, erst danach die Auflösung zeigen.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Von aussen oft nicht erkennbar</a:t>
            </a:r>
          </a:p>
        </p:txBody>
      </p:sp>
      <p:sp>
        <p:nvSpPr>
          <p:cNvPr id="3" name="Phase"/>
          <p:cNvSpPr/>
          <p:nvPr/>
        </p:nvSpPr>
        <p:spPr>
          <a:xfrm>
            <a:off x="548640" y="347472"/>
            <a:ext cx="236372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2 · AUFLÖSUNG</a:t>
            </a:r>
          </a:p>
        </p:txBody>
      </p:sp>
      <p:sp>
        <p:nvSpPr>
          <p:cNvPr id="4" name="Zeile 1"/>
          <p:cNvSpPr/>
          <p:nvPr/>
        </p:nvSpPr>
        <p:spPr>
          <a:xfrm>
            <a:off x="548640" y="1600200"/>
            <a:ext cx="11091672" cy="60350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System"/>
          <p:cNvSpPr txBox="1"/>
          <p:nvPr/>
        </p:nvSpPr>
        <p:spPr>
          <a:xfrm>
            <a:off x="777240" y="1600200"/>
            <a:ext cx="3017520" cy="603504"/>
          </a:xfrm>
          <a:prstGeom prst="rect">
            <a:avLst/>
          </a:prstGeom>
          <a:noFill/>
        </p:spPr>
        <p:txBody>
          <a:bodyPr wrap="square" anchor="ctr" lIns="0" rIns="0" tIns="0" bIns="0">
            <a:noAutofit/>
          </a:bodyPr>
          <a:lstStyle/>
          <a:p>
            <a:r>
              <a:rPr sz="1500" b="1">
                <a:solidFill>
                  <a:srgbClr val="1E1B1C"/>
                </a:solidFill>
              </a:rPr>
              <a:t>Taschenrechner addiert</a:t>
            </a:r>
          </a:p>
        </p:txBody>
      </p:sp>
      <p:sp>
        <p:nvSpPr>
          <p:cNvPr id="6" name="Einordnung 1"/>
          <p:cNvSpPr/>
          <p:nvPr/>
        </p:nvSpPr>
        <p:spPr>
          <a:xfrm>
            <a:off x="3840480" y="1737360"/>
            <a:ext cx="2103120" cy="329184"/>
          </a:xfrm>
          <a:prstGeom prst="roundRect">
            <a:avLst>
              <a:gd name="adj" fmla="val 50000"/>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noAutofit/>
          </a:bodyPr>
          <a:lstStyle/>
          <a:p>
            <a:pPr algn="ctr"/>
            <a:r>
              <a:rPr sz="1300" b="1">
                <a:solidFill>
                  <a:srgbClr val="FFFFFF"/>
                </a:solidFill>
              </a:rPr>
              <a:t>Feste Regeln</a:t>
            </a:r>
          </a:p>
        </p:txBody>
      </p:sp>
      <p:sp>
        <p:nvSpPr>
          <p:cNvPr id="7" name="Begründung"/>
          <p:cNvSpPr txBox="1"/>
          <p:nvPr/>
        </p:nvSpPr>
        <p:spPr>
          <a:xfrm>
            <a:off x="6172200" y="1600200"/>
            <a:ext cx="5303520" cy="603504"/>
          </a:xfrm>
          <a:prstGeom prst="rect">
            <a:avLst/>
          </a:prstGeom>
          <a:noFill/>
        </p:spPr>
        <p:txBody>
          <a:bodyPr wrap="square" anchor="ctr" lIns="0" rIns="0" tIns="0" bIns="0">
            <a:noAutofit/>
          </a:bodyPr>
          <a:lstStyle/>
          <a:p>
            <a:r>
              <a:rPr sz="1400" b="0">
                <a:solidFill>
                  <a:srgbClr val="1E1B1C"/>
                </a:solidFill>
              </a:rPr>
              <a:t>Die Rechenregeln stehen fest im Programm. Gleiche Eingabe, gleiches Ergebnis.</a:t>
            </a:r>
          </a:p>
        </p:txBody>
      </p:sp>
      <p:sp>
        <p:nvSpPr>
          <p:cNvPr id="8" name="Zeile 2"/>
          <p:cNvSpPr/>
          <p:nvPr/>
        </p:nvSpPr>
        <p:spPr>
          <a:xfrm>
            <a:off x="548640" y="2276856"/>
            <a:ext cx="11091672" cy="60350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9" name="System"/>
          <p:cNvSpPr txBox="1"/>
          <p:nvPr/>
        </p:nvSpPr>
        <p:spPr>
          <a:xfrm>
            <a:off x="777240" y="2276856"/>
            <a:ext cx="3017520" cy="603504"/>
          </a:xfrm>
          <a:prstGeom prst="rect">
            <a:avLst/>
          </a:prstGeom>
          <a:noFill/>
        </p:spPr>
        <p:txBody>
          <a:bodyPr wrap="square" anchor="ctr" lIns="0" rIns="0" tIns="0" bIns="0">
            <a:noAutofit/>
          </a:bodyPr>
          <a:lstStyle/>
          <a:p>
            <a:r>
              <a:rPr sz="1500" b="1">
                <a:solidFill>
                  <a:srgbClr val="1E1B1C"/>
                </a:solidFill>
              </a:rPr>
              <a:t>Wecker klingelt um 6:30 Uhr</a:t>
            </a:r>
          </a:p>
        </p:txBody>
      </p:sp>
      <p:sp>
        <p:nvSpPr>
          <p:cNvPr id="10" name="Einordnung 2"/>
          <p:cNvSpPr/>
          <p:nvPr/>
        </p:nvSpPr>
        <p:spPr>
          <a:xfrm>
            <a:off x="3840480" y="2414016"/>
            <a:ext cx="2103120" cy="329184"/>
          </a:xfrm>
          <a:prstGeom prst="roundRect">
            <a:avLst>
              <a:gd name="adj" fmla="val 50000"/>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noAutofit/>
          </a:bodyPr>
          <a:lstStyle/>
          <a:p>
            <a:pPr algn="ctr"/>
            <a:r>
              <a:rPr sz="1300" b="1">
                <a:solidFill>
                  <a:srgbClr val="FFFFFF"/>
                </a:solidFill>
              </a:rPr>
              <a:t>Feste Regeln</a:t>
            </a:r>
          </a:p>
        </p:txBody>
      </p:sp>
      <p:sp>
        <p:nvSpPr>
          <p:cNvPr id="11" name="Begründung"/>
          <p:cNvSpPr txBox="1"/>
          <p:nvPr/>
        </p:nvSpPr>
        <p:spPr>
          <a:xfrm>
            <a:off x="6172200" y="2276856"/>
            <a:ext cx="5303520" cy="603504"/>
          </a:xfrm>
          <a:prstGeom prst="rect">
            <a:avLst/>
          </a:prstGeom>
          <a:noFill/>
        </p:spPr>
        <p:txBody>
          <a:bodyPr wrap="square" anchor="ctr" lIns="0" rIns="0" tIns="0" bIns="0">
            <a:noAutofit/>
          </a:bodyPr>
          <a:lstStyle/>
          <a:p>
            <a:r>
              <a:rPr sz="1400" b="0">
                <a:solidFill>
                  <a:srgbClr val="1E1B1C"/>
                </a:solidFill>
              </a:rPr>
              <a:t>Eine Bedingung, eine Folge. Digital ist nicht dasselbe wie lernend.</a:t>
            </a:r>
          </a:p>
        </p:txBody>
      </p:sp>
      <p:sp>
        <p:nvSpPr>
          <p:cNvPr id="12" name="Zeile 3"/>
          <p:cNvSpPr/>
          <p:nvPr/>
        </p:nvSpPr>
        <p:spPr>
          <a:xfrm>
            <a:off x="548640" y="2953512"/>
            <a:ext cx="11091672" cy="60350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3" name="System"/>
          <p:cNvSpPr txBox="1"/>
          <p:nvPr/>
        </p:nvSpPr>
        <p:spPr>
          <a:xfrm>
            <a:off x="777240" y="2953512"/>
            <a:ext cx="3017520" cy="603504"/>
          </a:xfrm>
          <a:prstGeom prst="rect">
            <a:avLst/>
          </a:prstGeom>
          <a:noFill/>
        </p:spPr>
        <p:txBody>
          <a:bodyPr wrap="square" anchor="ctr" lIns="0" rIns="0" tIns="0" bIns="0">
            <a:noAutofit/>
          </a:bodyPr>
          <a:lstStyle/>
          <a:p>
            <a:r>
              <a:rPr sz="1500" b="1">
                <a:solidFill>
                  <a:srgbClr val="1E1B1C"/>
                </a:solidFill>
              </a:rPr>
              <a:t>Foto-App findet Hunde</a:t>
            </a:r>
          </a:p>
        </p:txBody>
      </p:sp>
      <p:sp>
        <p:nvSpPr>
          <p:cNvPr id="14" name="Einordnung 3"/>
          <p:cNvSpPr/>
          <p:nvPr/>
        </p:nvSpPr>
        <p:spPr>
          <a:xfrm>
            <a:off x="3840480" y="3090672"/>
            <a:ext cx="2103120" cy="329184"/>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noAutofit/>
          </a:bodyPr>
          <a:lstStyle/>
          <a:p>
            <a:pPr algn="ctr"/>
            <a:r>
              <a:rPr sz="1300" b="1">
                <a:solidFill>
                  <a:srgbClr val="1E1B1C"/>
                </a:solidFill>
              </a:rPr>
              <a:t>Aus Daten gelernt</a:t>
            </a:r>
          </a:p>
        </p:txBody>
      </p:sp>
      <p:sp>
        <p:nvSpPr>
          <p:cNvPr id="15" name="Begründung"/>
          <p:cNvSpPr txBox="1"/>
          <p:nvPr/>
        </p:nvSpPr>
        <p:spPr>
          <a:xfrm>
            <a:off x="6172200" y="2953512"/>
            <a:ext cx="5303520" cy="603504"/>
          </a:xfrm>
          <a:prstGeom prst="rect">
            <a:avLst/>
          </a:prstGeom>
          <a:noFill/>
        </p:spPr>
        <p:txBody>
          <a:bodyPr wrap="square" anchor="ctr" lIns="0" rIns="0" tIns="0" bIns="0">
            <a:noAutofit/>
          </a:bodyPr>
          <a:lstStyle/>
          <a:p>
            <a:r>
              <a:rPr sz="1400" b="0">
                <a:solidFill>
                  <a:srgbClr val="1E1B1C"/>
                </a:solidFill>
              </a:rPr>
              <a:t>Regeln für «Hund» von Hand genügen nicht. Das System lernt aus Beispielbildern.</a:t>
            </a:r>
          </a:p>
        </p:txBody>
      </p:sp>
      <p:sp>
        <p:nvSpPr>
          <p:cNvPr id="16" name="Zeile 4"/>
          <p:cNvSpPr/>
          <p:nvPr/>
        </p:nvSpPr>
        <p:spPr>
          <a:xfrm>
            <a:off x="548640" y="3630168"/>
            <a:ext cx="11091672" cy="60350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7" name="System"/>
          <p:cNvSpPr txBox="1"/>
          <p:nvPr/>
        </p:nvSpPr>
        <p:spPr>
          <a:xfrm>
            <a:off x="777240" y="3630168"/>
            <a:ext cx="3017520" cy="603504"/>
          </a:xfrm>
          <a:prstGeom prst="rect">
            <a:avLst/>
          </a:prstGeom>
          <a:noFill/>
        </p:spPr>
        <p:txBody>
          <a:bodyPr wrap="square" anchor="ctr" lIns="0" rIns="0" tIns="0" bIns="0">
            <a:noAutofit/>
          </a:bodyPr>
          <a:lstStyle/>
          <a:p>
            <a:r>
              <a:rPr sz="1500" b="1">
                <a:solidFill>
                  <a:srgbClr val="1E1B1C"/>
                </a:solidFill>
              </a:rPr>
              <a:t>Spamfilter sortiert aus</a:t>
            </a:r>
          </a:p>
        </p:txBody>
      </p:sp>
      <p:sp>
        <p:nvSpPr>
          <p:cNvPr id="18" name="Einordnung 4"/>
          <p:cNvSpPr/>
          <p:nvPr/>
        </p:nvSpPr>
        <p:spPr>
          <a:xfrm>
            <a:off x="3840480" y="3767328"/>
            <a:ext cx="2103120" cy="329184"/>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noAutofit/>
          </a:bodyPr>
          <a:lstStyle/>
          <a:p>
            <a:pPr algn="ctr"/>
            <a:r>
              <a:rPr sz="1300" b="1">
                <a:solidFill>
                  <a:srgbClr val="1E1B1C"/>
                </a:solidFill>
              </a:rPr>
              <a:t>Aus Daten gelernt</a:t>
            </a:r>
          </a:p>
        </p:txBody>
      </p:sp>
      <p:sp>
        <p:nvSpPr>
          <p:cNvPr id="19" name="Begründung"/>
          <p:cNvSpPr txBox="1"/>
          <p:nvPr/>
        </p:nvSpPr>
        <p:spPr>
          <a:xfrm>
            <a:off x="6172200" y="3630168"/>
            <a:ext cx="5303520" cy="603504"/>
          </a:xfrm>
          <a:prstGeom prst="rect">
            <a:avLst/>
          </a:prstGeom>
          <a:noFill/>
        </p:spPr>
        <p:txBody>
          <a:bodyPr wrap="square" anchor="ctr" lIns="0" rIns="0" tIns="0" bIns="0">
            <a:noAutofit/>
          </a:bodyPr>
          <a:lstStyle/>
          <a:p>
            <a:r>
              <a:rPr sz="1400" b="0">
                <a:solidFill>
                  <a:srgbClr val="1E1B1C"/>
                </a:solidFill>
              </a:rPr>
              <a:t>Heute lernen Filter aus markierten Nachrichten. Frühe Filter nutzten feste Wortlisten.</a:t>
            </a:r>
          </a:p>
        </p:txBody>
      </p:sp>
      <p:sp>
        <p:nvSpPr>
          <p:cNvPr id="20" name="Zeile 5"/>
          <p:cNvSpPr/>
          <p:nvPr/>
        </p:nvSpPr>
        <p:spPr>
          <a:xfrm>
            <a:off x="548640" y="4306824"/>
            <a:ext cx="11091672" cy="60350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1" name="System"/>
          <p:cNvSpPr txBox="1"/>
          <p:nvPr/>
        </p:nvSpPr>
        <p:spPr>
          <a:xfrm>
            <a:off x="777240" y="4306824"/>
            <a:ext cx="3017520" cy="603504"/>
          </a:xfrm>
          <a:prstGeom prst="rect">
            <a:avLst/>
          </a:prstGeom>
          <a:noFill/>
        </p:spPr>
        <p:txBody>
          <a:bodyPr wrap="square" anchor="ctr" lIns="0" rIns="0" tIns="0" bIns="0">
            <a:noAutofit/>
          </a:bodyPr>
          <a:lstStyle/>
          <a:p>
            <a:r>
              <a:rPr sz="1500" b="1">
                <a:solidFill>
                  <a:srgbClr val="1E1B1C"/>
                </a:solidFill>
              </a:rPr>
              <a:t>Streamingdienst empfiehlt</a:t>
            </a:r>
          </a:p>
        </p:txBody>
      </p:sp>
      <p:sp>
        <p:nvSpPr>
          <p:cNvPr id="22" name="Einordnung 5"/>
          <p:cNvSpPr/>
          <p:nvPr/>
        </p:nvSpPr>
        <p:spPr>
          <a:xfrm>
            <a:off x="3840480" y="4443984"/>
            <a:ext cx="2103120" cy="329184"/>
          </a:xfrm>
          <a:prstGeom prst="roundRect">
            <a:avLst>
              <a:gd name="adj" fmla="val 50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noAutofit/>
          </a:bodyPr>
          <a:lstStyle/>
          <a:p>
            <a:pPr algn="ctr"/>
            <a:r>
              <a:rPr sz="1300" b="1">
                <a:solidFill>
                  <a:srgbClr val="FFFFFF"/>
                </a:solidFill>
              </a:rPr>
              <a:t>Nicht entscheidbar</a:t>
            </a:r>
          </a:p>
        </p:txBody>
      </p:sp>
      <p:sp>
        <p:nvSpPr>
          <p:cNvPr id="23" name="Begründung"/>
          <p:cNvSpPr txBox="1"/>
          <p:nvPr/>
        </p:nvSpPr>
        <p:spPr>
          <a:xfrm>
            <a:off x="6172200" y="4306824"/>
            <a:ext cx="5303520" cy="603504"/>
          </a:xfrm>
          <a:prstGeom prst="rect">
            <a:avLst/>
          </a:prstGeom>
          <a:noFill/>
        </p:spPr>
        <p:txBody>
          <a:bodyPr wrap="square" anchor="ctr" lIns="0" rIns="0" tIns="0" bIns="0">
            <a:noAutofit/>
          </a:bodyPr>
          <a:lstStyle/>
          <a:p>
            <a:r>
              <a:rPr sz="1400" b="0">
                <a:solidFill>
                  <a:srgbClr val="1E1B1C"/>
                </a:solidFill>
              </a:rPr>
              <a:t>Gelernte Muster oder einfache Regeln wie «gleiches Genre»: von aussen nicht zu unterscheiden.</a:t>
            </a:r>
          </a:p>
        </p:txBody>
      </p:sp>
      <p:sp>
        <p:nvSpPr>
          <p:cNvPr id="24" name="Zeile 6"/>
          <p:cNvSpPr/>
          <p:nvPr/>
        </p:nvSpPr>
        <p:spPr>
          <a:xfrm>
            <a:off x="548640" y="4983480"/>
            <a:ext cx="11091672" cy="60350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5" name="System"/>
          <p:cNvSpPr txBox="1"/>
          <p:nvPr/>
        </p:nvSpPr>
        <p:spPr>
          <a:xfrm>
            <a:off x="777240" y="4983480"/>
            <a:ext cx="3017520" cy="603504"/>
          </a:xfrm>
          <a:prstGeom prst="rect">
            <a:avLst/>
          </a:prstGeom>
          <a:noFill/>
        </p:spPr>
        <p:txBody>
          <a:bodyPr wrap="square" anchor="ctr" lIns="0" rIns="0" tIns="0" bIns="0">
            <a:noAutofit/>
          </a:bodyPr>
          <a:lstStyle/>
          <a:p>
            <a:r>
              <a:rPr sz="1500" b="1">
                <a:solidFill>
                  <a:srgbClr val="1E1B1C"/>
                </a:solidFill>
              </a:rPr>
              <a:t>Chatfenster antwortet</a:t>
            </a:r>
          </a:p>
        </p:txBody>
      </p:sp>
      <p:sp>
        <p:nvSpPr>
          <p:cNvPr id="26" name="Einordnung 6"/>
          <p:cNvSpPr/>
          <p:nvPr/>
        </p:nvSpPr>
        <p:spPr>
          <a:xfrm>
            <a:off x="3840480" y="5120640"/>
            <a:ext cx="2103120" cy="329184"/>
          </a:xfrm>
          <a:prstGeom prst="roundRect">
            <a:avLst>
              <a:gd name="adj" fmla="val 50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noAutofit/>
          </a:bodyPr>
          <a:lstStyle/>
          <a:p>
            <a:pPr algn="ctr"/>
            <a:r>
              <a:rPr sz="1300" b="1">
                <a:solidFill>
                  <a:srgbClr val="FFFFFF"/>
                </a:solidFill>
              </a:rPr>
              <a:t>Nicht entscheidbar</a:t>
            </a:r>
          </a:p>
        </p:txBody>
      </p:sp>
      <p:sp>
        <p:nvSpPr>
          <p:cNvPr id="27" name="Begründung"/>
          <p:cNvSpPr txBox="1"/>
          <p:nvPr/>
        </p:nvSpPr>
        <p:spPr>
          <a:xfrm>
            <a:off x="6172200" y="4983480"/>
            <a:ext cx="5303520" cy="603504"/>
          </a:xfrm>
          <a:prstGeom prst="rect">
            <a:avLst/>
          </a:prstGeom>
          <a:noFill/>
        </p:spPr>
        <p:txBody>
          <a:bodyPr wrap="square" anchor="ctr" lIns="0" rIns="0" tIns="0" bIns="0">
            <a:noAutofit/>
          </a:bodyPr>
          <a:lstStyle/>
          <a:p>
            <a:r>
              <a:rPr sz="1400" b="0">
                <a:solidFill>
                  <a:srgbClr val="1E1B1C"/>
                </a:solidFill>
              </a:rPr>
              <a:t>Entscheidungsbaum mit vorformulierten Antworten oder Sprachmodell: gleiche Oberfläche.</a:t>
            </a:r>
          </a:p>
        </p:txBody>
      </p:sp>
      <p:sp>
        <p:nvSpPr>
          <p:cNvPr id="28" name="Merksatz"/>
          <p:cNvSpPr/>
          <p:nvPr/>
        </p:nvSpPr>
        <p:spPr>
          <a:xfrm>
            <a:off x="548640" y="5715000"/>
            <a:ext cx="11091672" cy="713232"/>
          </a:xfrm>
          <a:prstGeom prst="roundRect">
            <a:avLst>
              <a:gd name="adj" fmla="val 12000"/>
            </a:avLst>
          </a:prstGeom>
          <a:solidFill>
            <a:srgbClr val="1E1B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274320" rIns="274320">
            <a:noAutofit/>
          </a:bodyPr>
          <a:lstStyle/>
          <a:p>
            <a:pPr algn="l"/>
            <a:r>
              <a:rPr sz="1600" b="1">
                <a:solidFill>
                  <a:srgbClr val="FFFFFF"/>
                </a:solidFill>
              </a:rPr>
              <a:t>Zwei von sechs Fällen lassen sich von aussen nicht entscheiden. </a:t>
            </a:r>
            <a:r>
              <a:rPr sz="1600" b="0">
                <a:solidFill>
                  <a:srgbClr val="FFFFFF"/>
                </a:solidFill>
              </a:rPr>
              <a:t>Entscheidend ist, wie die Verarbeitung zustande kommt, und das verrät eine Oberfläche meistens nicht.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Lernen aus Daten: Das Obstexperiment</a:t>
            </a:r>
          </a:p>
        </p:txBody>
      </p:sp>
      <p:sp>
        <p:nvSpPr>
          <p:cNvPr id="3" name="Phase"/>
          <p:cNvSpPr/>
          <p:nvPr/>
        </p:nvSpPr>
        <p:spPr>
          <a:xfrm>
            <a:off x="548640" y="347472"/>
            <a:ext cx="2889504"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3 · MIN. 16 BIS 34</a:t>
            </a:r>
          </a:p>
        </p:txBody>
      </p:sp>
      <p:sp>
        <p:nvSpPr>
          <p:cNvPr id="4" name="Einstieg"/>
          <p:cNvSpPr txBox="1"/>
          <p:nvPr/>
        </p:nvSpPr>
        <p:spPr>
          <a:xfrm>
            <a:off x="548640" y="2011680"/>
            <a:ext cx="5760720" cy="822960"/>
          </a:xfrm>
          <a:prstGeom prst="rect">
            <a:avLst/>
          </a:prstGeom>
          <a:noFill/>
        </p:spPr>
        <p:txBody>
          <a:bodyPr wrap="square" anchor="t" lIns="0" rIns="0" tIns="0" bIns="0">
            <a:noAutofit/>
          </a:bodyPr>
          <a:lstStyle/>
          <a:p>
            <a:r>
              <a:rPr sz="1900" b="1">
                <a:solidFill>
                  <a:srgbClr val="1E1B1C"/>
                </a:solidFill>
              </a:rPr>
              <a:t>Ein System lernt aus Beispielen. Wir vergleichen es mit einer festen Regel.</a:t>
            </a:r>
          </a:p>
        </p:txBody>
      </p:sp>
      <p:sp>
        <p:nvSpPr>
          <p:cNvPr id="5" name="Erläuterung"/>
          <p:cNvSpPr txBox="1"/>
          <p:nvPr/>
        </p:nvSpPr>
        <p:spPr>
          <a:xfrm>
            <a:off x="548640" y="3063240"/>
            <a:ext cx="5760720" cy="3108960"/>
          </a:xfrm>
          <a:prstGeom prst="rect">
            <a:avLst/>
          </a:prstGeom>
          <a:noFill/>
        </p:spPr>
        <p:txBody>
          <a:bodyPr wrap="square" anchor="t" lIns="0" rIns="0" tIns="0" bIns="0">
            <a:noAutofit/>
          </a:bodyPr>
          <a:lstStyle/>
          <a:p>
            <a:pPr marL="201168" indent="-201168">
              <a:spcAft>
                <a:spcPts val="1000"/>
              </a:spcAft>
              <a:buFont typeface="Arial"/>
              <a:buChar char="•"/>
            </a:pPr>
            <a:r>
              <a:rPr sz="1700" b="1">
                <a:solidFill>
                  <a:srgbClr val="1E1B1C"/>
                </a:solidFill>
              </a:rPr>
              <a:t>Datenmodell: </a:t>
            </a:r>
            <a:r>
              <a:rPr sz="1700" b="0">
                <a:solidFill>
                  <a:srgbClr val="1E1B1C"/>
                </a:solidFill>
              </a:rPr>
              <a:t>Neues Obst erhält das Etikett des Beispiels mit dem ähnlichsten Gewicht (Nächster Nachbar).</a:t>
            </a:r>
          </a:p>
          <a:p>
            <a:pPr marL="201168" indent="-201168">
              <a:spcAft>
                <a:spcPts val="1000"/>
              </a:spcAft>
              <a:buFont typeface="Arial"/>
              <a:buChar char="•"/>
            </a:pPr>
            <a:r>
              <a:rPr sz="1700" b="1">
                <a:solidFill>
                  <a:srgbClr val="1E1B1C"/>
                </a:solidFill>
              </a:rPr>
              <a:t>Feste Regel: </a:t>
            </a:r>
            <a:r>
              <a:rPr sz="1700" b="0">
                <a:solidFill>
                  <a:srgbClr val="1E1B1C"/>
                </a:solidFill>
              </a:rPr>
              <a:t>von Menschen festgelegt, hier «Apfel ab 140 g».</a:t>
            </a:r>
          </a:p>
          <a:p>
            <a:pPr marL="201168" indent="-201168">
              <a:buFont typeface="Arial"/>
              <a:buChar char="•"/>
            </a:pPr>
            <a:r>
              <a:rPr sz="1700" b="1">
                <a:solidFill>
                  <a:srgbClr val="1E1B1C"/>
                </a:solidFill>
              </a:rPr>
              <a:t>Testfall: </a:t>
            </a:r>
            <a:r>
              <a:rPr sz="1700" b="0">
                <a:solidFill>
                  <a:srgbClr val="1E1B1C"/>
                </a:solidFill>
              </a:rPr>
              <a:t>Obst mit 160 g. Was sagt jedes Verfahren?</a:t>
            </a:r>
          </a:p>
        </p:txBody>
      </p:sp>
      <p:sp>
        <p:nvSpPr>
          <p:cNvPr id="6"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7" name="Diagrammtitel"/>
          <p:cNvSpPr txBox="1"/>
          <p:nvPr/>
        </p:nvSpPr>
        <p:spPr>
          <a:xfrm>
            <a:off x="7269480" y="914400"/>
            <a:ext cx="4160520" cy="365760"/>
          </a:xfrm>
          <a:prstGeom prst="rect">
            <a:avLst/>
          </a:prstGeom>
          <a:noFill/>
        </p:spPr>
        <p:txBody>
          <a:bodyPr wrap="square" anchor="t" lIns="0" rIns="0" tIns="0" bIns="0">
            <a:noAutofit/>
          </a:bodyPr>
          <a:lstStyle/>
          <a:p>
            <a:r>
              <a:rPr sz="1600" b="1">
                <a:solidFill>
                  <a:srgbClr val="1E1B1C"/>
                </a:solidFill>
              </a:rPr>
              <a:t>Trainingsbeispiele nach Gewicht</a:t>
            </a:r>
          </a:p>
        </p:txBody>
      </p:sp>
      <p:cxnSp>
        <p:nvCxnSpPr>
          <p:cNvPr id="8" name="Gewichtsachse"/>
          <p:cNvCxnSpPr/>
          <p:nvPr/>
        </p:nvCxnSpPr>
        <p:spPr>
          <a:xfrm>
            <a:off x="7269480" y="3291840"/>
            <a:ext cx="4023360" cy="0"/>
          </a:xfrm>
          <a:prstGeom prst="line">
            <a:avLst/>
          </a:prstGeom>
          <a:ln w="19050">
            <a:solidFill>
              <a:srgbClr val="5A5456"/>
            </a:solidFill>
          </a:ln>
        </p:spPr>
        <p:style>
          <a:lnRef idx="2">
            <a:schemeClr val="accent1"/>
          </a:lnRef>
          <a:fillRef idx="0">
            <a:schemeClr val="accent1"/>
          </a:fillRef>
          <a:effectRef idx="1">
            <a:schemeClr val="accent1"/>
          </a:effectRef>
          <a:fontRef idx="minor">
            <a:schemeClr val="tx1"/>
          </a:fontRef>
        </p:style>
      </p:cxnSp>
      <p:cxnSp>
        <p:nvCxnSpPr>
          <p:cNvPr id="9" name="Skalenstrich 100"/>
          <p:cNvCxnSpPr/>
          <p:nvPr/>
        </p:nvCxnSpPr>
        <p:spPr>
          <a:xfrm>
            <a:off x="7269480" y="3291840"/>
            <a:ext cx="0" cy="91440"/>
          </a:xfrm>
          <a:prstGeom prst="line">
            <a:avLst/>
          </a:prstGeom>
          <a:ln w="15875">
            <a:solidFill>
              <a:srgbClr val="5A5456"/>
            </a:solidFill>
          </a:ln>
        </p:spPr>
        <p:style>
          <a:lnRef idx="2">
            <a:schemeClr val="accent1"/>
          </a:lnRef>
          <a:fillRef idx="0">
            <a:schemeClr val="accent1"/>
          </a:fillRef>
          <a:effectRef idx="1">
            <a:schemeClr val="accent1"/>
          </a:effectRef>
          <a:fontRef idx="minor">
            <a:schemeClr val="tx1"/>
          </a:fontRef>
        </p:style>
      </p:cxnSp>
      <p:sp>
        <p:nvSpPr>
          <p:cNvPr id="10" name="Skalenwert 100"/>
          <p:cNvSpPr txBox="1"/>
          <p:nvPr/>
        </p:nvSpPr>
        <p:spPr>
          <a:xfrm>
            <a:off x="6995160" y="3419856"/>
            <a:ext cx="548640" cy="228600"/>
          </a:xfrm>
          <a:prstGeom prst="rect">
            <a:avLst/>
          </a:prstGeom>
          <a:noFill/>
        </p:spPr>
        <p:txBody>
          <a:bodyPr wrap="square" anchor="t" lIns="0" rIns="0" tIns="0" bIns="0">
            <a:noAutofit/>
          </a:bodyPr>
          <a:lstStyle/>
          <a:p>
            <a:pPr algn="ctr"/>
            <a:r>
              <a:rPr sz="1100" b="0">
                <a:solidFill>
                  <a:srgbClr val="5A5456"/>
                </a:solidFill>
              </a:rPr>
              <a:t>100 g</a:t>
            </a:r>
          </a:p>
        </p:txBody>
      </p:sp>
      <p:cxnSp>
        <p:nvCxnSpPr>
          <p:cNvPr id="11" name="Skalenstrich 120"/>
          <p:cNvCxnSpPr/>
          <p:nvPr/>
        </p:nvCxnSpPr>
        <p:spPr>
          <a:xfrm>
            <a:off x="8074152" y="3291840"/>
            <a:ext cx="0" cy="91440"/>
          </a:xfrm>
          <a:prstGeom prst="line">
            <a:avLst/>
          </a:prstGeom>
          <a:ln w="15875">
            <a:solidFill>
              <a:srgbClr val="5A5456"/>
            </a:solidFill>
          </a:ln>
        </p:spPr>
        <p:style>
          <a:lnRef idx="2">
            <a:schemeClr val="accent1"/>
          </a:lnRef>
          <a:fillRef idx="0">
            <a:schemeClr val="accent1"/>
          </a:fillRef>
          <a:effectRef idx="1">
            <a:schemeClr val="accent1"/>
          </a:effectRef>
          <a:fontRef idx="minor">
            <a:schemeClr val="tx1"/>
          </a:fontRef>
        </p:style>
      </p:cxnSp>
      <p:sp>
        <p:nvSpPr>
          <p:cNvPr id="12" name="Skalenwert 120"/>
          <p:cNvSpPr txBox="1"/>
          <p:nvPr/>
        </p:nvSpPr>
        <p:spPr>
          <a:xfrm>
            <a:off x="7799831" y="3419856"/>
            <a:ext cx="548640" cy="228600"/>
          </a:xfrm>
          <a:prstGeom prst="rect">
            <a:avLst/>
          </a:prstGeom>
          <a:noFill/>
        </p:spPr>
        <p:txBody>
          <a:bodyPr wrap="square" anchor="t" lIns="0" rIns="0" tIns="0" bIns="0">
            <a:noAutofit/>
          </a:bodyPr>
          <a:lstStyle/>
          <a:p>
            <a:pPr algn="ctr"/>
            <a:r>
              <a:rPr sz="1100" b="0">
                <a:solidFill>
                  <a:srgbClr val="5A5456"/>
                </a:solidFill>
              </a:rPr>
              <a:t>120 g</a:t>
            </a:r>
          </a:p>
        </p:txBody>
      </p:sp>
      <p:cxnSp>
        <p:nvCxnSpPr>
          <p:cNvPr id="13" name="Skalenstrich 140"/>
          <p:cNvCxnSpPr/>
          <p:nvPr/>
        </p:nvCxnSpPr>
        <p:spPr>
          <a:xfrm>
            <a:off x="8878824" y="3291840"/>
            <a:ext cx="0" cy="91440"/>
          </a:xfrm>
          <a:prstGeom prst="line">
            <a:avLst/>
          </a:prstGeom>
          <a:ln w="15875">
            <a:solidFill>
              <a:srgbClr val="5A5456"/>
            </a:solidFill>
          </a:ln>
        </p:spPr>
        <p:style>
          <a:lnRef idx="2">
            <a:schemeClr val="accent1"/>
          </a:lnRef>
          <a:fillRef idx="0">
            <a:schemeClr val="accent1"/>
          </a:fillRef>
          <a:effectRef idx="1">
            <a:schemeClr val="accent1"/>
          </a:effectRef>
          <a:fontRef idx="minor">
            <a:schemeClr val="tx1"/>
          </a:fontRef>
        </p:style>
      </p:cxnSp>
      <p:sp>
        <p:nvSpPr>
          <p:cNvPr id="14" name="Skalenwert 140"/>
          <p:cNvSpPr txBox="1"/>
          <p:nvPr/>
        </p:nvSpPr>
        <p:spPr>
          <a:xfrm>
            <a:off x="8604504" y="3419856"/>
            <a:ext cx="548640" cy="228600"/>
          </a:xfrm>
          <a:prstGeom prst="rect">
            <a:avLst/>
          </a:prstGeom>
          <a:noFill/>
        </p:spPr>
        <p:txBody>
          <a:bodyPr wrap="square" anchor="t" lIns="0" rIns="0" tIns="0" bIns="0">
            <a:noAutofit/>
          </a:bodyPr>
          <a:lstStyle/>
          <a:p>
            <a:pPr algn="ctr"/>
            <a:r>
              <a:rPr sz="1100" b="0">
                <a:solidFill>
                  <a:srgbClr val="5A5456"/>
                </a:solidFill>
              </a:rPr>
              <a:t>140 g</a:t>
            </a:r>
          </a:p>
        </p:txBody>
      </p:sp>
      <p:cxnSp>
        <p:nvCxnSpPr>
          <p:cNvPr id="15" name="Skalenstrich 160"/>
          <p:cNvCxnSpPr/>
          <p:nvPr/>
        </p:nvCxnSpPr>
        <p:spPr>
          <a:xfrm>
            <a:off x="9683496" y="3291840"/>
            <a:ext cx="0" cy="91440"/>
          </a:xfrm>
          <a:prstGeom prst="line">
            <a:avLst/>
          </a:prstGeom>
          <a:ln w="15875">
            <a:solidFill>
              <a:srgbClr val="5A5456"/>
            </a:solidFill>
          </a:ln>
        </p:spPr>
        <p:style>
          <a:lnRef idx="2">
            <a:schemeClr val="accent1"/>
          </a:lnRef>
          <a:fillRef idx="0">
            <a:schemeClr val="accent1"/>
          </a:fillRef>
          <a:effectRef idx="1">
            <a:schemeClr val="accent1"/>
          </a:effectRef>
          <a:fontRef idx="minor">
            <a:schemeClr val="tx1"/>
          </a:fontRef>
        </p:style>
      </p:cxnSp>
      <p:sp>
        <p:nvSpPr>
          <p:cNvPr id="16" name="Skalenwert 160"/>
          <p:cNvSpPr txBox="1"/>
          <p:nvPr/>
        </p:nvSpPr>
        <p:spPr>
          <a:xfrm>
            <a:off x="9409176" y="3419856"/>
            <a:ext cx="548640" cy="228600"/>
          </a:xfrm>
          <a:prstGeom prst="rect">
            <a:avLst/>
          </a:prstGeom>
          <a:noFill/>
        </p:spPr>
        <p:txBody>
          <a:bodyPr wrap="square" anchor="t" lIns="0" rIns="0" tIns="0" bIns="0">
            <a:noAutofit/>
          </a:bodyPr>
          <a:lstStyle/>
          <a:p>
            <a:pPr algn="ctr"/>
            <a:r>
              <a:rPr sz="1100" b="0">
                <a:solidFill>
                  <a:srgbClr val="5A5456"/>
                </a:solidFill>
              </a:rPr>
              <a:t>160 g</a:t>
            </a:r>
          </a:p>
        </p:txBody>
      </p:sp>
      <p:cxnSp>
        <p:nvCxnSpPr>
          <p:cNvPr id="17" name="Skalenstrich 180"/>
          <p:cNvCxnSpPr/>
          <p:nvPr/>
        </p:nvCxnSpPr>
        <p:spPr>
          <a:xfrm>
            <a:off x="10488168" y="3291840"/>
            <a:ext cx="0" cy="91440"/>
          </a:xfrm>
          <a:prstGeom prst="line">
            <a:avLst/>
          </a:prstGeom>
          <a:ln w="15875">
            <a:solidFill>
              <a:srgbClr val="5A5456"/>
            </a:solidFill>
          </a:ln>
        </p:spPr>
        <p:style>
          <a:lnRef idx="2">
            <a:schemeClr val="accent1"/>
          </a:lnRef>
          <a:fillRef idx="0">
            <a:schemeClr val="accent1"/>
          </a:fillRef>
          <a:effectRef idx="1">
            <a:schemeClr val="accent1"/>
          </a:effectRef>
          <a:fontRef idx="minor">
            <a:schemeClr val="tx1"/>
          </a:fontRef>
        </p:style>
      </p:cxnSp>
      <p:sp>
        <p:nvSpPr>
          <p:cNvPr id="18" name="Skalenwert 180"/>
          <p:cNvSpPr txBox="1"/>
          <p:nvPr/>
        </p:nvSpPr>
        <p:spPr>
          <a:xfrm>
            <a:off x="10213848" y="3419856"/>
            <a:ext cx="548640" cy="228600"/>
          </a:xfrm>
          <a:prstGeom prst="rect">
            <a:avLst/>
          </a:prstGeom>
          <a:noFill/>
        </p:spPr>
        <p:txBody>
          <a:bodyPr wrap="square" anchor="t" lIns="0" rIns="0" tIns="0" bIns="0">
            <a:noAutofit/>
          </a:bodyPr>
          <a:lstStyle/>
          <a:p>
            <a:pPr algn="ctr"/>
            <a:r>
              <a:rPr sz="1100" b="0">
                <a:solidFill>
                  <a:srgbClr val="5A5456"/>
                </a:solidFill>
              </a:rPr>
              <a:t>180 g</a:t>
            </a:r>
          </a:p>
        </p:txBody>
      </p:sp>
      <p:cxnSp>
        <p:nvCxnSpPr>
          <p:cNvPr id="19" name="Skalenstrich 200"/>
          <p:cNvCxnSpPr/>
          <p:nvPr/>
        </p:nvCxnSpPr>
        <p:spPr>
          <a:xfrm>
            <a:off x="11292840" y="3291840"/>
            <a:ext cx="0" cy="91440"/>
          </a:xfrm>
          <a:prstGeom prst="line">
            <a:avLst/>
          </a:prstGeom>
          <a:ln w="15875">
            <a:solidFill>
              <a:srgbClr val="5A5456"/>
            </a:solidFill>
          </a:ln>
        </p:spPr>
        <p:style>
          <a:lnRef idx="2">
            <a:schemeClr val="accent1"/>
          </a:lnRef>
          <a:fillRef idx="0">
            <a:schemeClr val="accent1"/>
          </a:fillRef>
          <a:effectRef idx="1">
            <a:schemeClr val="accent1"/>
          </a:effectRef>
          <a:fontRef idx="minor">
            <a:schemeClr val="tx1"/>
          </a:fontRef>
        </p:style>
      </p:cxnSp>
      <p:sp>
        <p:nvSpPr>
          <p:cNvPr id="20" name="Skalenwert 200"/>
          <p:cNvSpPr txBox="1"/>
          <p:nvPr/>
        </p:nvSpPr>
        <p:spPr>
          <a:xfrm>
            <a:off x="11018520" y="3419856"/>
            <a:ext cx="548640" cy="228600"/>
          </a:xfrm>
          <a:prstGeom prst="rect">
            <a:avLst/>
          </a:prstGeom>
          <a:noFill/>
        </p:spPr>
        <p:txBody>
          <a:bodyPr wrap="square" anchor="t" lIns="0" rIns="0" tIns="0" bIns="0">
            <a:noAutofit/>
          </a:bodyPr>
          <a:lstStyle/>
          <a:p>
            <a:pPr algn="ctr"/>
            <a:r>
              <a:rPr sz="1100" b="0">
                <a:solidFill>
                  <a:srgbClr val="5A5456"/>
                </a:solidFill>
              </a:rPr>
              <a:t>200 g</a:t>
            </a:r>
          </a:p>
        </p:txBody>
      </p:sp>
      <p:sp>
        <p:nvSpPr>
          <p:cNvPr id="21" name="Beispiel Birne 110 g"/>
          <p:cNvSpPr/>
          <p:nvPr/>
        </p:nvSpPr>
        <p:spPr>
          <a:xfrm>
            <a:off x="7498080" y="3118104"/>
            <a:ext cx="347472" cy="347472"/>
          </a:xfrm>
          <a:prstGeom prst="ellipse">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FFFFFF"/>
                </a:solidFill>
              </a:rPr>
              <a:t>B</a:t>
            </a:r>
          </a:p>
        </p:txBody>
      </p:sp>
      <p:sp>
        <p:nvSpPr>
          <p:cNvPr id="22" name="Beispiel Birne 130 g"/>
          <p:cNvSpPr/>
          <p:nvPr/>
        </p:nvSpPr>
        <p:spPr>
          <a:xfrm>
            <a:off x="8302752" y="3118104"/>
            <a:ext cx="347472" cy="347472"/>
          </a:xfrm>
          <a:prstGeom prst="ellipse">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FFFFFF"/>
                </a:solidFill>
              </a:rPr>
              <a:t>B</a:t>
            </a:r>
          </a:p>
        </p:txBody>
      </p:sp>
      <p:sp>
        <p:nvSpPr>
          <p:cNvPr id="23" name="Beispiel Apfel 150 g"/>
          <p:cNvSpPr/>
          <p:nvPr/>
        </p:nvSpPr>
        <p:spPr>
          <a:xfrm>
            <a:off x="9107424" y="3118104"/>
            <a:ext cx="347472" cy="347472"/>
          </a:xfrm>
          <a:prstGeom prst="ellipse">
            <a:avLst/>
          </a:prstGeom>
          <a:solidFill>
            <a:srgbClr val="C847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FFFFFF"/>
                </a:solidFill>
              </a:rPr>
              <a:t>A</a:t>
            </a:r>
          </a:p>
        </p:txBody>
      </p:sp>
      <p:sp>
        <p:nvSpPr>
          <p:cNvPr id="24" name="Beispiel Apfel 180 g"/>
          <p:cNvSpPr/>
          <p:nvPr/>
        </p:nvSpPr>
        <p:spPr>
          <a:xfrm>
            <a:off x="10314432" y="3118104"/>
            <a:ext cx="347472" cy="347472"/>
          </a:xfrm>
          <a:prstGeom prst="ellipse">
            <a:avLst/>
          </a:prstGeom>
          <a:solidFill>
            <a:srgbClr val="C847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FFFFFF"/>
                </a:solidFill>
              </a:rPr>
              <a:t>A</a:t>
            </a:r>
          </a:p>
        </p:txBody>
      </p:sp>
      <p:cxnSp>
        <p:nvCxnSpPr>
          <p:cNvPr id="25" name="Regelgrenze 140 g"/>
          <p:cNvCxnSpPr/>
          <p:nvPr/>
        </p:nvCxnSpPr>
        <p:spPr>
          <a:xfrm>
            <a:off x="8878824" y="2331720"/>
            <a:ext cx="0" cy="960120"/>
          </a:xfrm>
          <a:prstGeom prst="line">
            <a:avLst/>
          </a:prstGeom>
          <a:ln w="25400">
            <a:solidFill>
              <a:srgbClr val="2F6A9E"/>
            </a:solidFill>
            <a:prstDash val="dash"/>
          </a:ln>
        </p:spPr>
        <p:style>
          <a:lnRef idx="2">
            <a:schemeClr val="accent1"/>
          </a:lnRef>
          <a:fillRef idx="0">
            <a:schemeClr val="accent1"/>
          </a:fillRef>
          <a:effectRef idx="1">
            <a:schemeClr val="accent1"/>
          </a:effectRef>
          <a:fontRef idx="minor">
            <a:schemeClr val="tx1"/>
          </a:fontRef>
        </p:style>
      </p:cxnSp>
      <p:sp>
        <p:nvSpPr>
          <p:cNvPr id="26" name="Regelbeschriftung"/>
          <p:cNvSpPr txBox="1"/>
          <p:nvPr/>
        </p:nvSpPr>
        <p:spPr>
          <a:xfrm>
            <a:off x="7278624" y="1783080"/>
            <a:ext cx="1554480" cy="502920"/>
          </a:xfrm>
          <a:prstGeom prst="rect">
            <a:avLst/>
          </a:prstGeom>
          <a:noFill/>
        </p:spPr>
        <p:txBody>
          <a:bodyPr wrap="square" anchor="b" lIns="0" rIns="0" tIns="0" bIns="0">
            <a:noAutofit/>
          </a:bodyPr>
          <a:lstStyle/>
          <a:p>
            <a:pPr algn="r"/>
            <a:r>
              <a:rPr sz="1300" b="1">
                <a:solidFill>
                  <a:srgbClr val="2F6A9E"/>
                </a:solidFill>
              </a:rPr>
              <a:t>Regel: ab 140 g Apfel</a:t>
            </a:r>
          </a:p>
        </p:txBody>
      </p:sp>
      <p:cxnSp>
        <p:nvCxnSpPr>
          <p:cNvPr id="27" name="Testfall 160 g"/>
          <p:cNvCxnSpPr/>
          <p:nvPr/>
        </p:nvCxnSpPr>
        <p:spPr>
          <a:xfrm>
            <a:off x="9683496" y="2331720"/>
            <a:ext cx="0" cy="960120"/>
          </a:xfrm>
          <a:prstGeom prst="line">
            <a:avLst/>
          </a:prstGeom>
          <a:ln w="31750">
            <a:solidFill>
              <a:srgbClr val="1E1B1C"/>
            </a:solidFill>
          </a:ln>
        </p:spPr>
        <p:style>
          <a:lnRef idx="2">
            <a:schemeClr val="accent1"/>
          </a:lnRef>
          <a:fillRef idx="0">
            <a:schemeClr val="accent1"/>
          </a:fillRef>
          <a:effectRef idx="1">
            <a:schemeClr val="accent1"/>
          </a:effectRef>
          <a:fontRef idx="minor">
            <a:schemeClr val="tx1"/>
          </a:fontRef>
        </p:style>
      </p:cxnSp>
      <p:sp>
        <p:nvSpPr>
          <p:cNvPr id="28" name="Testfallbeschriftung"/>
          <p:cNvSpPr txBox="1"/>
          <p:nvPr/>
        </p:nvSpPr>
        <p:spPr>
          <a:xfrm>
            <a:off x="9756648" y="1783080"/>
            <a:ext cx="1463040" cy="502920"/>
          </a:xfrm>
          <a:prstGeom prst="rect">
            <a:avLst/>
          </a:prstGeom>
          <a:noFill/>
        </p:spPr>
        <p:txBody>
          <a:bodyPr wrap="square" anchor="b" lIns="0" rIns="0" tIns="0" bIns="0">
            <a:noAutofit/>
          </a:bodyPr>
          <a:lstStyle/>
          <a:p>
            <a:r>
              <a:rPr sz="1300" b="1">
                <a:solidFill>
                  <a:srgbClr val="1E1B1C"/>
                </a:solidFill>
              </a:rPr>
              <a:t>Testfall 160 g</a:t>
            </a:r>
          </a:p>
        </p:txBody>
      </p:sp>
      <p:sp>
        <p:nvSpPr>
          <p:cNvPr id="29" name="Legende"/>
          <p:cNvSpPr txBox="1"/>
          <p:nvPr/>
        </p:nvSpPr>
        <p:spPr>
          <a:xfrm>
            <a:off x="7269480" y="4343400"/>
            <a:ext cx="4160520" cy="274320"/>
          </a:xfrm>
          <a:prstGeom prst="rect">
            <a:avLst/>
          </a:prstGeom>
          <a:noFill/>
        </p:spPr>
        <p:txBody>
          <a:bodyPr wrap="square" anchor="t" lIns="0" rIns="0" tIns="0" bIns="0">
            <a:noAutofit/>
          </a:bodyPr>
          <a:lstStyle/>
          <a:p>
            <a:r>
              <a:rPr sz="1300" b="1">
                <a:solidFill>
                  <a:srgbClr val="5A5456"/>
                </a:solidFill>
              </a:rPr>
              <a:t>A</a:t>
            </a:r>
            <a:r>
              <a:rPr sz="1300" b="0">
                <a:solidFill>
                  <a:srgbClr val="5A5456"/>
                </a:solidFill>
              </a:rPr>
              <a:t> = Apfel     </a:t>
            </a:r>
            <a:r>
              <a:rPr sz="1300" b="1">
                <a:solidFill>
                  <a:srgbClr val="5A5456"/>
                </a:solidFill>
              </a:rPr>
              <a:t>B</a:t>
            </a:r>
            <a:r>
              <a:rPr sz="1300" b="0">
                <a:solidFill>
                  <a:srgbClr val="5A5456"/>
                </a:solidFill>
              </a:rPr>
              <a:t> = Birne</a:t>
            </a:r>
          </a:p>
        </p:txBody>
      </p:sp>
      <p:sp>
        <p:nvSpPr>
          <p:cNvPr id="30" name="Ergebnis Datenmodell"/>
          <p:cNvSpPr/>
          <p:nvPr/>
        </p:nvSpPr>
        <p:spPr>
          <a:xfrm>
            <a:off x="7269480" y="4709160"/>
            <a:ext cx="4160520" cy="502920"/>
          </a:xfrm>
          <a:prstGeom prst="roundRect">
            <a:avLst>
              <a:gd name="adj" fmla="val 2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31" name="Datenmodell"/>
          <p:cNvSpPr txBox="1"/>
          <p:nvPr/>
        </p:nvSpPr>
        <p:spPr>
          <a:xfrm>
            <a:off x="7406640" y="4709160"/>
            <a:ext cx="3931920" cy="502920"/>
          </a:xfrm>
          <a:prstGeom prst="rect">
            <a:avLst/>
          </a:prstGeom>
          <a:noFill/>
        </p:spPr>
        <p:txBody>
          <a:bodyPr wrap="square" anchor="ctr" lIns="0" rIns="0" tIns="0" bIns="0">
            <a:noAutofit/>
          </a:bodyPr>
          <a:lstStyle/>
          <a:p>
            <a:r>
              <a:rPr sz="1400" b="1">
                <a:solidFill>
                  <a:srgbClr val="1E1B1C"/>
                </a:solidFill>
              </a:rPr>
              <a:t>Datenmodell: </a:t>
            </a:r>
            <a:r>
              <a:rPr sz="1400" b="0">
                <a:solidFill>
                  <a:srgbClr val="1E1B1C"/>
                </a:solidFill>
              </a:rPr>
              <a:t>Apfel (150 g ist am nächsten)</a:t>
            </a:r>
          </a:p>
        </p:txBody>
      </p:sp>
      <p:sp>
        <p:nvSpPr>
          <p:cNvPr id="32" name="Ergebnis Regel"/>
          <p:cNvSpPr/>
          <p:nvPr/>
        </p:nvSpPr>
        <p:spPr>
          <a:xfrm>
            <a:off x="7269480" y="5303520"/>
            <a:ext cx="4160520" cy="502920"/>
          </a:xfrm>
          <a:prstGeom prst="roundRect">
            <a:avLst>
              <a:gd name="adj" fmla="val 2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33" name="Regel"/>
          <p:cNvSpPr txBox="1"/>
          <p:nvPr/>
        </p:nvSpPr>
        <p:spPr>
          <a:xfrm>
            <a:off x="7406640" y="5303520"/>
            <a:ext cx="3931920" cy="502920"/>
          </a:xfrm>
          <a:prstGeom prst="rect">
            <a:avLst/>
          </a:prstGeom>
          <a:noFill/>
        </p:spPr>
        <p:txBody>
          <a:bodyPr wrap="square" anchor="ctr" lIns="0" rIns="0" tIns="0" bIns="0">
            <a:noAutofit/>
          </a:bodyPr>
          <a:lstStyle/>
          <a:p>
            <a:r>
              <a:rPr sz="1400" b="1">
                <a:solidFill>
                  <a:srgbClr val="1E1B1C"/>
                </a:solidFill>
              </a:rPr>
              <a:t>Feste Regel: </a:t>
            </a:r>
            <a:r>
              <a:rPr sz="1400" b="0">
                <a:solidFill>
                  <a:srgbClr val="1E1B1C"/>
                </a:solidFill>
              </a:rPr>
              <a:t>Apfel (160 g ab 140 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Euer Experimentauftrag</a:t>
            </a:r>
          </a:p>
        </p:txBody>
      </p:sp>
      <p:sp>
        <p:nvSpPr>
          <p:cNvPr id="3" name="Phase"/>
          <p:cNvSpPr/>
          <p:nvPr/>
        </p:nvSpPr>
        <p:spPr>
          <a:xfrm>
            <a:off x="548640" y="347472"/>
            <a:ext cx="2889504"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3 · MIN. 16 BIS 34</a:t>
            </a:r>
          </a:p>
        </p:txBody>
      </p:sp>
      <p:sp>
        <p:nvSpPr>
          <p:cNvPr id="4" name="Ort"/>
          <p:cNvSpPr txBox="1"/>
          <p:nvPr/>
        </p:nvSpPr>
        <p:spPr>
          <a:xfrm>
            <a:off x="548640" y="1965960"/>
            <a:ext cx="5760720" cy="457200"/>
          </a:xfrm>
          <a:prstGeom prst="rect">
            <a:avLst/>
          </a:prstGeom>
          <a:noFill/>
        </p:spPr>
        <p:txBody>
          <a:bodyPr wrap="square" anchor="t" lIns="0" rIns="0" tIns="0" bIns="0">
            <a:noAutofit/>
          </a:bodyPr>
          <a:lstStyle/>
          <a:p>
            <a:r>
              <a:rPr sz="1800" b="1">
                <a:solidFill>
                  <a:srgbClr val="1E1B1C"/>
                </a:solidFill>
              </a:rPr>
              <a:t>Zu zweit in der Lernumgebung, Kapitel 2</a:t>
            </a:r>
          </a:p>
        </p:txBody>
      </p:sp>
      <p:sp>
        <p:nvSpPr>
          <p:cNvPr id="5" name="Nummer 1"/>
          <p:cNvSpPr/>
          <p:nvPr/>
        </p:nvSpPr>
        <p:spPr>
          <a:xfrm>
            <a:off x="548640" y="2830068"/>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1</a:t>
            </a:r>
          </a:p>
        </p:txBody>
      </p:sp>
      <p:sp>
        <p:nvSpPr>
          <p:cNvPr id="6" name="Schritt 1"/>
          <p:cNvSpPr txBox="1"/>
          <p:nvPr/>
        </p:nvSpPr>
        <p:spPr>
          <a:xfrm>
            <a:off x="1133856" y="2606040"/>
            <a:ext cx="5175504" cy="868680"/>
          </a:xfrm>
          <a:prstGeom prst="rect">
            <a:avLst/>
          </a:prstGeom>
          <a:noFill/>
        </p:spPr>
        <p:txBody>
          <a:bodyPr wrap="square" anchor="ctr" lIns="0" rIns="0" tIns="0" bIns="0">
            <a:noAutofit/>
          </a:bodyPr>
          <a:lstStyle/>
          <a:p>
            <a:r>
              <a:rPr sz="1700" b="0">
                <a:solidFill>
                  <a:srgbClr val="1E1B1C"/>
                </a:solidFill>
              </a:rPr>
              <a:t>Notiere die Zuordnung für 160 g mit den Ausgangsdaten.</a:t>
            </a:r>
          </a:p>
        </p:txBody>
      </p:sp>
      <p:sp>
        <p:nvSpPr>
          <p:cNvPr id="7" name="Nummer 2"/>
          <p:cNvSpPr/>
          <p:nvPr/>
        </p:nvSpPr>
        <p:spPr>
          <a:xfrm>
            <a:off x="548640" y="3698748"/>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2</a:t>
            </a:r>
          </a:p>
        </p:txBody>
      </p:sp>
      <p:sp>
        <p:nvSpPr>
          <p:cNvPr id="8" name="Schritt 2"/>
          <p:cNvSpPr txBox="1"/>
          <p:nvPr/>
        </p:nvSpPr>
        <p:spPr>
          <a:xfrm>
            <a:off x="1133856" y="3474720"/>
            <a:ext cx="5175504" cy="868680"/>
          </a:xfrm>
          <a:prstGeom prst="rect">
            <a:avLst/>
          </a:prstGeom>
          <a:noFill/>
        </p:spPr>
        <p:txBody>
          <a:bodyPr wrap="square" anchor="ctr" lIns="0" rIns="0" tIns="0" bIns="0">
            <a:noAutofit/>
          </a:bodyPr>
          <a:lstStyle/>
          <a:p>
            <a:r>
              <a:rPr sz="1700" b="0">
                <a:solidFill>
                  <a:srgbClr val="1E1B1C"/>
                </a:solidFill>
              </a:rPr>
              <a:t>Ergänze eine Birne mit 160 g. Vergleiche Datenmodell und feste Regel.</a:t>
            </a:r>
          </a:p>
        </p:txBody>
      </p:sp>
      <p:sp>
        <p:nvSpPr>
          <p:cNvPr id="9" name="Nummer 3"/>
          <p:cNvSpPr/>
          <p:nvPr/>
        </p:nvSpPr>
        <p:spPr>
          <a:xfrm>
            <a:off x="548640" y="4567428"/>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3</a:t>
            </a:r>
          </a:p>
        </p:txBody>
      </p:sp>
      <p:sp>
        <p:nvSpPr>
          <p:cNvPr id="10" name="Schritt 3"/>
          <p:cNvSpPr txBox="1"/>
          <p:nvPr/>
        </p:nvSpPr>
        <p:spPr>
          <a:xfrm>
            <a:off x="1133856" y="4343400"/>
            <a:ext cx="5175504" cy="868680"/>
          </a:xfrm>
          <a:prstGeom prst="rect">
            <a:avLst/>
          </a:prstGeom>
          <a:noFill/>
        </p:spPr>
        <p:txBody>
          <a:bodyPr wrap="square" anchor="ctr" lIns="0" rIns="0" tIns="0" bIns="0">
            <a:noAutofit/>
          </a:bodyPr>
          <a:lstStyle/>
          <a:p>
            <a:r>
              <a:rPr sz="1700" b="0">
                <a:solidFill>
                  <a:srgbClr val="1E1B1C"/>
                </a:solidFill>
              </a:rPr>
              <a:t>Ergänze zusätzlich einen Apfel mit 160 g. Was passiert?</a:t>
            </a:r>
          </a:p>
        </p:txBody>
      </p:sp>
      <p:sp>
        <p:nvSpPr>
          <p:cNvPr id="11" name="Nummer 4"/>
          <p:cNvSpPr/>
          <p:nvPr/>
        </p:nvSpPr>
        <p:spPr>
          <a:xfrm>
            <a:off x="548640" y="5436107"/>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4</a:t>
            </a:r>
          </a:p>
        </p:txBody>
      </p:sp>
      <p:sp>
        <p:nvSpPr>
          <p:cNvPr id="12" name="Schritt 4"/>
          <p:cNvSpPr txBox="1"/>
          <p:nvPr/>
        </p:nvSpPr>
        <p:spPr>
          <a:xfrm>
            <a:off x="1133856" y="5212079"/>
            <a:ext cx="5175504" cy="868680"/>
          </a:xfrm>
          <a:prstGeom prst="rect">
            <a:avLst/>
          </a:prstGeom>
          <a:noFill/>
        </p:spPr>
        <p:txBody>
          <a:bodyPr wrap="square" anchor="ctr" lIns="0" rIns="0" tIns="0" bIns="0">
            <a:noAutofit/>
          </a:bodyPr>
          <a:lstStyle/>
          <a:p>
            <a:r>
              <a:rPr sz="1700" b="0">
                <a:solidFill>
                  <a:srgbClr val="1E1B1C"/>
                </a:solidFill>
              </a:rPr>
              <a:t>Teste 140 g und einen Fall weit ausserhalb der bisherigen Daten.</a:t>
            </a:r>
          </a:p>
        </p:txBody>
      </p:sp>
      <p:sp>
        <p:nvSpPr>
          <p:cNvPr id="13"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4" name="Kartentitel"/>
          <p:cNvSpPr txBox="1"/>
          <p:nvPr/>
        </p:nvSpPr>
        <p:spPr>
          <a:xfrm>
            <a:off x="7315200" y="960120"/>
            <a:ext cx="4023360" cy="365760"/>
          </a:xfrm>
          <a:prstGeom prst="rect">
            <a:avLst/>
          </a:prstGeom>
          <a:noFill/>
        </p:spPr>
        <p:txBody>
          <a:bodyPr wrap="square" anchor="t" lIns="0" rIns="0" tIns="0" bIns="0">
            <a:noAutofit/>
          </a:bodyPr>
          <a:lstStyle/>
          <a:p>
            <a:r>
              <a:rPr sz="2000" b="1">
                <a:solidFill>
                  <a:srgbClr val="1E1B1C"/>
                </a:solidFill>
              </a:rPr>
              <a:t>Danach zu zweit besprechen</a:t>
            </a:r>
          </a:p>
        </p:txBody>
      </p:sp>
      <p:sp>
        <p:nvSpPr>
          <p:cNvPr id="15" name="Reflexionsfragen"/>
          <p:cNvSpPr txBox="1"/>
          <p:nvPr/>
        </p:nvSpPr>
        <p:spPr>
          <a:xfrm>
            <a:off x="7315200" y="1645920"/>
            <a:ext cx="4069080" cy="4297680"/>
          </a:xfrm>
          <a:prstGeom prst="rect">
            <a:avLst/>
          </a:prstGeom>
          <a:noFill/>
        </p:spPr>
        <p:txBody>
          <a:bodyPr wrap="square" anchor="t" lIns="0" rIns="0" tIns="0" bIns="0">
            <a:noAutofit/>
          </a:bodyPr>
          <a:lstStyle/>
          <a:p>
            <a:pPr marL="201168" indent="-201168">
              <a:spcAft>
                <a:spcPts val="2000"/>
              </a:spcAft>
              <a:buClr>
                <a:srgbClr val="F4B93A"/>
              </a:buClr>
              <a:buFont typeface="Arial"/>
              <a:buChar char="•"/>
            </a:pPr>
            <a:r>
              <a:rPr sz="1800" b="0">
                <a:solidFill>
                  <a:srgbClr val="1E1B1C"/>
                </a:solidFill>
              </a:rPr>
              <a:t>Was hat sich verändert, und warum?</a:t>
            </a:r>
          </a:p>
          <a:p>
            <a:pPr marL="201168" indent="-201168">
              <a:spcAft>
                <a:spcPts val="2000"/>
              </a:spcAft>
              <a:buClr>
                <a:srgbClr val="F4B93A"/>
              </a:buClr>
              <a:buFont typeface="Arial"/>
              <a:buChar char="•"/>
            </a:pPr>
            <a:r>
              <a:rPr sz="1800" b="0">
                <a:solidFill>
                  <a:srgbClr val="1E1B1C"/>
                </a:solidFill>
              </a:rPr>
              <a:t>Warum reicht das Gewicht nicht? Welche weiteren Merkmale wären sinnvoll?</a:t>
            </a:r>
          </a:p>
          <a:p>
            <a:pPr marL="201168" indent="-201168">
              <a:spcAft>
                <a:spcPts val="2000"/>
              </a:spcAft>
              <a:buClr>
                <a:srgbClr val="F4B93A"/>
              </a:buClr>
              <a:buFont typeface="Arial"/>
              <a:buChar char="•"/>
            </a:pPr>
            <a:r>
              <a:rPr sz="1800" b="0">
                <a:solidFill>
                  <a:srgbClr val="1E1B1C"/>
                </a:solidFill>
              </a:rPr>
              <a:t>Sind mehr Daten automatisch bessere Daten? Begründe mit deinem Experiment.</a:t>
            </a:r>
          </a:p>
          <a:p>
            <a:pPr marL="201168" indent="-201168">
              <a:buClr>
                <a:srgbClr val="F4B93A"/>
              </a:buClr>
              <a:buFont typeface="Arial"/>
              <a:buChar char="•"/>
            </a:pPr>
            <a:r>
              <a:rPr sz="1800" b="0">
                <a:solidFill>
                  <a:srgbClr val="1E1B1C"/>
                </a:solidFill>
              </a:rPr>
              <a:t>Erkläre einer Kollegin in zwei Sätzen, was dieses Modell «gelernt» hat.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Ein Beispiel mehr, eine andere Vorhersage</a:t>
            </a:r>
          </a:p>
        </p:txBody>
      </p:sp>
      <p:sp>
        <p:nvSpPr>
          <p:cNvPr id="3" name="Phase"/>
          <p:cNvSpPr/>
          <p:nvPr/>
        </p:nvSpPr>
        <p:spPr>
          <a:xfrm>
            <a:off x="548640" y="347472"/>
            <a:ext cx="246888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3 · AUSWERTUNG</a:t>
            </a:r>
          </a:p>
        </p:txBody>
      </p:sp>
      <p:sp>
        <p:nvSpPr>
          <p:cNvPr id="4" name="Karte Feste Regel"/>
          <p:cNvSpPr/>
          <p:nvPr/>
        </p:nvSpPr>
        <p:spPr>
          <a:xfrm>
            <a:off x="548640" y="1600200"/>
            <a:ext cx="5440680" cy="3246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Verfahren"/>
          <p:cNvSpPr/>
          <p:nvPr/>
        </p:nvSpPr>
        <p:spPr>
          <a:xfrm>
            <a:off x="822959" y="1828800"/>
            <a:ext cx="2011680" cy="365760"/>
          </a:xfrm>
          <a:prstGeom prst="roundRect">
            <a:avLst>
              <a:gd name="adj" fmla="val 50000"/>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1">
                <a:solidFill>
                  <a:srgbClr val="FFFFFF"/>
                </a:solidFill>
              </a:rPr>
              <a:t>Feste Regel</a:t>
            </a:r>
          </a:p>
        </p:txBody>
      </p:sp>
      <p:sp>
        <p:nvSpPr>
          <p:cNvPr id="6" name="Untertitel"/>
          <p:cNvSpPr txBox="1"/>
          <p:nvPr/>
        </p:nvSpPr>
        <p:spPr>
          <a:xfrm>
            <a:off x="822959" y="2286000"/>
            <a:ext cx="4892040" cy="320040"/>
          </a:xfrm>
          <a:prstGeom prst="rect">
            <a:avLst/>
          </a:prstGeom>
          <a:noFill/>
        </p:spPr>
        <p:txBody>
          <a:bodyPr wrap="square" anchor="t" lIns="0" rIns="0" tIns="0" bIns="0">
            <a:noAutofit/>
          </a:bodyPr>
          <a:lstStyle/>
          <a:p>
            <a:r>
              <a:rPr sz="1400" b="0">
                <a:solidFill>
                  <a:srgbClr val="5A5456"/>
                </a:solidFill>
              </a:rPr>
              <a:t>von Menschen festgelegt: Apfel ab 140 g</a:t>
            </a:r>
          </a:p>
        </p:txBody>
      </p:sp>
      <p:sp>
        <p:nvSpPr>
          <p:cNvPr id="7" name="Zeile 1"/>
          <p:cNvSpPr txBox="1"/>
          <p:nvPr/>
        </p:nvSpPr>
        <p:spPr>
          <a:xfrm>
            <a:off x="822959" y="2788920"/>
            <a:ext cx="2926080" cy="457200"/>
          </a:xfrm>
          <a:prstGeom prst="rect">
            <a:avLst/>
          </a:prstGeom>
          <a:noFill/>
        </p:spPr>
        <p:txBody>
          <a:bodyPr wrap="square" anchor="ctr" lIns="0" rIns="0" tIns="0" bIns="0">
            <a:noAutofit/>
          </a:bodyPr>
          <a:lstStyle/>
          <a:p>
            <a:r>
              <a:rPr sz="1600" b="0">
                <a:solidFill>
                  <a:srgbClr val="1E1B1C"/>
                </a:solidFill>
              </a:rPr>
              <a:t>Testfall 160 g</a:t>
            </a:r>
          </a:p>
        </p:txBody>
      </p:sp>
      <p:sp>
        <p:nvSpPr>
          <p:cNvPr id="8" name="Ergebnis 1"/>
          <p:cNvSpPr/>
          <p:nvPr/>
        </p:nvSpPr>
        <p:spPr>
          <a:xfrm>
            <a:off x="4114800" y="2788920"/>
            <a:ext cx="1554480" cy="457200"/>
          </a:xfrm>
          <a:prstGeom prst="roundRect">
            <a:avLst>
              <a:gd name="adj" fmla="val 50000"/>
            </a:avLst>
          </a:prstGeom>
          <a:solidFill>
            <a:srgbClr val="C847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1">
                <a:solidFill>
                  <a:srgbClr val="FFFFFF"/>
                </a:solidFill>
              </a:rPr>
              <a:t>Apfel</a:t>
            </a:r>
          </a:p>
        </p:txBody>
      </p:sp>
      <p:sp>
        <p:nvSpPr>
          <p:cNvPr id="9" name="Zeile 2"/>
          <p:cNvSpPr txBox="1"/>
          <p:nvPr/>
        </p:nvSpPr>
        <p:spPr>
          <a:xfrm>
            <a:off x="822959" y="3520440"/>
            <a:ext cx="3108960" cy="548640"/>
          </a:xfrm>
          <a:prstGeom prst="rect">
            <a:avLst/>
          </a:prstGeom>
          <a:noFill/>
        </p:spPr>
        <p:txBody>
          <a:bodyPr wrap="square" anchor="ctr" lIns="0" rIns="0" tIns="0" bIns="0">
            <a:noAutofit/>
          </a:bodyPr>
          <a:lstStyle/>
          <a:p>
            <a:r>
              <a:rPr sz="1600" b="0">
                <a:solidFill>
                  <a:srgbClr val="1E1B1C"/>
                </a:solidFill>
              </a:rPr>
              <a:t>Mit zusätzlicher Birne (165 g)</a:t>
            </a:r>
          </a:p>
        </p:txBody>
      </p:sp>
      <p:sp>
        <p:nvSpPr>
          <p:cNvPr id="10" name="Ergebnis 2"/>
          <p:cNvSpPr/>
          <p:nvPr/>
        </p:nvSpPr>
        <p:spPr>
          <a:xfrm>
            <a:off x="4114800" y="3566160"/>
            <a:ext cx="1554480" cy="457200"/>
          </a:xfrm>
          <a:prstGeom prst="roundRect">
            <a:avLst>
              <a:gd name="adj" fmla="val 50000"/>
            </a:avLst>
          </a:prstGeom>
          <a:solidFill>
            <a:srgbClr val="C847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1">
                <a:solidFill>
                  <a:srgbClr val="FFFFFF"/>
                </a:solidFill>
              </a:rPr>
              <a:t>Apfel</a:t>
            </a:r>
          </a:p>
        </p:txBody>
      </p:sp>
      <p:sp>
        <p:nvSpPr>
          <p:cNvPr id="11" name="Hinweis"/>
          <p:cNvSpPr txBox="1"/>
          <p:nvPr/>
        </p:nvSpPr>
        <p:spPr>
          <a:xfrm>
            <a:off x="822959" y="4160520"/>
            <a:ext cx="4892040" cy="502920"/>
          </a:xfrm>
          <a:prstGeom prst="rect">
            <a:avLst/>
          </a:prstGeom>
          <a:noFill/>
        </p:spPr>
        <p:txBody>
          <a:bodyPr wrap="square" anchor="t" lIns="0" rIns="0" tIns="0" bIns="0">
            <a:noAutofit/>
          </a:bodyPr>
          <a:lstStyle/>
          <a:p>
            <a:r>
              <a:rPr sz="1400" b="0">
                <a:solidFill>
                  <a:srgbClr val="5A5456"/>
                </a:solidFill>
              </a:rPr>
              <a:t>bleibt gleich, solange die Grenze gleich bleibt</a:t>
            </a:r>
          </a:p>
        </p:txBody>
      </p:sp>
      <p:sp>
        <p:nvSpPr>
          <p:cNvPr id="12" name="Karte Datenmodell"/>
          <p:cNvSpPr/>
          <p:nvPr/>
        </p:nvSpPr>
        <p:spPr>
          <a:xfrm>
            <a:off x="6199631" y="1600200"/>
            <a:ext cx="5440680" cy="3246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3" name="Verfahren"/>
          <p:cNvSpPr/>
          <p:nvPr/>
        </p:nvSpPr>
        <p:spPr>
          <a:xfrm>
            <a:off x="6473951" y="1828800"/>
            <a:ext cx="2011680" cy="365760"/>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1">
                <a:solidFill>
                  <a:srgbClr val="1E1B1C"/>
                </a:solidFill>
              </a:rPr>
              <a:t>Datenmodell</a:t>
            </a:r>
          </a:p>
        </p:txBody>
      </p:sp>
      <p:sp>
        <p:nvSpPr>
          <p:cNvPr id="14" name="Untertitel"/>
          <p:cNvSpPr txBox="1"/>
          <p:nvPr/>
        </p:nvSpPr>
        <p:spPr>
          <a:xfrm>
            <a:off x="6473951" y="2286000"/>
            <a:ext cx="4892040" cy="320040"/>
          </a:xfrm>
          <a:prstGeom prst="rect">
            <a:avLst/>
          </a:prstGeom>
          <a:noFill/>
        </p:spPr>
        <p:txBody>
          <a:bodyPr wrap="square" anchor="t" lIns="0" rIns="0" tIns="0" bIns="0">
            <a:noAutofit/>
          </a:bodyPr>
          <a:lstStyle/>
          <a:p>
            <a:r>
              <a:rPr sz="1400" b="0">
                <a:solidFill>
                  <a:srgbClr val="5A5456"/>
                </a:solidFill>
              </a:rPr>
              <a:t>lernt aus gespeicherten Beispielen</a:t>
            </a:r>
          </a:p>
        </p:txBody>
      </p:sp>
      <p:sp>
        <p:nvSpPr>
          <p:cNvPr id="15" name="Zeile 1"/>
          <p:cNvSpPr txBox="1"/>
          <p:nvPr/>
        </p:nvSpPr>
        <p:spPr>
          <a:xfrm>
            <a:off x="6473951" y="2788920"/>
            <a:ext cx="2926080" cy="457200"/>
          </a:xfrm>
          <a:prstGeom prst="rect">
            <a:avLst/>
          </a:prstGeom>
          <a:noFill/>
        </p:spPr>
        <p:txBody>
          <a:bodyPr wrap="square" anchor="ctr" lIns="0" rIns="0" tIns="0" bIns="0">
            <a:noAutofit/>
          </a:bodyPr>
          <a:lstStyle/>
          <a:p>
            <a:r>
              <a:rPr sz="1600" b="0">
                <a:solidFill>
                  <a:srgbClr val="1E1B1C"/>
                </a:solidFill>
              </a:rPr>
              <a:t>Testfall 160 g</a:t>
            </a:r>
          </a:p>
        </p:txBody>
      </p:sp>
      <p:sp>
        <p:nvSpPr>
          <p:cNvPr id="16" name="Ergebnis 1"/>
          <p:cNvSpPr/>
          <p:nvPr/>
        </p:nvSpPr>
        <p:spPr>
          <a:xfrm>
            <a:off x="9765792" y="2788920"/>
            <a:ext cx="1554480" cy="457200"/>
          </a:xfrm>
          <a:prstGeom prst="roundRect">
            <a:avLst>
              <a:gd name="adj" fmla="val 50000"/>
            </a:avLst>
          </a:prstGeom>
          <a:solidFill>
            <a:srgbClr val="C847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1">
                <a:solidFill>
                  <a:srgbClr val="FFFFFF"/>
                </a:solidFill>
              </a:rPr>
              <a:t>Apfel</a:t>
            </a:r>
          </a:p>
        </p:txBody>
      </p:sp>
      <p:sp>
        <p:nvSpPr>
          <p:cNvPr id="17" name="Zeile 2"/>
          <p:cNvSpPr txBox="1"/>
          <p:nvPr/>
        </p:nvSpPr>
        <p:spPr>
          <a:xfrm>
            <a:off x="6473951" y="3520440"/>
            <a:ext cx="3108960" cy="548640"/>
          </a:xfrm>
          <a:prstGeom prst="rect">
            <a:avLst/>
          </a:prstGeom>
          <a:noFill/>
        </p:spPr>
        <p:txBody>
          <a:bodyPr wrap="square" anchor="ctr" lIns="0" rIns="0" tIns="0" bIns="0">
            <a:noAutofit/>
          </a:bodyPr>
          <a:lstStyle/>
          <a:p>
            <a:r>
              <a:rPr sz="1600" b="0">
                <a:solidFill>
                  <a:srgbClr val="1E1B1C"/>
                </a:solidFill>
              </a:rPr>
              <a:t>Mit zusätzlicher Birne (165 g)</a:t>
            </a:r>
          </a:p>
        </p:txBody>
      </p:sp>
      <p:sp>
        <p:nvSpPr>
          <p:cNvPr id="18" name="Ergebnis 2"/>
          <p:cNvSpPr/>
          <p:nvPr/>
        </p:nvSpPr>
        <p:spPr>
          <a:xfrm>
            <a:off x="9765792" y="3566160"/>
            <a:ext cx="1554480" cy="457200"/>
          </a:xfrm>
          <a:prstGeom prst="roundRect">
            <a:avLst>
              <a:gd name="adj" fmla="val 50000"/>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1">
                <a:solidFill>
                  <a:srgbClr val="FFFFFF"/>
                </a:solidFill>
              </a:rPr>
              <a:t>Birne</a:t>
            </a:r>
          </a:p>
        </p:txBody>
      </p:sp>
      <p:sp>
        <p:nvSpPr>
          <p:cNvPr id="19" name="Hinweis"/>
          <p:cNvSpPr txBox="1"/>
          <p:nvPr/>
        </p:nvSpPr>
        <p:spPr>
          <a:xfrm>
            <a:off x="6473951" y="4160520"/>
            <a:ext cx="4892040" cy="502920"/>
          </a:xfrm>
          <a:prstGeom prst="rect">
            <a:avLst/>
          </a:prstGeom>
          <a:noFill/>
        </p:spPr>
        <p:txBody>
          <a:bodyPr wrap="square" anchor="t" lIns="0" rIns="0" tIns="0" bIns="0">
            <a:noAutofit/>
          </a:bodyPr>
          <a:lstStyle/>
          <a:p>
            <a:r>
              <a:rPr sz="1400" b="0">
                <a:solidFill>
                  <a:srgbClr val="5A5456"/>
                </a:solidFill>
              </a:rPr>
              <a:t>nächstes Beispiel ist die neue Birne, 5 g entfernt</a:t>
            </a:r>
          </a:p>
        </p:txBody>
      </p:sp>
      <p:sp>
        <p:nvSpPr>
          <p:cNvPr id="20" name="Merksatz"/>
          <p:cNvSpPr/>
          <p:nvPr/>
        </p:nvSpPr>
        <p:spPr>
          <a:xfrm>
            <a:off x="548640" y="5074920"/>
            <a:ext cx="11091672" cy="1234440"/>
          </a:xfrm>
          <a:prstGeom prst="roundRect">
            <a:avLst>
              <a:gd name="adj" fmla="val 12000"/>
            </a:avLst>
          </a:prstGeom>
          <a:solidFill>
            <a:srgbClr val="1E1B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274320" rIns="274320">
            <a:noAutofit/>
          </a:bodyPr>
          <a:lstStyle/>
          <a:p>
            <a:pPr algn="l"/>
            <a:r>
              <a:rPr sz="1600" b="1">
                <a:solidFill>
                  <a:srgbClr val="FFFFFF"/>
                </a:solidFill>
              </a:rPr>
              <a:t>Grenze des Modells: </a:t>
            </a:r>
            <a:r>
              <a:rPr sz="1600" b="0">
                <a:solidFill>
                  <a:srgbClr val="FFFFFF"/>
                </a:solidFill>
              </a:rPr>
              <a:t>Es speichert Beispiele und vergleicht Abstände. Es trainiert keine neuronalen Gewichte. Das Experiment zeigt den Einfluss von Beispieldaten, nicht die gesamte Funktionsweise eines Sprachmodells.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Ein Gespräch ohne Verständnis?</a:t>
            </a:r>
          </a:p>
        </p:txBody>
      </p:sp>
      <p:sp>
        <p:nvSpPr>
          <p:cNvPr id="3" name="Phase"/>
          <p:cNvSpPr/>
          <p:nvPr/>
        </p:nvSpPr>
        <p:spPr>
          <a:xfrm>
            <a:off x="548640" y="347472"/>
            <a:ext cx="2889504"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4 · MIN. 34 BIS 52</a:t>
            </a:r>
          </a:p>
        </p:txBody>
      </p:sp>
      <p:sp>
        <p:nvSpPr>
          <p:cNvPr id="4" name="Auftrag"/>
          <p:cNvSpPr txBox="1"/>
          <p:nvPr/>
        </p:nvSpPr>
        <p:spPr>
          <a:xfrm>
            <a:off x="548640" y="1920240"/>
            <a:ext cx="5760720" cy="914400"/>
          </a:xfrm>
          <a:prstGeom prst="rect">
            <a:avLst/>
          </a:prstGeom>
          <a:noFill/>
        </p:spPr>
        <p:txBody>
          <a:bodyPr wrap="square" anchor="t" lIns="0" rIns="0" tIns="0" bIns="0">
            <a:noAutofit/>
          </a:bodyPr>
          <a:lstStyle/>
          <a:p>
            <a:r>
              <a:rPr sz="1600" b="0">
                <a:solidFill>
                  <a:srgbClr val="1E1B1C"/>
                </a:solidFill>
              </a:rPr>
              <a:t>Eine Person liest die Eingabe, die andere folgt ausschliesslich diesen Regeln. Die erste passende Regel gewinnt:</a:t>
            </a:r>
          </a:p>
        </p:txBody>
      </p:sp>
      <p:sp>
        <p:nvSpPr>
          <p:cNvPr id="5" name="Nummer 1"/>
          <p:cNvSpPr/>
          <p:nvPr/>
        </p:nvSpPr>
        <p:spPr>
          <a:xfrm>
            <a:off x="548640" y="3172968"/>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1</a:t>
            </a:r>
          </a:p>
        </p:txBody>
      </p:sp>
      <p:sp>
        <p:nvSpPr>
          <p:cNvPr id="6" name="Schritt 1"/>
          <p:cNvSpPr txBox="1"/>
          <p:nvPr/>
        </p:nvSpPr>
        <p:spPr>
          <a:xfrm>
            <a:off x="1133856" y="3017520"/>
            <a:ext cx="5175504" cy="731520"/>
          </a:xfrm>
          <a:prstGeom prst="rect">
            <a:avLst/>
          </a:prstGeom>
          <a:noFill/>
        </p:spPr>
        <p:txBody>
          <a:bodyPr wrap="square" anchor="ctr" lIns="0" rIns="0" tIns="0" bIns="0">
            <a:noAutofit/>
          </a:bodyPr>
          <a:lstStyle/>
          <a:p>
            <a:r>
              <a:rPr sz="1600" b="0">
                <a:solidFill>
                  <a:srgbClr val="1E1B1C"/>
                </a:solidFill>
              </a:rPr>
              <a:t>«Schule» enthalten → «Wie fühlst du dich in der Schule?»</a:t>
            </a:r>
          </a:p>
        </p:txBody>
      </p:sp>
      <p:sp>
        <p:nvSpPr>
          <p:cNvPr id="7" name="Nummer 2"/>
          <p:cNvSpPr/>
          <p:nvPr/>
        </p:nvSpPr>
        <p:spPr>
          <a:xfrm>
            <a:off x="548640" y="3904487"/>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2</a:t>
            </a:r>
          </a:p>
        </p:txBody>
      </p:sp>
      <p:sp>
        <p:nvSpPr>
          <p:cNvPr id="8" name="Schritt 2"/>
          <p:cNvSpPr txBox="1"/>
          <p:nvPr/>
        </p:nvSpPr>
        <p:spPr>
          <a:xfrm>
            <a:off x="1133856" y="3749039"/>
            <a:ext cx="5175504" cy="731520"/>
          </a:xfrm>
          <a:prstGeom prst="rect">
            <a:avLst/>
          </a:prstGeom>
          <a:noFill/>
        </p:spPr>
        <p:txBody>
          <a:bodyPr wrap="square" anchor="ctr" lIns="0" rIns="0" tIns="0" bIns="0">
            <a:noAutofit/>
          </a:bodyPr>
          <a:lstStyle/>
          <a:p>
            <a:r>
              <a:rPr sz="1600" b="0">
                <a:solidFill>
                  <a:srgbClr val="1E1B1C"/>
                </a:solidFill>
              </a:rPr>
              <a:t>«Ich bin …» enthalten → «Warum bist du …?»</a:t>
            </a:r>
          </a:p>
        </p:txBody>
      </p:sp>
      <p:sp>
        <p:nvSpPr>
          <p:cNvPr id="9" name="Nummer 3"/>
          <p:cNvSpPr/>
          <p:nvPr/>
        </p:nvSpPr>
        <p:spPr>
          <a:xfrm>
            <a:off x="548640" y="4636008"/>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3</a:t>
            </a:r>
          </a:p>
        </p:txBody>
      </p:sp>
      <p:sp>
        <p:nvSpPr>
          <p:cNvPr id="10" name="Schritt 3"/>
          <p:cNvSpPr txBox="1"/>
          <p:nvPr/>
        </p:nvSpPr>
        <p:spPr>
          <a:xfrm>
            <a:off x="1133856" y="4480560"/>
            <a:ext cx="5175504" cy="731520"/>
          </a:xfrm>
          <a:prstGeom prst="rect">
            <a:avLst/>
          </a:prstGeom>
          <a:noFill/>
        </p:spPr>
        <p:txBody>
          <a:bodyPr wrap="square" anchor="ctr" lIns="0" rIns="0" tIns="0" bIns="0">
            <a:noAutofit/>
          </a:bodyPr>
          <a:lstStyle/>
          <a:p>
            <a:r>
              <a:rPr sz="1600" b="0">
                <a:solidFill>
                  <a:srgbClr val="1E1B1C"/>
                </a:solidFill>
              </a:rPr>
              <a:t>Sonst → «Erzähl mir mehr darüber.»</a:t>
            </a:r>
          </a:p>
        </p:txBody>
      </p:sp>
      <p:sp>
        <p:nvSpPr>
          <p:cNvPr id="11" name="Frage"/>
          <p:cNvSpPr txBox="1"/>
          <p:nvPr/>
        </p:nvSpPr>
        <p:spPr>
          <a:xfrm>
            <a:off x="548640" y="5349240"/>
            <a:ext cx="5760720" cy="822960"/>
          </a:xfrm>
          <a:prstGeom prst="rect">
            <a:avLst/>
          </a:prstGeom>
          <a:noFill/>
        </p:spPr>
        <p:txBody>
          <a:bodyPr wrap="square" anchor="t" lIns="0" rIns="0" tIns="0" bIns="0">
            <a:noAutofit/>
          </a:bodyPr>
          <a:lstStyle/>
          <a:p>
            <a:r>
              <a:rPr sz="1700" b="0" i="1">
                <a:solidFill>
                  <a:srgbClr val="1E1B1C"/>
                </a:solidFill>
              </a:rPr>
              <a:t>Welche Antwort wirkt passend, obwohl das System nur Regeln abarbeitet?</a:t>
            </a:r>
          </a:p>
        </p:txBody>
      </p:sp>
      <p:sp>
        <p:nvSpPr>
          <p:cNvPr id="12"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3" name="Eingabe 1"/>
          <p:cNvSpPr/>
          <p:nvPr/>
        </p:nvSpPr>
        <p:spPr>
          <a:xfrm>
            <a:off x="7269480" y="960120"/>
            <a:ext cx="3017520" cy="548640"/>
          </a:xfrm>
          <a:prstGeom prst="roundRect">
            <a:avLst>
              <a:gd name="adj" fmla="val 4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500" b="0">
                <a:solidFill>
                  <a:srgbClr val="1E1B1C"/>
                </a:solidFill>
              </a:rPr>
              <a:t>Ich bin müde.</a:t>
            </a:r>
          </a:p>
        </p:txBody>
      </p:sp>
      <p:sp>
        <p:nvSpPr>
          <p:cNvPr id="14" name="Antwort 1"/>
          <p:cNvSpPr/>
          <p:nvPr/>
        </p:nvSpPr>
        <p:spPr>
          <a:xfrm>
            <a:off x="8229600" y="1618488"/>
            <a:ext cx="3200400" cy="548640"/>
          </a:xfrm>
          <a:prstGeom prst="roundRect">
            <a:avLst>
              <a:gd name="adj" fmla="val 4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500" b="0">
                <a:solidFill>
                  <a:srgbClr val="1E1B1C"/>
                </a:solidFill>
              </a:rPr>
              <a:t>Warum bist du müde?</a:t>
            </a:r>
          </a:p>
        </p:txBody>
      </p:sp>
      <p:sp>
        <p:nvSpPr>
          <p:cNvPr id="15" name="Eingabe 2"/>
          <p:cNvSpPr/>
          <p:nvPr/>
        </p:nvSpPr>
        <p:spPr>
          <a:xfrm>
            <a:off x="7269480" y="2514600"/>
            <a:ext cx="3017520" cy="548640"/>
          </a:xfrm>
          <a:prstGeom prst="roundRect">
            <a:avLst>
              <a:gd name="adj" fmla="val 4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500" b="0">
                <a:solidFill>
                  <a:srgbClr val="1E1B1C"/>
                </a:solidFill>
              </a:rPr>
              <a:t>Schule ist anstrengend.</a:t>
            </a:r>
          </a:p>
        </p:txBody>
      </p:sp>
      <p:sp>
        <p:nvSpPr>
          <p:cNvPr id="16" name="Antwort 2"/>
          <p:cNvSpPr/>
          <p:nvPr/>
        </p:nvSpPr>
        <p:spPr>
          <a:xfrm>
            <a:off x="8229600" y="3172968"/>
            <a:ext cx="3200400" cy="548640"/>
          </a:xfrm>
          <a:prstGeom prst="roundRect">
            <a:avLst>
              <a:gd name="adj" fmla="val 4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500" b="0">
                <a:solidFill>
                  <a:srgbClr val="1E1B1C"/>
                </a:solidFill>
              </a:rPr>
              <a:t>Wie fühlst du dich in der Schule?</a:t>
            </a:r>
          </a:p>
        </p:txBody>
      </p:sp>
      <p:sp>
        <p:nvSpPr>
          <p:cNvPr id="17" name="Eingabe 3"/>
          <p:cNvSpPr/>
          <p:nvPr/>
        </p:nvSpPr>
        <p:spPr>
          <a:xfrm>
            <a:off x="7269480" y="4069080"/>
            <a:ext cx="3017520" cy="548640"/>
          </a:xfrm>
          <a:prstGeom prst="roundRect">
            <a:avLst>
              <a:gd name="adj" fmla="val 4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500" b="0">
                <a:solidFill>
                  <a:srgbClr val="1E1B1C"/>
                </a:solidFill>
              </a:rPr>
              <a:t>Wir haben heute Mathe.</a:t>
            </a:r>
          </a:p>
        </p:txBody>
      </p:sp>
      <p:sp>
        <p:nvSpPr>
          <p:cNvPr id="18" name="Antwort 3"/>
          <p:cNvSpPr/>
          <p:nvPr/>
        </p:nvSpPr>
        <p:spPr>
          <a:xfrm>
            <a:off x="8229600" y="4727448"/>
            <a:ext cx="3200400" cy="548640"/>
          </a:xfrm>
          <a:prstGeom prst="roundRect">
            <a:avLst>
              <a:gd name="adj" fmla="val 4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500" b="0">
                <a:solidFill>
                  <a:srgbClr val="1E1B1C"/>
                </a:solidFill>
              </a:rPr>
              <a:t>Erzähl mir mehr darüber.</a:t>
            </a:r>
          </a:p>
        </p:txBody>
      </p:sp>
      <p:sp>
        <p:nvSpPr>
          <p:cNvPr id="19" name="Legende"/>
          <p:cNvSpPr txBox="1"/>
          <p:nvPr/>
        </p:nvSpPr>
        <p:spPr>
          <a:xfrm>
            <a:off x="7269480" y="5577840"/>
            <a:ext cx="4160520" cy="365760"/>
          </a:xfrm>
          <a:prstGeom prst="rect">
            <a:avLst/>
          </a:prstGeom>
          <a:noFill/>
        </p:spPr>
        <p:txBody>
          <a:bodyPr wrap="square" anchor="t" lIns="0" rIns="0" tIns="0" bIns="0">
            <a:noAutofit/>
          </a:bodyPr>
          <a:lstStyle/>
          <a:p>
            <a:r>
              <a:rPr sz="1200" b="1">
                <a:solidFill>
                  <a:srgbClr val="5A5456"/>
                </a:solidFill>
              </a:rPr>
              <a:t>Grau</a:t>
            </a:r>
            <a:r>
              <a:rPr sz="1200" b="0">
                <a:solidFill>
                  <a:srgbClr val="5A5456"/>
                </a:solidFill>
              </a:rPr>
              <a:t>: Eingabe     </a:t>
            </a:r>
            <a:r>
              <a:rPr sz="1200" b="1">
                <a:solidFill>
                  <a:srgbClr val="5A5456"/>
                </a:solidFill>
              </a:rPr>
              <a:t>Gelb</a:t>
            </a:r>
            <a:r>
              <a:rPr sz="1200" b="0">
                <a:solidFill>
                  <a:srgbClr val="5A5456"/>
                </a:solidFill>
              </a:rPr>
              <a:t>: Regelantwort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Wir setzen einen Satz fort</a:t>
            </a:r>
          </a:p>
        </p:txBody>
      </p:sp>
      <p:sp>
        <p:nvSpPr>
          <p:cNvPr id="3" name="Phase"/>
          <p:cNvSpPr/>
          <p:nvPr/>
        </p:nvSpPr>
        <p:spPr>
          <a:xfrm>
            <a:off x="548640" y="347472"/>
            <a:ext cx="2889504"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4 · MIN. 34 BIS 52</a:t>
            </a:r>
          </a:p>
        </p:txBody>
      </p:sp>
      <p:sp>
        <p:nvSpPr>
          <p:cNvPr id="4" name="Auftrag"/>
          <p:cNvSpPr txBox="1"/>
          <p:nvPr/>
        </p:nvSpPr>
        <p:spPr>
          <a:xfrm>
            <a:off x="548640" y="1965960"/>
            <a:ext cx="5760720" cy="1371600"/>
          </a:xfrm>
          <a:prstGeom prst="rect">
            <a:avLst/>
          </a:prstGeom>
          <a:noFill/>
        </p:spPr>
        <p:txBody>
          <a:bodyPr wrap="square" anchor="t" lIns="0" rIns="0" tIns="0" bIns="0">
            <a:noAutofit/>
          </a:bodyPr>
          <a:lstStyle/>
          <a:p>
            <a:r>
              <a:rPr sz="2000" b="1">
                <a:solidFill>
                  <a:srgbClr val="1E1B1C"/>
                </a:solidFill>
              </a:rPr>
              <a:t>Schreibt unabhängig voneinander ein passendes Wort zu den Satzanfängen auf.</a:t>
            </a:r>
          </a:p>
        </p:txBody>
      </p:sp>
      <p:sp>
        <p:nvSpPr>
          <p:cNvPr id="5" name="Weiteres Vorgehen"/>
          <p:cNvSpPr txBox="1"/>
          <p:nvPr/>
        </p:nvSpPr>
        <p:spPr>
          <a:xfrm>
            <a:off x="548640" y="3429000"/>
            <a:ext cx="5760720" cy="2743200"/>
          </a:xfrm>
          <a:prstGeom prst="rect">
            <a:avLst/>
          </a:prstGeom>
          <a:noFill/>
        </p:spPr>
        <p:txBody>
          <a:bodyPr wrap="square" anchor="t" lIns="0" rIns="0" tIns="0" bIns="0">
            <a:noAutofit/>
          </a:bodyPr>
          <a:lstStyle/>
          <a:p>
            <a:pPr marL="201168" indent="-201168">
              <a:spcAft>
                <a:spcPts val="1000"/>
              </a:spcAft>
              <a:buFont typeface="Arial"/>
              <a:buChar char="•"/>
            </a:pPr>
            <a:r>
              <a:rPr sz="1900" b="0">
                <a:solidFill>
                  <a:srgbClr val="1E1B1C"/>
                </a:solidFill>
              </a:rPr>
              <a:t>Vergleicht eure Ideen. Wo stimmen sie überein, wo nicht?</a:t>
            </a:r>
          </a:p>
          <a:p>
            <a:pPr marL="201168" indent="-201168">
              <a:buFont typeface="Arial"/>
              <a:buChar char="•"/>
            </a:pPr>
            <a:r>
              <a:rPr sz="1900" b="0">
                <a:solidFill>
                  <a:srgbClr val="1E1B1C"/>
                </a:solidFill>
              </a:rPr>
              <a:t>Danach bedient ihr zu zweit die Token-Simulation in der Lernumgebung, Kapitel 3.</a:t>
            </a:r>
          </a:p>
        </p:txBody>
      </p:sp>
      <p:sp>
        <p:nvSpPr>
          <p:cNvPr id="6"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7" name="Satzanfang 1"/>
          <p:cNvSpPr/>
          <p:nvPr/>
        </p:nvSpPr>
        <p:spPr>
          <a:xfrm>
            <a:off x="7269480" y="914400"/>
            <a:ext cx="4160520" cy="1097280"/>
          </a:xfrm>
          <a:prstGeom prst="roundRect">
            <a:avLst>
              <a:gd name="adj" fmla="val 15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noAutofit/>
          </a:bodyPr>
          <a:lstStyle/>
          <a:p>
            <a:pPr algn="l"/>
            <a:r>
              <a:rPr sz="1800" b="0">
                <a:solidFill>
                  <a:srgbClr val="1E1B1C"/>
                </a:solidFill>
              </a:rPr>
              <a:t>Die Hauptstadt der Schweiz ist </a:t>
            </a:r>
            <a:r>
              <a:rPr sz="1800" b="1">
                <a:solidFill>
                  <a:srgbClr val="2F6A9E"/>
                </a:solidFill>
              </a:rPr>
              <a:t>…</a:t>
            </a:r>
          </a:p>
        </p:txBody>
      </p:sp>
      <p:sp>
        <p:nvSpPr>
          <p:cNvPr id="8" name="Satzanfang 2"/>
          <p:cNvSpPr/>
          <p:nvPr/>
        </p:nvSpPr>
        <p:spPr>
          <a:xfrm>
            <a:off x="7269480" y="2194560"/>
            <a:ext cx="4160520" cy="1097280"/>
          </a:xfrm>
          <a:prstGeom prst="roundRect">
            <a:avLst>
              <a:gd name="adj" fmla="val 15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noAutofit/>
          </a:bodyPr>
          <a:lstStyle/>
          <a:p>
            <a:pPr algn="l"/>
            <a:r>
              <a:rPr sz="1800" b="0">
                <a:solidFill>
                  <a:srgbClr val="1E1B1C"/>
                </a:solidFill>
              </a:rPr>
              <a:t>Es war einmal ein </a:t>
            </a:r>
            <a:r>
              <a:rPr sz="1800" b="1">
                <a:solidFill>
                  <a:srgbClr val="2F6A9E"/>
                </a:solidFill>
              </a:rPr>
              <a:t>…</a:t>
            </a:r>
          </a:p>
        </p:txBody>
      </p:sp>
      <p:sp>
        <p:nvSpPr>
          <p:cNvPr id="9" name="Satzanfang 3"/>
          <p:cNvSpPr/>
          <p:nvPr/>
        </p:nvSpPr>
        <p:spPr>
          <a:xfrm>
            <a:off x="7269480" y="3474720"/>
            <a:ext cx="4160520" cy="1097280"/>
          </a:xfrm>
          <a:prstGeom prst="roundRect">
            <a:avLst>
              <a:gd name="adj" fmla="val 15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noAutofit/>
          </a:bodyPr>
          <a:lstStyle/>
          <a:p>
            <a:pPr algn="l"/>
            <a:r>
              <a:rPr sz="1800" b="0">
                <a:solidFill>
                  <a:srgbClr val="1E1B1C"/>
                </a:solidFill>
              </a:rPr>
              <a:t>Zum Frühstück esse ich gerne </a:t>
            </a:r>
            <a:r>
              <a:rPr sz="1800" b="1">
                <a:solidFill>
                  <a:srgbClr val="2F6A9E"/>
                </a:solidFill>
              </a:rPr>
              <a:t>…</a:t>
            </a:r>
          </a:p>
        </p:txBody>
      </p:sp>
      <p:sp>
        <p:nvSpPr>
          <p:cNvPr id="10" name="Satzanfang 4"/>
          <p:cNvSpPr/>
          <p:nvPr/>
        </p:nvSpPr>
        <p:spPr>
          <a:xfrm>
            <a:off x="7269480" y="4754879"/>
            <a:ext cx="4160520" cy="1097280"/>
          </a:xfrm>
          <a:prstGeom prst="roundRect">
            <a:avLst>
              <a:gd name="adj" fmla="val 15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noAutofit/>
          </a:bodyPr>
          <a:lstStyle/>
          <a:p>
            <a:pPr algn="l"/>
            <a:r>
              <a:rPr sz="1800" b="0">
                <a:solidFill>
                  <a:srgbClr val="1E1B1C"/>
                </a:solidFill>
              </a:rPr>
              <a:t>Als ich heute Morgen die Tür öffnete </a:t>
            </a:r>
            <a:r>
              <a:rPr sz="1800" b="1">
                <a:solidFill>
                  <a:srgbClr val="2F6A9E"/>
                </a:solidFil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Das nächste Wort wird gewählt</a:t>
            </a:r>
          </a:p>
        </p:txBody>
      </p:sp>
      <p:sp>
        <p:nvSpPr>
          <p:cNvPr id="3" name="Phase"/>
          <p:cNvSpPr/>
          <p:nvPr/>
        </p:nvSpPr>
        <p:spPr>
          <a:xfrm>
            <a:off x="548640" y="347472"/>
            <a:ext cx="2889504"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4 · MIN. 34 BIS 52</a:t>
            </a:r>
          </a:p>
        </p:txBody>
      </p:sp>
      <p:sp>
        <p:nvSpPr>
          <p:cNvPr id="4" name="Ablauf"/>
          <p:cNvSpPr txBox="1"/>
          <p:nvPr/>
        </p:nvSpPr>
        <p:spPr>
          <a:xfrm>
            <a:off x="548640" y="1920240"/>
            <a:ext cx="5760720" cy="2286000"/>
          </a:xfrm>
          <a:prstGeom prst="rect">
            <a:avLst/>
          </a:prstGeom>
          <a:noFill/>
        </p:spPr>
        <p:txBody>
          <a:bodyPr wrap="square" anchor="t" lIns="0" rIns="0" tIns="0" bIns="0">
            <a:noAutofit/>
          </a:bodyPr>
          <a:lstStyle/>
          <a:p>
            <a:pPr marL="201168" indent="-201168">
              <a:spcAft>
                <a:spcPts val="800"/>
              </a:spcAft>
              <a:buFont typeface="Arial"/>
              <a:buChar char="•"/>
            </a:pPr>
            <a:r>
              <a:rPr sz="1600" b="0">
                <a:solidFill>
                  <a:srgbClr val="1E1B1C"/>
                </a:solidFill>
              </a:rPr>
              <a:t>Für jeden Satzanfang gibt es mehrere mögliche Fortsetzungen mit unterschiedlichem Gewicht.</a:t>
            </a:r>
          </a:p>
          <a:p>
            <a:pPr marL="201168" indent="-201168">
              <a:spcAft>
                <a:spcPts val="800"/>
              </a:spcAft>
              <a:buFont typeface="Arial"/>
              <a:buChar char="•"/>
            </a:pPr>
            <a:r>
              <a:rPr sz="1600" b="0">
                <a:solidFill>
                  <a:srgbClr val="1E1B1C"/>
                </a:solidFill>
              </a:rPr>
              <a:t>Ein Baustein wird gewählt: zufällig nach der Verteilung oder immer der wahrscheinlichste.</a:t>
            </a:r>
          </a:p>
          <a:p>
            <a:pPr marL="201168" indent="-201168">
              <a:buFont typeface="Arial"/>
              <a:buChar char="•"/>
            </a:pPr>
            <a:r>
              <a:rPr sz="1600" b="0">
                <a:solidFill>
                  <a:srgbClr val="1E1B1C"/>
                </a:solidFill>
              </a:rPr>
              <a:t>Er wird angehängt, dann beginnt die nächste Runde mit neuem Kontext.</a:t>
            </a:r>
          </a:p>
        </p:txBody>
      </p:sp>
      <p:sp>
        <p:nvSpPr>
          <p:cNvPr id="5" name="Besprechen"/>
          <p:cNvSpPr/>
          <p:nvPr/>
        </p:nvSpPr>
        <p:spPr>
          <a:xfrm>
            <a:off x="548640" y="4343400"/>
            <a:ext cx="5760720" cy="1417320"/>
          </a:xfrm>
          <a:prstGeom prst="roundRect">
            <a:avLst>
              <a:gd name="adj" fmla="val 8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6" name="Reflexion"/>
          <p:cNvSpPr txBox="1"/>
          <p:nvPr/>
        </p:nvSpPr>
        <p:spPr>
          <a:xfrm>
            <a:off x="822960" y="4480560"/>
            <a:ext cx="5212080" cy="1188720"/>
          </a:xfrm>
          <a:prstGeom prst="rect">
            <a:avLst/>
          </a:prstGeom>
          <a:noFill/>
        </p:spPr>
        <p:txBody>
          <a:bodyPr wrap="square" anchor="t" lIns="0" rIns="0" tIns="0" bIns="0">
            <a:noAutofit/>
          </a:bodyPr>
          <a:lstStyle/>
          <a:p>
            <a:pPr>
              <a:spcAft>
                <a:spcPts val="400"/>
              </a:spcAft>
            </a:pPr>
            <a:r>
              <a:rPr sz="1600" b="1">
                <a:solidFill>
                  <a:srgbClr val="1E1B1C"/>
                </a:solidFill>
              </a:rPr>
              <a:t>Besprecht zu zweit</a:t>
            </a:r>
          </a:p>
          <a:p>
            <a:r>
              <a:rPr sz="1600" b="0">
                <a:solidFill>
                  <a:srgbClr val="1E1B1C"/>
                </a:solidFill>
              </a:rPr>
              <a:t>Warum unterscheiden sich Fortsetzungen? Warum kann auch eine falsche Fortsetzung erscheinen?</a:t>
            </a:r>
          </a:p>
        </p:txBody>
      </p:sp>
      <p:sp>
        <p:nvSpPr>
          <p:cNvPr id="7"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Diagrammtitel"/>
          <p:cNvSpPr txBox="1"/>
          <p:nvPr/>
        </p:nvSpPr>
        <p:spPr>
          <a:xfrm>
            <a:off x="7269480" y="896112"/>
            <a:ext cx="4160520" cy="640080"/>
          </a:xfrm>
          <a:prstGeom prst="rect">
            <a:avLst/>
          </a:prstGeom>
          <a:noFill/>
        </p:spPr>
        <p:txBody>
          <a:bodyPr wrap="square" anchor="t" lIns="0" rIns="0" tIns="0" bIns="0">
            <a:noAutofit/>
          </a:bodyPr>
          <a:lstStyle/>
          <a:p>
            <a:r>
              <a:rPr sz="1600" b="1">
                <a:solidFill>
                  <a:srgbClr val="1E1B1C"/>
                </a:solidFill>
              </a:rPr>
              <a:t>«Die Hauptstadt der Schweiz ist …»</a:t>
            </a:r>
          </a:p>
        </p:txBody>
      </p:sp>
      <p:graphicFrame>
        <p:nvGraphicFramePr>
          <p:cNvPr id="9" name="Diagramm Fortsetzungen" descr="Säulendiagramm mit erfundenen Beispielwerten: Bern 70 Prozent, Zürich 20 Prozent, Genf 10 Prozent"/>
          <p:cNvGraphicFramePr>
            <a:graphicFrameLocks noGrp="1"/>
          </p:cNvGraphicFramePr>
          <p:nvPr/>
        </p:nvGraphicFramePr>
        <p:xfrm>
          <a:off x="7223760" y="1371600"/>
          <a:ext cx="4251960" cy="3566160"/>
        </p:xfrm>
        <a:graphic>
          <a:graphicData uri="http://schemas.openxmlformats.org/drawingml/2006/chart">
            <c:chart xmlns:c="http://schemas.openxmlformats.org/drawingml/2006/chart" r:id="rId2"/>
          </a:graphicData>
        </a:graphic>
      </p:graphicFrame>
      <p:sp>
        <p:nvSpPr>
          <p:cNvPr id="10" name="Hinweis"/>
          <p:cNvSpPr txBox="1"/>
          <p:nvPr/>
        </p:nvSpPr>
        <p:spPr>
          <a:xfrm>
            <a:off x="7269480" y="5029200"/>
            <a:ext cx="4160520" cy="914400"/>
          </a:xfrm>
          <a:prstGeom prst="rect">
            <a:avLst/>
          </a:prstGeom>
          <a:noFill/>
        </p:spPr>
        <p:txBody>
          <a:bodyPr wrap="square" anchor="t" lIns="0" rIns="0" tIns="0" bIns="0">
            <a:noAutofit/>
          </a:bodyPr>
          <a:lstStyle/>
          <a:p>
            <a:r>
              <a:rPr sz="1300" b="1">
                <a:solidFill>
                  <a:srgbClr val="5A5456"/>
                </a:solidFill>
              </a:rPr>
              <a:t>Didaktische Simulation, kein Sprachmodell: </a:t>
            </a:r>
            <a:r>
              <a:rPr sz="1300" b="0">
                <a:solidFill>
                  <a:srgbClr val="5A5456"/>
                </a:solidFill>
              </a:rPr>
              <a:t>Die Werte sind erfunden und von Hand festgelegt.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Training und Nutzung sind zwei Prozesse</a:t>
            </a:r>
          </a:p>
        </p:txBody>
      </p:sp>
      <p:sp>
        <p:nvSpPr>
          <p:cNvPr id="3" name="Phase"/>
          <p:cNvSpPr/>
          <p:nvPr/>
        </p:nvSpPr>
        <p:spPr>
          <a:xfrm>
            <a:off x="548640" y="347472"/>
            <a:ext cx="246888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4 · EINORDNUNG</a:t>
            </a:r>
          </a:p>
        </p:txBody>
      </p:sp>
      <p:sp>
        <p:nvSpPr>
          <p:cNvPr id="4" name="Karte Training"/>
          <p:cNvSpPr/>
          <p:nvPr/>
        </p:nvSpPr>
        <p:spPr>
          <a:xfrm>
            <a:off x="548640" y="1600200"/>
            <a:ext cx="5440680" cy="3337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Prozess"/>
          <p:cNvSpPr/>
          <p:nvPr/>
        </p:nvSpPr>
        <p:spPr>
          <a:xfrm>
            <a:off x="822959" y="1783080"/>
            <a:ext cx="1737360" cy="365760"/>
          </a:xfrm>
          <a:prstGeom prst="roundRect">
            <a:avLst>
              <a:gd name="adj" fmla="val 50000"/>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600" b="1">
                <a:solidFill>
                  <a:srgbClr val="FFFFFF"/>
                </a:solidFill>
              </a:rPr>
              <a:t>Training</a:t>
            </a:r>
          </a:p>
        </p:txBody>
      </p:sp>
      <p:sp>
        <p:nvSpPr>
          <p:cNvPr id="6" name="Schritt 1"/>
          <p:cNvSpPr/>
          <p:nvPr/>
        </p:nvSpPr>
        <p:spPr>
          <a:xfrm>
            <a:off x="822959" y="2331720"/>
            <a:ext cx="4892040" cy="420624"/>
          </a:xfrm>
          <a:prstGeom prst="roundRect">
            <a:avLst>
              <a:gd name="adj" fmla="val 3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1">
                <a:solidFill>
                  <a:srgbClr val="1E1B1C"/>
                </a:solidFill>
              </a:rPr>
              <a:t>Trainingsdaten</a:t>
            </a:r>
          </a:p>
        </p:txBody>
      </p:sp>
      <p:sp>
        <p:nvSpPr>
          <p:cNvPr id="7" name="Pfeil"/>
          <p:cNvSpPr/>
          <p:nvPr/>
        </p:nvSpPr>
        <p:spPr>
          <a:xfrm>
            <a:off x="3154680" y="2761487"/>
            <a:ext cx="228600" cy="128016"/>
          </a:xfrm>
          <a:prstGeom prst="downArrow">
            <a:avLst/>
          </a:prstGeom>
          <a:solidFill>
            <a:srgbClr val="5A54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Schritt 2"/>
          <p:cNvSpPr/>
          <p:nvPr/>
        </p:nvSpPr>
        <p:spPr>
          <a:xfrm>
            <a:off x="822959" y="2898648"/>
            <a:ext cx="4892040" cy="420624"/>
          </a:xfrm>
          <a:prstGeom prst="roundRect">
            <a:avLst>
              <a:gd name="adj" fmla="val 3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1">
                <a:solidFill>
                  <a:srgbClr val="1E1B1C"/>
                </a:solidFill>
              </a:rPr>
              <a:t>Lernverfahren</a:t>
            </a:r>
          </a:p>
        </p:txBody>
      </p:sp>
      <p:sp>
        <p:nvSpPr>
          <p:cNvPr id="9" name="Pfeil"/>
          <p:cNvSpPr/>
          <p:nvPr/>
        </p:nvSpPr>
        <p:spPr>
          <a:xfrm>
            <a:off x="3154680" y="3328415"/>
            <a:ext cx="228600" cy="128016"/>
          </a:xfrm>
          <a:prstGeom prst="downArrow">
            <a:avLst/>
          </a:prstGeom>
          <a:solidFill>
            <a:srgbClr val="5A54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0" name="Schritt 3"/>
          <p:cNvSpPr/>
          <p:nvPr/>
        </p:nvSpPr>
        <p:spPr>
          <a:xfrm>
            <a:off x="822959" y="3465576"/>
            <a:ext cx="4892040" cy="420624"/>
          </a:xfrm>
          <a:prstGeom prst="roundRect">
            <a:avLst>
              <a:gd name="adj" fmla="val 3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1">
                <a:solidFill>
                  <a:srgbClr val="1E1B1C"/>
                </a:solidFill>
              </a:rPr>
              <a:t>Modellparameter</a:t>
            </a:r>
          </a:p>
        </p:txBody>
      </p:sp>
      <p:sp>
        <p:nvSpPr>
          <p:cNvPr id="11" name="Zeitpunkt"/>
          <p:cNvSpPr txBox="1"/>
          <p:nvPr/>
        </p:nvSpPr>
        <p:spPr>
          <a:xfrm>
            <a:off x="822959" y="4526280"/>
            <a:ext cx="4892040" cy="320040"/>
          </a:xfrm>
          <a:prstGeom prst="rect">
            <a:avLst/>
          </a:prstGeom>
          <a:noFill/>
        </p:spPr>
        <p:txBody>
          <a:bodyPr wrap="square" anchor="t" lIns="0" rIns="0" tIns="0" bIns="0">
            <a:noAutofit/>
          </a:bodyPr>
          <a:lstStyle/>
          <a:p>
            <a:r>
              <a:rPr sz="1300" b="0">
                <a:solidFill>
                  <a:srgbClr val="5A5456"/>
                </a:solidFill>
              </a:rPr>
              <a:t>Findet vor der Nutzung statt.</a:t>
            </a:r>
          </a:p>
        </p:txBody>
      </p:sp>
      <p:sp>
        <p:nvSpPr>
          <p:cNvPr id="12" name="Karte Nutzung"/>
          <p:cNvSpPr/>
          <p:nvPr/>
        </p:nvSpPr>
        <p:spPr>
          <a:xfrm>
            <a:off x="6199631" y="1600200"/>
            <a:ext cx="5440680" cy="3337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3" name="Prozess"/>
          <p:cNvSpPr/>
          <p:nvPr/>
        </p:nvSpPr>
        <p:spPr>
          <a:xfrm>
            <a:off x="6473951" y="1783080"/>
            <a:ext cx="1737360" cy="365760"/>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600" b="1">
                <a:solidFill>
                  <a:srgbClr val="1E1B1C"/>
                </a:solidFill>
              </a:rPr>
              <a:t>Nutzung</a:t>
            </a:r>
          </a:p>
        </p:txBody>
      </p:sp>
      <p:sp>
        <p:nvSpPr>
          <p:cNvPr id="14" name="Schritt 1"/>
          <p:cNvSpPr/>
          <p:nvPr/>
        </p:nvSpPr>
        <p:spPr>
          <a:xfrm>
            <a:off x="6473951" y="2331720"/>
            <a:ext cx="4892040" cy="420624"/>
          </a:xfrm>
          <a:prstGeom prst="roundRect">
            <a:avLst>
              <a:gd name="adj" fmla="val 3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1">
                <a:solidFill>
                  <a:srgbClr val="1E1B1C"/>
                </a:solidFill>
              </a:rPr>
              <a:t>Modell und Prompt</a:t>
            </a:r>
          </a:p>
        </p:txBody>
      </p:sp>
      <p:sp>
        <p:nvSpPr>
          <p:cNvPr id="15" name="Pfeil"/>
          <p:cNvSpPr/>
          <p:nvPr/>
        </p:nvSpPr>
        <p:spPr>
          <a:xfrm>
            <a:off x="8805672" y="2761487"/>
            <a:ext cx="228600" cy="128016"/>
          </a:xfrm>
          <a:prstGeom prst="downArrow">
            <a:avLst/>
          </a:prstGeom>
          <a:solidFill>
            <a:srgbClr val="5A54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6" name="Schritt 2"/>
          <p:cNvSpPr/>
          <p:nvPr/>
        </p:nvSpPr>
        <p:spPr>
          <a:xfrm>
            <a:off x="6473951" y="2898648"/>
            <a:ext cx="4892040" cy="420624"/>
          </a:xfrm>
          <a:prstGeom prst="roundRect">
            <a:avLst>
              <a:gd name="adj" fmla="val 3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1">
                <a:solidFill>
                  <a:srgbClr val="1E1B1C"/>
                </a:solidFill>
              </a:rPr>
              <a:t>Verteilung möglicher Token</a:t>
            </a:r>
          </a:p>
        </p:txBody>
      </p:sp>
      <p:sp>
        <p:nvSpPr>
          <p:cNvPr id="17" name="Pfeil"/>
          <p:cNvSpPr/>
          <p:nvPr/>
        </p:nvSpPr>
        <p:spPr>
          <a:xfrm>
            <a:off x="8805672" y="3328415"/>
            <a:ext cx="228600" cy="128016"/>
          </a:xfrm>
          <a:prstGeom prst="downArrow">
            <a:avLst/>
          </a:prstGeom>
          <a:solidFill>
            <a:srgbClr val="5A54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8" name="Schritt 3"/>
          <p:cNvSpPr/>
          <p:nvPr/>
        </p:nvSpPr>
        <p:spPr>
          <a:xfrm>
            <a:off x="6473951" y="3465576"/>
            <a:ext cx="4892040" cy="420624"/>
          </a:xfrm>
          <a:prstGeom prst="roundRect">
            <a:avLst>
              <a:gd name="adj" fmla="val 3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1">
                <a:solidFill>
                  <a:srgbClr val="1E1B1C"/>
                </a:solidFill>
              </a:rPr>
              <a:t>Auswahl eines Tokens</a:t>
            </a:r>
          </a:p>
        </p:txBody>
      </p:sp>
      <p:sp>
        <p:nvSpPr>
          <p:cNvPr id="19" name="Pfeil"/>
          <p:cNvSpPr/>
          <p:nvPr/>
        </p:nvSpPr>
        <p:spPr>
          <a:xfrm>
            <a:off x="8805672" y="3895344"/>
            <a:ext cx="228600" cy="128016"/>
          </a:xfrm>
          <a:prstGeom prst="downArrow">
            <a:avLst/>
          </a:prstGeom>
          <a:solidFill>
            <a:srgbClr val="5A545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0" name="Schritt 4"/>
          <p:cNvSpPr/>
          <p:nvPr/>
        </p:nvSpPr>
        <p:spPr>
          <a:xfrm>
            <a:off x="6473951" y="4032504"/>
            <a:ext cx="4892040" cy="420624"/>
          </a:xfrm>
          <a:prstGeom prst="roundRect">
            <a:avLst>
              <a:gd name="adj" fmla="val 3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1">
                <a:solidFill>
                  <a:srgbClr val="1E1B1C"/>
                </a:solidFill>
              </a:rPr>
              <a:t>Neuer Kontext, dann von vorn</a:t>
            </a:r>
          </a:p>
        </p:txBody>
      </p:sp>
      <p:sp>
        <p:nvSpPr>
          <p:cNvPr id="21" name="Zeitpunkt"/>
          <p:cNvSpPr txBox="1"/>
          <p:nvPr/>
        </p:nvSpPr>
        <p:spPr>
          <a:xfrm>
            <a:off x="6473951" y="4526280"/>
            <a:ext cx="4892040" cy="320040"/>
          </a:xfrm>
          <a:prstGeom prst="rect">
            <a:avLst/>
          </a:prstGeom>
          <a:noFill/>
        </p:spPr>
        <p:txBody>
          <a:bodyPr wrap="square" anchor="t" lIns="0" rIns="0" tIns="0" bIns="0">
            <a:noAutofit/>
          </a:bodyPr>
          <a:lstStyle/>
          <a:p>
            <a:r>
              <a:rPr sz="1300" b="0">
                <a:solidFill>
                  <a:srgbClr val="5A5456"/>
                </a:solidFill>
              </a:rPr>
              <a:t>Findet bei jeder Eingabe statt.</a:t>
            </a:r>
          </a:p>
        </p:txBody>
      </p:sp>
      <p:sp>
        <p:nvSpPr>
          <p:cNvPr id="22" name="Merksatz"/>
          <p:cNvSpPr/>
          <p:nvPr/>
        </p:nvSpPr>
        <p:spPr>
          <a:xfrm>
            <a:off x="548640" y="5166360"/>
            <a:ext cx="11091672" cy="1097280"/>
          </a:xfrm>
          <a:prstGeom prst="roundRect">
            <a:avLst>
              <a:gd name="adj" fmla="val 12000"/>
            </a:avLst>
          </a:prstGeom>
          <a:solidFill>
            <a:srgbClr val="1E1B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274320" rIns="274320">
            <a:noAutofit/>
          </a:bodyPr>
          <a:lstStyle/>
          <a:p>
            <a:pPr algn="l">
              <a:spcAft>
                <a:spcPts val="400"/>
              </a:spcAft>
            </a:pPr>
            <a:r>
              <a:rPr sz="1800" b="1">
                <a:solidFill>
                  <a:srgbClr val="FFFFFF"/>
                </a:solidFill>
              </a:rPr>
              <a:t>Plausibel bedeutet nicht automatisch wahr.</a:t>
            </a:r>
          </a:p>
          <a:p>
            <a:pPr algn="l"/>
            <a:r>
              <a:rPr sz="1800" b="0">
                <a:solidFill>
                  <a:srgbClr val="FFFFFF"/>
                </a:solidFill>
              </a:rPr>
              <a:t>Eine neue Eingabe verändert den Kontext, sie trainiert das Modell nicht neu.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Was folgt aus den Experimenten?</a:t>
            </a:r>
          </a:p>
        </p:txBody>
      </p:sp>
      <p:sp>
        <p:nvSpPr>
          <p:cNvPr id="3" name="Phase"/>
          <p:cNvSpPr/>
          <p:nvPr/>
        </p:nvSpPr>
        <p:spPr>
          <a:xfrm>
            <a:off x="548640" y="347472"/>
            <a:ext cx="2889504"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5 · MIN. 52 BIS 58</a:t>
            </a:r>
          </a:p>
        </p:txBody>
      </p:sp>
      <p:sp>
        <p:nvSpPr>
          <p:cNvPr id="4" name="Auftrag"/>
          <p:cNvSpPr txBox="1"/>
          <p:nvPr/>
        </p:nvSpPr>
        <p:spPr>
          <a:xfrm>
            <a:off x="548640" y="1965960"/>
            <a:ext cx="5760720" cy="1737360"/>
          </a:xfrm>
          <a:prstGeom prst="rect">
            <a:avLst/>
          </a:prstGeom>
          <a:noFill/>
        </p:spPr>
        <p:txBody>
          <a:bodyPr wrap="square" anchor="t" lIns="0" rIns="0" tIns="0" bIns="0">
            <a:noAutofit/>
          </a:bodyPr>
          <a:lstStyle/>
          <a:p>
            <a:r>
              <a:rPr sz="1900" b="0">
                <a:solidFill>
                  <a:srgbClr val="1E1B1C"/>
                </a:solidFill>
              </a:rPr>
              <a:t>Formuliert eure eigenen Gedanken und vergleicht sie zu zweit. Ergänzt jeweils ein konkretes Beispiel.</a:t>
            </a:r>
          </a:p>
        </p:txBody>
      </p:sp>
      <p:sp>
        <p:nvSpPr>
          <p:cNvPr id="5" name="Plenum"/>
          <p:cNvSpPr txBox="1"/>
          <p:nvPr/>
        </p:nvSpPr>
        <p:spPr>
          <a:xfrm>
            <a:off x="548640" y="3840480"/>
            <a:ext cx="5760720" cy="914400"/>
          </a:xfrm>
          <a:prstGeom prst="rect">
            <a:avLst/>
          </a:prstGeom>
          <a:noFill/>
        </p:spPr>
        <p:txBody>
          <a:bodyPr wrap="square" anchor="t" lIns="0" rIns="0" tIns="0" bIns="0">
            <a:noAutofit/>
          </a:bodyPr>
          <a:lstStyle/>
          <a:p>
            <a:r>
              <a:rPr sz="1700" b="0">
                <a:solidFill>
                  <a:srgbClr val="5A5456"/>
                </a:solidFill>
              </a:rPr>
              <a:t>Wir sammeln je zwei bis drei Nennungen und halten sie sichtbar fest.</a:t>
            </a:r>
          </a:p>
        </p:txBody>
      </p:sp>
      <p:sp>
        <p:nvSpPr>
          <p:cNvPr id="6"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7" name="Nummer 1"/>
          <p:cNvSpPr/>
          <p:nvPr/>
        </p:nvSpPr>
        <p:spPr>
          <a:xfrm>
            <a:off x="7315200" y="1234440"/>
            <a:ext cx="640080" cy="640080"/>
          </a:xfrm>
          <a:prstGeom prst="ellipse">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2200" b="1">
                <a:solidFill>
                  <a:srgbClr val="FFFFFF"/>
                </a:solidFill>
              </a:rPr>
              <a:t>1</a:t>
            </a:r>
          </a:p>
        </p:txBody>
      </p:sp>
      <p:sp>
        <p:nvSpPr>
          <p:cNvPr id="8" name="Satzanfang 1"/>
          <p:cNvSpPr txBox="1"/>
          <p:nvPr/>
        </p:nvSpPr>
        <p:spPr>
          <a:xfrm>
            <a:off x="8183879" y="1005840"/>
            <a:ext cx="3291840" cy="1097280"/>
          </a:xfrm>
          <a:prstGeom prst="rect">
            <a:avLst/>
          </a:prstGeom>
          <a:noFill/>
        </p:spPr>
        <p:txBody>
          <a:bodyPr wrap="square" anchor="ctr" lIns="0" rIns="0" tIns="0" bIns="0">
            <a:noAutofit/>
          </a:bodyPr>
          <a:lstStyle/>
          <a:p>
            <a:r>
              <a:rPr sz="2200" b="1">
                <a:solidFill>
                  <a:srgbClr val="1E1B1C"/>
                </a:solidFill>
              </a:rPr>
              <a:t>KI kann gut …</a:t>
            </a:r>
          </a:p>
        </p:txBody>
      </p:sp>
      <p:sp>
        <p:nvSpPr>
          <p:cNvPr id="9" name="Nummer 2"/>
          <p:cNvSpPr/>
          <p:nvPr/>
        </p:nvSpPr>
        <p:spPr>
          <a:xfrm>
            <a:off x="7315200" y="2926080"/>
            <a:ext cx="640080" cy="6400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2200" b="1">
                <a:solidFill>
                  <a:srgbClr val="1E1B1C"/>
                </a:solidFill>
              </a:rPr>
              <a:t>2</a:t>
            </a:r>
          </a:p>
        </p:txBody>
      </p:sp>
      <p:sp>
        <p:nvSpPr>
          <p:cNvPr id="10" name="Satzanfang 2"/>
          <p:cNvSpPr txBox="1"/>
          <p:nvPr/>
        </p:nvSpPr>
        <p:spPr>
          <a:xfrm>
            <a:off x="8183879" y="2697480"/>
            <a:ext cx="3291840" cy="1097280"/>
          </a:xfrm>
          <a:prstGeom prst="rect">
            <a:avLst/>
          </a:prstGeom>
          <a:noFill/>
        </p:spPr>
        <p:txBody>
          <a:bodyPr wrap="square" anchor="ctr" lIns="0" rIns="0" tIns="0" bIns="0">
            <a:noAutofit/>
          </a:bodyPr>
          <a:lstStyle/>
          <a:p>
            <a:r>
              <a:rPr sz="2200" b="1">
                <a:solidFill>
                  <a:srgbClr val="1E1B1C"/>
                </a:solidFill>
              </a:rPr>
              <a:t>KI kann nicht zuverlässig …</a:t>
            </a:r>
          </a:p>
        </p:txBody>
      </p:sp>
      <p:sp>
        <p:nvSpPr>
          <p:cNvPr id="11" name="Nummer 3"/>
          <p:cNvSpPr/>
          <p:nvPr/>
        </p:nvSpPr>
        <p:spPr>
          <a:xfrm>
            <a:off x="7315200" y="4617720"/>
            <a:ext cx="640080" cy="640080"/>
          </a:xfrm>
          <a:prstGeom prst="ellipse">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2200" b="1">
                <a:solidFill>
                  <a:srgbClr val="FFFFFF"/>
                </a:solidFill>
              </a:rPr>
              <a:t>3</a:t>
            </a:r>
          </a:p>
        </p:txBody>
      </p:sp>
      <p:sp>
        <p:nvSpPr>
          <p:cNvPr id="12" name="Satzanfang 3"/>
          <p:cNvSpPr txBox="1"/>
          <p:nvPr/>
        </p:nvSpPr>
        <p:spPr>
          <a:xfrm>
            <a:off x="8183879" y="4389120"/>
            <a:ext cx="3291840" cy="1097280"/>
          </a:xfrm>
          <a:prstGeom prst="rect">
            <a:avLst/>
          </a:prstGeom>
          <a:noFill/>
        </p:spPr>
        <p:txBody>
          <a:bodyPr wrap="square" anchor="ctr" lIns="0" rIns="0" tIns="0" bIns="0">
            <a:noAutofit/>
          </a:bodyPr>
          <a:lstStyle/>
          <a:p>
            <a:r>
              <a:rPr sz="2200" b="1">
                <a:solidFill>
                  <a:srgbClr val="1E1B1C"/>
                </a:solidFill>
              </a:rPr>
              <a:t>Deshalb muss der Mensch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p:txBody>
          <a:bodyPr/>
          <a:lstStyle/>
          <a:p>
            <a:r>
              <a:t>Pause</a:t>
            </a:r>
          </a:p>
        </p:txBody>
      </p:sp>
      <p:sp>
        <p:nvSpPr>
          <p:cNvPr id="3" name="Text Placeholder 2"/>
          <p:cNvSpPr>
            <a:spLocks noGrp="1"/>
          </p:cNvSpPr>
          <p:nvPr>
            <p:ph type="body" idx="1"/>
          </p:nvPr>
        </p:nvSpPr>
        <p:spPr>
          <a:xfrm>
            <a:off x="831850" y="4589463"/>
            <a:ext cx="4846320" cy="1500187"/>
          </a:xfrm>
        </p:spPr>
        <p:txBody>
          <a:bodyPr/>
          <a:lstStyle/>
          <a:p>
            <a:r>
              <a:rPr>
                <a:solidFill>
                  <a:srgbClr val="4A4546"/>
                </a:solidFill>
              </a:rPr>
              <a:t>8 Minuten. Zugang zu Fobizz oder Gemini jetzt öffnen.</a:t>
            </a:r>
          </a:p>
        </p:txBody>
      </p:sp>
      <p:pic>
        <p:nvPicPr>
          <p:cNvPr id="4" name="Illustration Rakete" descr="Gezeichnete Rakete mit Rauchwolke"/>
          <p:cNvPicPr>
            <a:picLocks noChangeAspect="1"/>
          </p:cNvPicPr>
          <p:nvPr/>
        </p:nvPicPr>
        <p:blipFill>
          <a:blip r:embed="rId2"/>
          <a:stretch>
            <a:fillRect/>
          </a:stretch>
        </p:blipFill>
        <p:spPr>
          <a:xfrm>
            <a:off x="6631517" y="1071033"/>
            <a:ext cx="4715933" cy="471593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Auftrag A: Kontext verändert den Output</a:t>
            </a:r>
          </a:p>
        </p:txBody>
      </p:sp>
      <p:sp>
        <p:nvSpPr>
          <p:cNvPr id="3" name="Phase"/>
          <p:cNvSpPr/>
          <p:nvPr/>
        </p:nvSpPr>
        <p:spPr>
          <a:xfrm>
            <a:off x="548640" y="347472"/>
            <a:ext cx="288950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6 · MIN. 66 BIS 82</a:t>
            </a:r>
          </a:p>
        </p:txBody>
      </p:sp>
      <p:sp>
        <p:nvSpPr>
          <p:cNvPr id="4" name="Karte A1 · wenig Kontext"/>
          <p:cNvSpPr/>
          <p:nvPr/>
        </p:nvSpPr>
        <p:spPr>
          <a:xfrm>
            <a:off x="548640" y="1600200"/>
            <a:ext cx="544068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Prompt-Etikett"/>
          <p:cNvSpPr/>
          <p:nvPr/>
        </p:nvSpPr>
        <p:spPr>
          <a:xfrm>
            <a:off x="822959" y="1801368"/>
            <a:ext cx="2377440" cy="347472"/>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A1 · wenig Kontext</a:t>
            </a:r>
          </a:p>
        </p:txBody>
      </p:sp>
      <p:sp>
        <p:nvSpPr>
          <p:cNvPr id="6" name="Prompt 1"/>
          <p:cNvSpPr/>
          <p:nvPr/>
        </p:nvSpPr>
        <p:spPr>
          <a:xfrm>
            <a:off x="822959" y="2331720"/>
            <a:ext cx="4892040" cy="1554480"/>
          </a:xfrm>
          <a:prstGeom prst="roundRect">
            <a:avLst>
              <a:gd name="adj" fmla="val 1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noAutofit/>
          </a:bodyPr>
          <a:lstStyle/>
          <a:p>
            <a:pPr algn="l"/>
            <a:r>
              <a:rPr sz="2600" b="0">
                <a:solidFill>
                  <a:srgbClr val="1E1B1C"/>
                </a:solidFill>
              </a:rPr>
              <a:t>Erkläre Photosynthese.</a:t>
            </a:r>
          </a:p>
        </p:txBody>
      </p:sp>
      <p:sp>
        <p:nvSpPr>
          <p:cNvPr id="7" name="Karte A2 · genauer Auftrag"/>
          <p:cNvSpPr/>
          <p:nvPr/>
        </p:nvSpPr>
        <p:spPr>
          <a:xfrm>
            <a:off x="6199631" y="1600200"/>
            <a:ext cx="544068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Prompt-Etikett"/>
          <p:cNvSpPr/>
          <p:nvPr/>
        </p:nvSpPr>
        <p:spPr>
          <a:xfrm>
            <a:off x="6473951" y="1801368"/>
            <a:ext cx="2377440" cy="347472"/>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A2 · genauer Auftrag</a:t>
            </a:r>
          </a:p>
        </p:txBody>
      </p:sp>
      <p:sp>
        <p:nvSpPr>
          <p:cNvPr id="9" name="Prompt 2"/>
          <p:cNvSpPr/>
          <p:nvPr/>
        </p:nvSpPr>
        <p:spPr>
          <a:xfrm>
            <a:off x="6473951" y="2331720"/>
            <a:ext cx="4892040" cy="1554480"/>
          </a:xfrm>
          <a:prstGeom prst="roundRect">
            <a:avLst>
              <a:gd name="adj" fmla="val 1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noAutofit/>
          </a:bodyPr>
          <a:lstStyle/>
          <a:p>
            <a:pPr algn="l"/>
            <a:r>
              <a:rPr sz="1800" b="0">
                <a:solidFill>
                  <a:srgbClr val="1E1B1C"/>
                </a:solidFill>
              </a:rPr>
              <a:t>Erkläre Photosynthese einem 10-jährigen Kind anhand eines Beispiels aus einer Küche. Verwende maximal 100 Wörter.</a:t>
            </a:r>
          </a:p>
        </p:txBody>
      </p:sp>
      <p:sp>
        <p:nvSpPr>
          <p:cNvPr id="10" name="Gegenüberstellung"/>
          <p:cNvSpPr/>
          <p:nvPr/>
        </p:nvSpPr>
        <p:spPr>
          <a:xfrm>
            <a:off x="5824728" y="251460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vs.</a:t>
            </a:r>
          </a:p>
        </p:txBody>
      </p:sp>
      <p:sp>
        <p:nvSpPr>
          <p:cNvPr id="11" name="Hinweise"/>
          <p:cNvSpPr/>
          <p:nvPr/>
        </p:nvSpPr>
        <p:spPr>
          <a:xfrm>
            <a:off x="548640" y="4343400"/>
            <a:ext cx="11091672"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2" name="Vorgehen"/>
          <p:cNvSpPr txBox="1"/>
          <p:nvPr/>
        </p:nvSpPr>
        <p:spPr>
          <a:xfrm>
            <a:off x="868680" y="4498848"/>
            <a:ext cx="10515600" cy="1691640"/>
          </a:xfrm>
          <a:prstGeom prst="rect">
            <a:avLst/>
          </a:prstGeom>
          <a:noFill/>
        </p:spPr>
        <p:txBody>
          <a:bodyPr wrap="square" anchor="t" lIns="0" rIns="0" tIns="0" bIns="0">
            <a:noAutofit/>
          </a:bodyPr>
          <a:lstStyle/>
          <a:p>
            <a:pPr marL="201168" indent="-201168">
              <a:spcAft>
                <a:spcPts val="600"/>
              </a:spcAft>
              <a:buFont typeface="Arial"/>
              <a:buChar char="•"/>
            </a:pPr>
            <a:r>
              <a:rPr sz="1600" b="0">
                <a:solidFill>
                  <a:srgbClr val="1E1B1C"/>
                </a:solidFill>
              </a:rPr>
              <a:t>Getrennte neue Chats mit demselben Modell, damit der Vergleich fair ist.</a:t>
            </a:r>
          </a:p>
          <a:p>
            <a:pPr marL="201168" indent="-201168">
              <a:spcAft>
                <a:spcPts val="600"/>
              </a:spcAft>
              <a:buFont typeface="Arial"/>
              <a:buChar char="•"/>
            </a:pPr>
            <a:r>
              <a:rPr sz="1600" b="0">
                <a:solidFill>
                  <a:srgbClr val="1E1B1C"/>
                </a:solidFill>
              </a:rPr>
              <a:t>Vergleicht Zielgruppe, Sprache, Länge und Analogie. Welche Eingabe hat was verändert?</a:t>
            </a:r>
          </a:p>
          <a:p>
            <a:pPr marL="201168" indent="-201168">
              <a:spcAft>
                <a:spcPts val="600"/>
              </a:spcAft>
              <a:buFont typeface="Arial"/>
              <a:buChar char="•"/>
            </a:pPr>
            <a:r>
              <a:rPr sz="1600" b="0">
                <a:solidFill>
                  <a:srgbClr val="1E1B1C"/>
                </a:solidFill>
              </a:rPr>
              <a:t>Gleiche Prompts können verschieden ausfallen. Ein Vergleich beweist keine allgemeine Wirkung.</a:t>
            </a:r>
          </a:p>
          <a:p>
            <a:pPr marL="201168" indent="-201168">
              <a:buFont typeface="Arial"/>
              <a:buChar char="•"/>
            </a:pPr>
            <a:r>
              <a:rPr sz="1600" b="1">
                <a:solidFill>
                  <a:srgbClr val="1E1B1C"/>
                </a:solidFill>
              </a:rPr>
              <a:t>Keine personenbezogenen Schülerdaten eingeben.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Aufträge B und C: prüfen und vergleichen</a:t>
            </a:r>
          </a:p>
        </p:txBody>
      </p:sp>
      <p:sp>
        <p:nvSpPr>
          <p:cNvPr id="3" name="Phase"/>
          <p:cNvSpPr/>
          <p:nvPr/>
        </p:nvSpPr>
        <p:spPr>
          <a:xfrm>
            <a:off x="548640" y="347472"/>
            <a:ext cx="288950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6 · MIN. 66 BIS 82</a:t>
            </a:r>
          </a:p>
        </p:txBody>
      </p:sp>
      <p:sp>
        <p:nvSpPr>
          <p:cNvPr id="4" name="Karte B"/>
          <p:cNvSpPr/>
          <p:nvPr/>
        </p:nvSpPr>
        <p:spPr>
          <a:xfrm>
            <a:off x="548640" y="1600200"/>
            <a:ext cx="5440680" cy="4297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Etikett B"/>
          <p:cNvSpPr/>
          <p:nvPr/>
        </p:nvSpPr>
        <p:spPr>
          <a:xfrm>
            <a:off x="822960" y="1783080"/>
            <a:ext cx="3657600" cy="347472"/>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B · Plausibel und überprüfbar?</a:t>
            </a:r>
          </a:p>
        </p:txBody>
      </p:sp>
      <p:sp>
        <p:nvSpPr>
          <p:cNvPr id="6" name="Prompt B"/>
          <p:cNvSpPr/>
          <p:nvPr/>
        </p:nvSpPr>
        <p:spPr>
          <a:xfrm>
            <a:off x="822960" y="2286000"/>
            <a:ext cx="4892040" cy="1234440"/>
          </a:xfrm>
          <a:prstGeom prst="roundRect">
            <a:avLst>
              <a:gd name="adj" fmla="val 1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noAutofit/>
          </a:bodyPr>
          <a:lstStyle/>
          <a:p>
            <a:pPr algn="l"/>
            <a:r>
              <a:rPr sz="1500" b="0">
                <a:solidFill>
                  <a:srgbClr val="1E1B1C"/>
                </a:solidFill>
              </a:rPr>
              <a:t>Erkläre [ein Thema, in dem wir Fachwissen besitzen] in fünf überprüfbaren Aussagen. Unterscheide gesicherte Aussagen und Unsicherheiten.</a:t>
            </a:r>
          </a:p>
        </p:txBody>
      </p:sp>
      <p:sp>
        <p:nvSpPr>
          <p:cNvPr id="7" name="Markieren"/>
          <p:cNvSpPr txBox="1"/>
          <p:nvPr/>
        </p:nvSpPr>
        <p:spPr>
          <a:xfrm>
            <a:off x="822960" y="3657600"/>
            <a:ext cx="4892040" cy="320040"/>
          </a:xfrm>
          <a:prstGeom prst="rect">
            <a:avLst/>
          </a:prstGeom>
          <a:noFill/>
        </p:spPr>
        <p:txBody>
          <a:bodyPr wrap="square" anchor="t" lIns="0" rIns="0" tIns="0" bIns="0">
            <a:noAutofit/>
          </a:bodyPr>
          <a:lstStyle/>
          <a:p>
            <a:r>
              <a:rPr sz="1500" b="1">
                <a:solidFill>
                  <a:srgbClr val="1E1B1C"/>
                </a:solidFill>
              </a:rPr>
              <a:t>Drei Aussagen markieren:</a:t>
            </a:r>
          </a:p>
        </p:txBody>
      </p:sp>
      <p:sp>
        <p:nvSpPr>
          <p:cNvPr id="8" name="Urteil 1"/>
          <p:cNvSpPr/>
          <p:nvPr/>
        </p:nvSpPr>
        <p:spPr>
          <a:xfrm>
            <a:off x="822960" y="4041648"/>
            <a:ext cx="3840480" cy="365760"/>
          </a:xfrm>
          <a:prstGeom prst="roundRect">
            <a:avLst>
              <a:gd name="adj" fmla="val 50000"/>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400" b="1">
                <a:solidFill>
                  <a:srgbClr val="FFFFFF"/>
                </a:solidFill>
              </a:rPr>
              <a:t>Grün: durch Beleg bestätigt</a:t>
            </a:r>
          </a:p>
        </p:txBody>
      </p:sp>
      <p:sp>
        <p:nvSpPr>
          <p:cNvPr id="9" name="Urteil 2"/>
          <p:cNvSpPr/>
          <p:nvPr/>
        </p:nvSpPr>
        <p:spPr>
          <a:xfrm>
            <a:off x="822960" y="4498848"/>
            <a:ext cx="3840480" cy="365760"/>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400" b="1">
                <a:solidFill>
                  <a:srgbClr val="1E1B1C"/>
                </a:solidFill>
              </a:rPr>
              <a:t>Gelb: ungeprüft oder unsicher</a:t>
            </a:r>
          </a:p>
        </p:txBody>
      </p:sp>
      <p:sp>
        <p:nvSpPr>
          <p:cNvPr id="10" name="Urteil 3"/>
          <p:cNvSpPr/>
          <p:nvPr/>
        </p:nvSpPr>
        <p:spPr>
          <a:xfrm>
            <a:off x="822960" y="4956048"/>
            <a:ext cx="3840480" cy="365760"/>
          </a:xfrm>
          <a:prstGeom prst="roundRect">
            <a:avLst>
              <a:gd name="adj" fmla="val 50000"/>
            </a:avLst>
          </a:prstGeom>
          <a:solidFill>
            <a:srgbClr val="C847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400" b="1">
                <a:solidFill>
                  <a:srgbClr val="FFFFFF"/>
                </a:solidFill>
              </a:rPr>
              <a:t>Rot: widerlegt oder problematisch</a:t>
            </a:r>
          </a:p>
        </p:txBody>
      </p:sp>
      <p:sp>
        <p:nvSpPr>
          <p:cNvPr id="11" name="Quelle"/>
          <p:cNvSpPr txBox="1"/>
          <p:nvPr/>
        </p:nvSpPr>
        <p:spPr>
          <a:xfrm>
            <a:off x="822960" y="5440680"/>
            <a:ext cx="4892040" cy="411480"/>
          </a:xfrm>
          <a:prstGeom prst="rect">
            <a:avLst/>
          </a:prstGeom>
          <a:noFill/>
        </p:spPr>
        <p:txBody>
          <a:bodyPr wrap="square" anchor="t" lIns="0" rIns="0" tIns="0" bIns="0">
            <a:noAutofit/>
          </a:bodyPr>
          <a:lstStyle/>
          <a:p>
            <a:r>
              <a:rPr sz="1400" b="0">
                <a:solidFill>
                  <a:srgbClr val="5A5456"/>
                </a:solidFill>
              </a:rPr>
              <a:t>Mindestens eine Originalquelle selbst öffnen.</a:t>
            </a:r>
          </a:p>
        </p:txBody>
      </p:sp>
      <p:sp>
        <p:nvSpPr>
          <p:cNvPr id="12" name="Karte C"/>
          <p:cNvSpPr/>
          <p:nvPr/>
        </p:nvSpPr>
        <p:spPr>
          <a:xfrm>
            <a:off x="6199632" y="1600200"/>
            <a:ext cx="5440680" cy="4297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3" name="Etikett C"/>
          <p:cNvSpPr/>
          <p:nvPr/>
        </p:nvSpPr>
        <p:spPr>
          <a:xfrm>
            <a:off x="6473952" y="1783080"/>
            <a:ext cx="4114800" cy="347472"/>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C · Perspektiven verändern Argumente</a:t>
            </a:r>
          </a:p>
        </p:txBody>
      </p:sp>
      <p:sp>
        <p:nvSpPr>
          <p:cNvPr id="14" name="C1-Etikett"/>
          <p:cNvSpPr txBox="1"/>
          <p:nvPr/>
        </p:nvSpPr>
        <p:spPr>
          <a:xfrm>
            <a:off x="6473952" y="2286000"/>
            <a:ext cx="4892040" cy="256032"/>
          </a:xfrm>
          <a:prstGeom prst="rect">
            <a:avLst/>
          </a:prstGeom>
          <a:noFill/>
        </p:spPr>
        <p:txBody>
          <a:bodyPr wrap="square" anchor="t" lIns="0" rIns="0" tIns="0" bIns="0">
            <a:noAutofit/>
          </a:bodyPr>
          <a:lstStyle/>
          <a:p>
            <a:r>
              <a:rPr sz="1300" b="1">
                <a:solidFill>
                  <a:srgbClr val="5A5456"/>
                </a:solidFill>
              </a:rPr>
              <a:t>C1 · Lehrperson</a:t>
            </a:r>
          </a:p>
        </p:txBody>
      </p:sp>
      <p:sp>
        <p:nvSpPr>
          <p:cNvPr id="15" name="Prompt C1"/>
          <p:cNvSpPr/>
          <p:nvPr/>
        </p:nvSpPr>
        <p:spPr>
          <a:xfrm>
            <a:off x="6473952" y="2560320"/>
            <a:ext cx="4892040" cy="768096"/>
          </a:xfrm>
          <a:prstGeom prst="roundRect">
            <a:avLst>
              <a:gd name="adj" fmla="val 15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400" b="0">
                <a:solidFill>
                  <a:srgbClr val="1E1B1C"/>
                </a:solidFill>
              </a:rPr>
              <a:t>Sollten Smartphones im Unterricht erlaubt sein? Argumentiere aus Sicht einer Lehrperson.</a:t>
            </a:r>
          </a:p>
        </p:txBody>
      </p:sp>
      <p:sp>
        <p:nvSpPr>
          <p:cNvPr id="16" name="C2-Etikett"/>
          <p:cNvSpPr txBox="1"/>
          <p:nvPr/>
        </p:nvSpPr>
        <p:spPr>
          <a:xfrm>
            <a:off x="6473952" y="3364991"/>
            <a:ext cx="4892040" cy="256032"/>
          </a:xfrm>
          <a:prstGeom prst="rect">
            <a:avLst/>
          </a:prstGeom>
          <a:noFill/>
        </p:spPr>
        <p:txBody>
          <a:bodyPr wrap="square" anchor="t" lIns="0" rIns="0" tIns="0" bIns="0">
            <a:noAutofit/>
          </a:bodyPr>
          <a:lstStyle/>
          <a:p>
            <a:r>
              <a:rPr sz="1300" b="1">
                <a:solidFill>
                  <a:srgbClr val="5A5456"/>
                </a:solidFill>
              </a:rPr>
              <a:t>C2 · Schüler</a:t>
            </a:r>
          </a:p>
        </p:txBody>
      </p:sp>
      <p:sp>
        <p:nvSpPr>
          <p:cNvPr id="17" name="Prompt C2"/>
          <p:cNvSpPr/>
          <p:nvPr/>
        </p:nvSpPr>
        <p:spPr>
          <a:xfrm>
            <a:off x="6473952" y="3639311"/>
            <a:ext cx="4892040" cy="768096"/>
          </a:xfrm>
          <a:prstGeom prst="roundRect">
            <a:avLst>
              <a:gd name="adj" fmla="val 15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400" b="0">
                <a:solidFill>
                  <a:srgbClr val="1E1B1C"/>
                </a:solidFill>
              </a:rPr>
              <a:t>Argumentiere zur gleichen Frage aus Sicht eines 14-jährigen Schülers.</a:t>
            </a:r>
          </a:p>
        </p:txBody>
      </p:sp>
      <p:sp>
        <p:nvSpPr>
          <p:cNvPr id="18" name="C3-Etikett"/>
          <p:cNvSpPr txBox="1"/>
          <p:nvPr/>
        </p:nvSpPr>
        <p:spPr>
          <a:xfrm>
            <a:off x="6473952" y="4443983"/>
            <a:ext cx="4892040" cy="256032"/>
          </a:xfrm>
          <a:prstGeom prst="rect">
            <a:avLst/>
          </a:prstGeom>
          <a:noFill/>
        </p:spPr>
        <p:txBody>
          <a:bodyPr wrap="square" anchor="t" lIns="0" rIns="0" tIns="0" bIns="0">
            <a:noAutofit/>
          </a:bodyPr>
          <a:lstStyle/>
          <a:p>
            <a:r>
              <a:rPr sz="1300" b="1">
                <a:solidFill>
                  <a:srgbClr val="5A5456"/>
                </a:solidFill>
              </a:rPr>
              <a:t>C3 · fehlende Perspektiven</a:t>
            </a:r>
          </a:p>
        </p:txBody>
      </p:sp>
      <p:sp>
        <p:nvSpPr>
          <p:cNvPr id="19" name="Prompt C3"/>
          <p:cNvSpPr/>
          <p:nvPr/>
        </p:nvSpPr>
        <p:spPr>
          <a:xfrm>
            <a:off x="6473952" y="4718303"/>
            <a:ext cx="4892040" cy="768096"/>
          </a:xfrm>
          <a:prstGeom prst="roundRect">
            <a:avLst>
              <a:gd name="adj" fmla="val 15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noAutofit/>
          </a:bodyPr>
          <a:lstStyle/>
          <a:p>
            <a:pPr algn="l"/>
            <a:r>
              <a:rPr sz="1400" b="0">
                <a:solidFill>
                  <a:srgbClr val="1E1B1C"/>
                </a:solidFill>
              </a:rPr>
              <a:t>Welche Perspektiven fehlen in den bisherigen Argumenten? Welche Annahmen über die Beteiligten stecken darin?</a:t>
            </a:r>
          </a:p>
        </p:txBody>
      </p:sp>
      <p:sp>
        <p:nvSpPr>
          <p:cNvPr id="20" name="Hinweis"/>
          <p:cNvSpPr txBox="1"/>
          <p:nvPr/>
        </p:nvSpPr>
        <p:spPr>
          <a:xfrm>
            <a:off x="6473952" y="5641848"/>
            <a:ext cx="4892040" cy="274320"/>
          </a:xfrm>
          <a:prstGeom prst="rect">
            <a:avLst/>
          </a:prstGeom>
          <a:noFill/>
        </p:spPr>
        <p:txBody>
          <a:bodyPr wrap="square" anchor="t" lIns="0" rIns="0" tIns="0" bIns="0">
            <a:noAutofit/>
          </a:bodyPr>
          <a:lstStyle/>
          <a:p>
            <a:r>
              <a:rPr sz="1300" b="0">
                <a:solidFill>
                  <a:srgbClr val="5A5456"/>
                </a:solidFill>
              </a:rPr>
              <a:t>Eine simulierte Perspektive ersetzt keine echte Person.</a:t>
            </a:r>
          </a:p>
        </p:txBody>
      </p:sp>
      <p:sp>
        <p:nvSpPr>
          <p:cNvPr id="21" name="Auswahl"/>
          <p:cNvSpPr txBox="1"/>
          <p:nvPr/>
        </p:nvSpPr>
        <p:spPr>
          <a:xfrm>
            <a:off x="548640" y="6053328"/>
            <a:ext cx="11091672" cy="320040"/>
          </a:xfrm>
          <a:prstGeom prst="rect">
            <a:avLst/>
          </a:prstGeom>
          <a:noFill/>
        </p:spPr>
        <p:txBody>
          <a:bodyPr wrap="square" anchor="t" lIns="0" rIns="0" tIns="0" bIns="0">
            <a:noAutofit/>
          </a:bodyPr>
          <a:lstStyle/>
          <a:p>
            <a:r>
              <a:rPr sz="1500" b="0">
                <a:solidFill>
                  <a:srgbClr val="5A5456"/>
                </a:solidFill>
              </a:rPr>
              <a:t>Jede Gruppe wählt Auftrag B oder 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Fünf Fragen vor dem Übernehmen</a:t>
            </a:r>
          </a:p>
        </p:txBody>
      </p:sp>
      <p:sp>
        <p:nvSpPr>
          <p:cNvPr id="3" name="Phase"/>
          <p:cNvSpPr/>
          <p:nvPr/>
        </p:nvSpPr>
        <p:spPr>
          <a:xfrm>
            <a:off x="548640" y="347472"/>
            <a:ext cx="2048256"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6 · PRÜFEN</a:t>
            </a:r>
          </a:p>
        </p:txBody>
      </p:sp>
      <p:sp>
        <p:nvSpPr>
          <p:cNvPr id="4" name="Einstieg"/>
          <p:cNvSpPr txBox="1"/>
          <p:nvPr/>
        </p:nvSpPr>
        <p:spPr>
          <a:xfrm>
            <a:off x="548640" y="1965960"/>
            <a:ext cx="5760720" cy="1097280"/>
          </a:xfrm>
          <a:prstGeom prst="rect">
            <a:avLst/>
          </a:prstGeom>
          <a:noFill/>
        </p:spPr>
        <p:txBody>
          <a:bodyPr wrap="square" anchor="t" lIns="0" rIns="0" tIns="0" bIns="0">
            <a:noAutofit/>
          </a:bodyPr>
          <a:lstStyle/>
          <a:p>
            <a:r>
              <a:rPr sz="2000" b="1">
                <a:solidFill>
                  <a:srgbClr val="1E1B1C"/>
                </a:solidFill>
              </a:rPr>
              <a:t>Für jede KI-Ausgabe, die wir im Unterricht verwenden wollen.</a:t>
            </a:r>
          </a:p>
        </p:txBody>
      </p:sp>
      <p:sp>
        <p:nvSpPr>
          <p:cNvPr id="5" name="Erläuterung"/>
          <p:cNvSpPr txBox="1"/>
          <p:nvPr/>
        </p:nvSpPr>
        <p:spPr>
          <a:xfrm>
            <a:off x="548640" y="3291840"/>
            <a:ext cx="5760720" cy="2834640"/>
          </a:xfrm>
          <a:prstGeom prst="rect">
            <a:avLst/>
          </a:prstGeom>
          <a:noFill/>
        </p:spPr>
        <p:txBody>
          <a:bodyPr wrap="square" anchor="t" lIns="0" rIns="0" tIns="0" bIns="0">
            <a:noAutofit/>
          </a:bodyPr>
          <a:lstStyle/>
          <a:p>
            <a:r>
              <a:rPr sz="1500" b="0">
                <a:solidFill>
                  <a:srgbClr val="5A5456"/>
                </a:solidFill>
              </a:rPr>
              <a:t>Die fünfte Frage stammt aus dem KI-Kompetenzrahmen von OECD und Europäischer Union: Betrieb und Entwicklung von KI-Systemen brauchen Energie, Rohstoffe und Wasser. Ob eine Nutzung angemessen ist, hängt auch davon ab, ob ein einfacheres Werkzeug denselben Zweck erfüllt.</a:t>
            </a:r>
          </a:p>
        </p:txBody>
      </p:sp>
      <p:sp>
        <p:nvSpPr>
          <p:cNvPr id="6"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7" name="Nummer 1"/>
          <p:cNvSpPr/>
          <p:nvPr/>
        </p:nvSpPr>
        <p:spPr>
          <a:xfrm>
            <a:off x="7269480" y="987552"/>
            <a:ext cx="457200" cy="45720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1</a:t>
            </a:r>
          </a:p>
        </p:txBody>
      </p:sp>
      <p:sp>
        <p:nvSpPr>
          <p:cNvPr id="8" name="Frage 1"/>
          <p:cNvSpPr txBox="1"/>
          <p:nvPr/>
        </p:nvSpPr>
        <p:spPr>
          <a:xfrm>
            <a:off x="7909560" y="914400"/>
            <a:ext cx="3520440" cy="868680"/>
          </a:xfrm>
          <a:prstGeom prst="rect">
            <a:avLst/>
          </a:prstGeom>
          <a:noFill/>
        </p:spPr>
        <p:txBody>
          <a:bodyPr wrap="square" anchor="ctr" lIns="0" rIns="0" tIns="0" bIns="0">
            <a:noAutofit/>
          </a:bodyPr>
          <a:lstStyle/>
          <a:p>
            <a:r>
              <a:rPr sz="1600" b="0">
                <a:solidFill>
                  <a:srgbClr val="1E1B1C"/>
                </a:solidFill>
              </a:rPr>
              <a:t>Welche Aussage ist durch welche Quelle gestützt?</a:t>
            </a:r>
          </a:p>
        </p:txBody>
      </p:sp>
      <p:sp>
        <p:nvSpPr>
          <p:cNvPr id="9" name="Nummer 2"/>
          <p:cNvSpPr/>
          <p:nvPr/>
        </p:nvSpPr>
        <p:spPr>
          <a:xfrm>
            <a:off x="7269480" y="1965960"/>
            <a:ext cx="457200" cy="45720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2</a:t>
            </a:r>
          </a:p>
        </p:txBody>
      </p:sp>
      <p:sp>
        <p:nvSpPr>
          <p:cNvPr id="10" name="Frage 2"/>
          <p:cNvSpPr txBox="1"/>
          <p:nvPr/>
        </p:nvSpPr>
        <p:spPr>
          <a:xfrm>
            <a:off x="7909560" y="1892808"/>
            <a:ext cx="3520440" cy="868680"/>
          </a:xfrm>
          <a:prstGeom prst="rect">
            <a:avLst/>
          </a:prstGeom>
          <a:noFill/>
        </p:spPr>
        <p:txBody>
          <a:bodyPr wrap="square" anchor="ctr" lIns="0" rIns="0" tIns="0" bIns="0">
            <a:noAutofit/>
          </a:bodyPr>
          <a:lstStyle/>
          <a:p>
            <a:r>
              <a:rPr sz="1600" b="0">
                <a:solidFill>
                  <a:srgbClr val="1E1B1C"/>
                </a:solidFill>
              </a:rPr>
              <a:t>Welche Perspektiven, Annahmen oder Gruppen fehlen?</a:t>
            </a:r>
          </a:p>
        </p:txBody>
      </p:sp>
      <p:sp>
        <p:nvSpPr>
          <p:cNvPr id="11" name="Nummer 3"/>
          <p:cNvSpPr/>
          <p:nvPr/>
        </p:nvSpPr>
        <p:spPr>
          <a:xfrm>
            <a:off x="7269480" y="2944368"/>
            <a:ext cx="457200" cy="45720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3</a:t>
            </a:r>
          </a:p>
        </p:txBody>
      </p:sp>
      <p:sp>
        <p:nvSpPr>
          <p:cNvPr id="12" name="Frage 3"/>
          <p:cNvSpPr txBox="1"/>
          <p:nvPr/>
        </p:nvSpPr>
        <p:spPr>
          <a:xfrm>
            <a:off x="7909560" y="2871216"/>
            <a:ext cx="3520440" cy="868680"/>
          </a:xfrm>
          <a:prstGeom prst="rect">
            <a:avLst/>
          </a:prstGeom>
          <a:noFill/>
        </p:spPr>
        <p:txBody>
          <a:bodyPr wrap="square" anchor="ctr" lIns="0" rIns="0" tIns="0" bIns="0">
            <a:noAutofit/>
          </a:bodyPr>
          <a:lstStyle/>
          <a:p>
            <a:r>
              <a:rPr sz="1600" b="0">
                <a:solidFill>
                  <a:srgbClr val="1E1B1C"/>
                </a:solidFill>
              </a:rPr>
              <a:t>Welche Informationen habe ich eingegeben, und waren sie nötig?</a:t>
            </a:r>
          </a:p>
        </p:txBody>
      </p:sp>
      <p:sp>
        <p:nvSpPr>
          <p:cNvPr id="13" name="Nummer 4"/>
          <p:cNvSpPr/>
          <p:nvPr/>
        </p:nvSpPr>
        <p:spPr>
          <a:xfrm>
            <a:off x="7269480" y="3922776"/>
            <a:ext cx="457200" cy="45720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4</a:t>
            </a:r>
          </a:p>
        </p:txBody>
      </p:sp>
      <p:sp>
        <p:nvSpPr>
          <p:cNvPr id="14" name="Frage 4"/>
          <p:cNvSpPr txBox="1"/>
          <p:nvPr/>
        </p:nvSpPr>
        <p:spPr>
          <a:xfrm>
            <a:off x="7909560" y="3849624"/>
            <a:ext cx="3520440" cy="868680"/>
          </a:xfrm>
          <a:prstGeom prst="rect">
            <a:avLst/>
          </a:prstGeom>
          <a:noFill/>
        </p:spPr>
        <p:txBody>
          <a:bodyPr wrap="square" anchor="ctr" lIns="0" rIns="0" tIns="0" bIns="0">
            <a:noAutofit/>
          </a:bodyPr>
          <a:lstStyle/>
          <a:p>
            <a:r>
              <a:rPr sz="1600" b="0">
                <a:solidFill>
                  <a:srgbClr val="1E1B1C"/>
                </a:solidFill>
              </a:rPr>
              <a:t>Welche Folgen könnte meine Verwendung des Outputs haben?</a:t>
            </a:r>
          </a:p>
        </p:txBody>
      </p:sp>
      <p:sp>
        <p:nvSpPr>
          <p:cNvPr id="15" name="Nummer 5"/>
          <p:cNvSpPr/>
          <p:nvPr/>
        </p:nvSpPr>
        <p:spPr>
          <a:xfrm>
            <a:off x="7269480" y="4901184"/>
            <a:ext cx="457200" cy="45720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600" b="1">
                <a:solidFill>
                  <a:srgbClr val="1E1B1C"/>
                </a:solidFill>
              </a:rPr>
              <a:t>5</a:t>
            </a:r>
          </a:p>
        </p:txBody>
      </p:sp>
      <p:sp>
        <p:nvSpPr>
          <p:cNvPr id="16" name="Frage 5"/>
          <p:cNvSpPr txBox="1"/>
          <p:nvPr/>
        </p:nvSpPr>
        <p:spPr>
          <a:xfrm>
            <a:off x="7909560" y="4828032"/>
            <a:ext cx="3520440" cy="868680"/>
          </a:xfrm>
          <a:prstGeom prst="rect">
            <a:avLst/>
          </a:prstGeom>
          <a:noFill/>
        </p:spPr>
        <p:txBody>
          <a:bodyPr wrap="square" anchor="ctr" lIns="0" rIns="0" tIns="0" bIns="0">
            <a:noAutofit/>
          </a:bodyPr>
          <a:lstStyle/>
          <a:p>
            <a:r>
              <a:rPr sz="1600" b="0">
                <a:solidFill>
                  <a:srgbClr val="1E1B1C"/>
                </a:solidFill>
              </a:rPr>
              <a:t>Gibt es für diese Aufgabe eine ressourcenschonendere Alternative?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Zwölf Karten, vier Gruppen</a:t>
            </a:r>
          </a:p>
        </p:txBody>
      </p:sp>
      <p:sp>
        <p:nvSpPr>
          <p:cNvPr id="3" name="Phase"/>
          <p:cNvSpPr/>
          <p:nvPr/>
        </p:nvSpPr>
        <p:spPr>
          <a:xfrm>
            <a:off x="548640" y="347472"/>
            <a:ext cx="288950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7 · MIN. 82 BIS 94</a:t>
            </a:r>
          </a:p>
        </p:txBody>
      </p:sp>
      <p:sp>
        <p:nvSpPr>
          <p:cNvPr id="4" name="Karte 1"/>
          <p:cNvSpPr/>
          <p:nvPr/>
        </p:nvSpPr>
        <p:spPr>
          <a:xfrm>
            <a:off x="548640" y="1600200"/>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überprüfe eine KI-Aussage mit geeigneten Quellen.</a:t>
            </a:r>
          </a:p>
        </p:txBody>
      </p:sp>
      <p:sp>
        <p:nvSpPr>
          <p:cNvPr id="5" name="Karte 2"/>
          <p:cNvSpPr/>
          <p:nvPr/>
        </p:nvSpPr>
        <p:spPr>
          <a:xfrm>
            <a:off x="3355848" y="1600200"/>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kann erklären, welche Rolle Daten beim Training von KI spielen.</a:t>
            </a:r>
          </a:p>
        </p:txBody>
      </p:sp>
      <p:sp>
        <p:nvSpPr>
          <p:cNvPr id="6" name="Karte 3"/>
          <p:cNvSpPr/>
          <p:nvPr/>
        </p:nvSpPr>
        <p:spPr>
          <a:xfrm>
            <a:off x="6163055" y="1600200"/>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entwickle Regeln für einen sinnvollen KI-Einsatz in unserer Klasse.</a:t>
            </a:r>
          </a:p>
        </p:txBody>
      </p:sp>
      <p:sp>
        <p:nvSpPr>
          <p:cNvPr id="7" name="Karte 4"/>
          <p:cNvSpPr/>
          <p:nvPr/>
        </p:nvSpPr>
        <p:spPr>
          <a:xfrm>
            <a:off x="8970263" y="1600200"/>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kann meine Eingabe verändern, um einen geeigneteren Output zu erhalten.</a:t>
            </a:r>
          </a:p>
        </p:txBody>
      </p:sp>
      <p:sp>
        <p:nvSpPr>
          <p:cNvPr id="8" name="Karte 5"/>
          <p:cNvSpPr/>
          <p:nvPr/>
        </p:nvSpPr>
        <p:spPr>
          <a:xfrm>
            <a:off x="548640" y="2898648"/>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erkenne stereotype oder einseitige Darstellungen in KI-Outputs.</a:t>
            </a:r>
          </a:p>
        </p:txBody>
      </p:sp>
      <p:sp>
        <p:nvSpPr>
          <p:cNvPr id="9" name="Karte 6"/>
          <p:cNvSpPr/>
          <p:nvPr/>
        </p:nvSpPr>
        <p:spPr>
          <a:xfrm>
            <a:off x="3355848" y="2898648"/>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erkenne KI-Systeme in meinem Alltag und begründe meine Einordnung.</a:t>
            </a:r>
          </a:p>
        </p:txBody>
      </p:sp>
      <p:sp>
        <p:nvSpPr>
          <p:cNvPr id="10" name="Karte 7"/>
          <p:cNvSpPr/>
          <p:nvPr/>
        </p:nvSpPr>
        <p:spPr>
          <a:xfrm>
            <a:off x="6163055" y="2898648"/>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entwickle gemeinsam mit anderen Lösungen für Probleme, die durch KI entstehen.</a:t>
            </a:r>
          </a:p>
        </p:txBody>
      </p:sp>
      <p:sp>
        <p:nvSpPr>
          <p:cNvPr id="11" name="Karte 8"/>
          <p:cNvSpPr/>
          <p:nvPr/>
        </p:nvSpPr>
        <p:spPr>
          <a:xfrm>
            <a:off x="8970263" y="2898648"/>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kann sinnvoll entscheiden, welche Teile einer Aufgabe ich selbst und welche eine KI erledigt.</a:t>
            </a:r>
          </a:p>
        </p:txBody>
      </p:sp>
      <p:sp>
        <p:nvSpPr>
          <p:cNvPr id="12" name="Karte 9"/>
          <p:cNvSpPr/>
          <p:nvPr/>
        </p:nvSpPr>
        <p:spPr>
          <a:xfrm>
            <a:off x="548640" y="4197096"/>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kann erklären, warum ein KI-System falsche Antworten erzeugen kann.</a:t>
            </a:r>
          </a:p>
        </p:txBody>
      </p:sp>
      <p:sp>
        <p:nvSpPr>
          <p:cNvPr id="13" name="Karte 10"/>
          <p:cNvSpPr/>
          <p:nvPr/>
        </p:nvSpPr>
        <p:spPr>
          <a:xfrm>
            <a:off x="3355848" y="4197096"/>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entwickle bestehende KI-Nutzungsszenarien weiter und begründe meine Entscheidungen.</a:t>
            </a:r>
          </a:p>
        </p:txBody>
      </p:sp>
      <p:sp>
        <p:nvSpPr>
          <p:cNvPr id="14" name="Karte 11"/>
          <p:cNvSpPr/>
          <p:nvPr/>
        </p:nvSpPr>
        <p:spPr>
          <a:xfrm>
            <a:off x="6163055" y="4197096"/>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kann unterschiedliche KI-Werkzeuge passend zu einer Aufgabe auswählen.</a:t>
            </a:r>
          </a:p>
        </p:txBody>
      </p:sp>
      <p:sp>
        <p:nvSpPr>
          <p:cNvPr id="15" name="Karte 12"/>
          <p:cNvSpPr/>
          <p:nvPr/>
        </p:nvSpPr>
        <p:spPr>
          <a:xfrm>
            <a:off x="8970263" y="4197096"/>
            <a:ext cx="2670048" cy="11887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noAutofit/>
          </a:bodyPr>
          <a:lstStyle/>
          <a:p>
            <a:pPr algn="l"/>
            <a:r>
              <a:rPr sz="1400" b="0">
                <a:solidFill>
                  <a:srgbClr val="1E1B1C"/>
                </a:solidFill>
              </a:rPr>
              <a:t>Ich kann Chancen, Risiken und Folgen eines KI-Einsatzes abwägen.</a:t>
            </a:r>
          </a:p>
        </p:txBody>
      </p:sp>
      <p:sp>
        <p:nvSpPr>
          <p:cNvPr id="16" name="Merksatz"/>
          <p:cNvSpPr/>
          <p:nvPr/>
        </p:nvSpPr>
        <p:spPr>
          <a:xfrm>
            <a:off x="548640" y="5577840"/>
            <a:ext cx="11091672" cy="731520"/>
          </a:xfrm>
          <a:prstGeom prst="roundRect">
            <a:avLst>
              <a:gd name="adj" fmla="val 12000"/>
            </a:avLst>
          </a:prstGeom>
          <a:solidFill>
            <a:srgbClr val="1E1B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274320" rIns="274320">
            <a:noAutofit/>
          </a:bodyPr>
          <a:lstStyle/>
          <a:p>
            <a:pPr algn="l"/>
            <a:r>
              <a:rPr sz="1600" b="1">
                <a:solidFill>
                  <a:srgbClr val="FFFFFF"/>
                </a:solidFill>
              </a:rPr>
              <a:t>Sortiert die Karten in vier Gruppen und gebt jeder Gruppe einen eigenen Namen. </a:t>
            </a:r>
            <a:r>
              <a:rPr sz="1600" b="0">
                <a:solidFill>
                  <a:srgbClr val="FFFFFF"/>
                </a:solidFill>
              </a:rPr>
              <a:t>Mehrere Zuordnungen können begründbar sein.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Das Modell: vier Kompetenzbereiche</a:t>
            </a:r>
          </a:p>
        </p:txBody>
      </p:sp>
      <p:sp>
        <p:nvSpPr>
          <p:cNvPr id="3" name="Phase"/>
          <p:cNvSpPr/>
          <p:nvPr/>
        </p:nvSpPr>
        <p:spPr>
          <a:xfrm>
            <a:off x="548640" y="347472"/>
            <a:ext cx="299466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7 · MODELLVERGLEICH</a:t>
            </a:r>
          </a:p>
        </p:txBody>
      </p:sp>
      <p:sp>
        <p:nvSpPr>
          <p:cNvPr id="4" name="Karte Verstehen"/>
          <p:cNvSpPr/>
          <p:nvPr/>
        </p:nvSpPr>
        <p:spPr>
          <a:xfrm>
            <a:off x="548640" y="1600200"/>
            <a:ext cx="2670048"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Bereich"/>
          <p:cNvSpPr/>
          <p:nvPr/>
        </p:nvSpPr>
        <p:spPr>
          <a:xfrm>
            <a:off x="731520" y="1783080"/>
            <a:ext cx="2304288" cy="411480"/>
          </a:xfrm>
          <a:prstGeom prst="roundRect">
            <a:avLst>
              <a:gd name="adj" fmla="val 50000"/>
            </a:avLst>
          </a:prstGeom>
          <a:solidFill>
            <a:srgbClr val="2F6A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700" b="1">
                <a:solidFill>
                  <a:srgbClr val="FFFFFF"/>
                </a:solidFill>
              </a:rPr>
              <a:t>Verstehen</a:t>
            </a:r>
          </a:p>
        </p:txBody>
      </p:sp>
      <p:sp>
        <p:nvSpPr>
          <p:cNvPr id="6" name="Beschreibung"/>
          <p:cNvSpPr txBox="1"/>
          <p:nvPr/>
        </p:nvSpPr>
        <p:spPr>
          <a:xfrm>
            <a:off x="731520" y="2377440"/>
            <a:ext cx="2304288" cy="1554480"/>
          </a:xfrm>
          <a:prstGeom prst="rect">
            <a:avLst/>
          </a:prstGeom>
          <a:noFill/>
        </p:spPr>
        <p:txBody>
          <a:bodyPr wrap="square" anchor="t" lIns="0" rIns="0" tIns="0" bIns="0">
            <a:noAutofit/>
          </a:bodyPr>
          <a:lstStyle/>
          <a:p>
            <a:r>
              <a:rPr sz="1400" b="0">
                <a:solidFill>
                  <a:srgbClr val="1E1B1C"/>
                </a:solidFill>
              </a:rPr>
              <a:t>Funktionsweisen, Daten, Begriffe und Eingabeprinzipien erklären.</a:t>
            </a:r>
          </a:p>
        </p:txBody>
      </p:sp>
      <p:sp>
        <p:nvSpPr>
          <p:cNvPr id="7" name="Etikett"/>
          <p:cNvSpPr txBox="1"/>
          <p:nvPr/>
        </p:nvSpPr>
        <p:spPr>
          <a:xfrm>
            <a:off x="731520" y="3931920"/>
            <a:ext cx="2304288" cy="228600"/>
          </a:xfrm>
          <a:prstGeom prst="rect">
            <a:avLst/>
          </a:prstGeom>
          <a:noFill/>
        </p:spPr>
        <p:txBody>
          <a:bodyPr wrap="square" anchor="t" lIns="0" rIns="0" tIns="0" bIns="0">
            <a:noAutofit/>
          </a:bodyPr>
          <a:lstStyle/>
          <a:p>
            <a:r>
              <a:rPr sz="1000" b="1">
                <a:solidFill>
                  <a:srgbClr val="5A5456"/>
                </a:solidFill>
              </a:rPr>
              <a:t>BEISPIELKARTE</a:t>
            </a:r>
          </a:p>
        </p:txBody>
      </p:sp>
      <p:sp>
        <p:nvSpPr>
          <p:cNvPr id="8" name="Beispiel"/>
          <p:cNvSpPr txBox="1"/>
          <p:nvPr/>
        </p:nvSpPr>
        <p:spPr>
          <a:xfrm>
            <a:off x="731520" y="4178808"/>
            <a:ext cx="2304288" cy="1005840"/>
          </a:xfrm>
          <a:prstGeom prst="rect">
            <a:avLst/>
          </a:prstGeom>
          <a:noFill/>
        </p:spPr>
        <p:txBody>
          <a:bodyPr wrap="square" anchor="t" lIns="0" rIns="0" tIns="0" bIns="0">
            <a:noAutofit/>
          </a:bodyPr>
          <a:lstStyle/>
          <a:p>
            <a:r>
              <a:rPr sz="1300" b="0" i="1">
                <a:solidFill>
                  <a:srgbClr val="5A5456"/>
                </a:solidFill>
              </a:rPr>
              <a:t>Ich kann erklären, welche Rolle Daten beim Training von KI spielen.</a:t>
            </a:r>
          </a:p>
        </p:txBody>
      </p:sp>
      <p:sp>
        <p:nvSpPr>
          <p:cNvPr id="9" name="Karte Anwenden"/>
          <p:cNvSpPr/>
          <p:nvPr/>
        </p:nvSpPr>
        <p:spPr>
          <a:xfrm>
            <a:off x="3355848" y="1600200"/>
            <a:ext cx="2670048"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0" name="Bereich"/>
          <p:cNvSpPr/>
          <p:nvPr/>
        </p:nvSpPr>
        <p:spPr>
          <a:xfrm>
            <a:off x="3538728" y="1783080"/>
            <a:ext cx="2304288" cy="411480"/>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700" b="1">
                <a:solidFill>
                  <a:srgbClr val="1E1B1C"/>
                </a:solidFill>
              </a:rPr>
              <a:t>Anwenden</a:t>
            </a:r>
          </a:p>
        </p:txBody>
      </p:sp>
      <p:sp>
        <p:nvSpPr>
          <p:cNvPr id="11" name="Beschreibung"/>
          <p:cNvSpPr txBox="1"/>
          <p:nvPr/>
        </p:nvSpPr>
        <p:spPr>
          <a:xfrm>
            <a:off x="3538728" y="2377440"/>
            <a:ext cx="2304288" cy="1554480"/>
          </a:xfrm>
          <a:prstGeom prst="rect">
            <a:avLst/>
          </a:prstGeom>
          <a:noFill/>
        </p:spPr>
        <p:txBody>
          <a:bodyPr wrap="square" anchor="t" lIns="0" rIns="0" tIns="0" bIns="0">
            <a:noAutofit/>
          </a:bodyPr>
          <a:lstStyle/>
          <a:p>
            <a:r>
              <a:rPr sz="1400" b="0">
                <a:solidFill>
                  <a:srgbClr val="1E1B1C"/>
                </a:solidFill>
              </a:rPr>
              <a:t>Werkzeuge und Arbeitsteilung passend auswählen; Eingaben gezielt verbessern.</a:t>
            </a:r>
          </a:p>
        </p:txBody>
      </p:sp>
      <p:sp>
        <p:nvSpPr>
          <p:cNvPr id="12" name="Etikett"/>
          <p:cNvSpPr txBox="1"/>
          <p:nvPr/>
        </p:nvSpPr>
        <p:spPr>
          <a:xfrm>
            <a:off x="3538728" y="3931920"/>
            <a:ext cx="2304288" cy="228600"/>
          </a:xfrm>
          <a:prstGeom prst="rect">
            <a:avLst/>
          </a:prstGeom>
          <a:noFill/>
        </p:spPr>
        <p:txBody>
          <a:bodyPr wrap="square" anchor="t" lIns="0" rIns="0" tIns="0" bIns="0">
            <a:noAutofit/>
          </a:bodyPr>
          <a:lstStyle/>
          <a:p>
            <a:r>
              <a:rPr sz="1000" b="1">
                <a:solidFill>
                  <a:srgbClr val="5A5456"/>
                </a:solidFill>
              </a:rPr>
              <a:t>BEISPIELKARTE</a:t>
            </a:r>
          </a:p>
        </p:txBody>
      </p:sp>
      <p:sp>
        <p:nvSpPr>
          <p:cNvPr id="13" name="Beispiel"/>
          <p:cNvSpPr txBox="1"/>
          <p:nvPr/>
        </p:nvSpPr>
        <p:spPr>
          <a:xfrm>
            <a:off x="3538728" y="4178808"/>
            <a:ext cx="2304288" cy="1005840"/>
          </a:xfrm>
          <a:prstGeom prst="rect">
            <a:avLst/>
          </a:prstGeom>
          <a:noFill/>
        </p:spPr>
        <p:txBody>
          <a:bodyPr wrap="square" anchor="t" lIns="0" rIns="0" tIns="0" bIns="0">
            <a:noAutofit/>
          </a:bodyPr>
          <a:lstStyle/>
          <a:p>
            <a:r>
              <a:rPr sz="1300" b="0" i="1">
                <a:solidFill>
                  <a:srgbClr val="5A5456"/>
                </a:solidFill>
              </a:rPr>
              <a:t>Ich kann meine Eingabe verändern, um einen geeigneteren Output zu erhalten.</a:t>
            </a:r>
          </a:p>
        </p:txBody>
      </p:sp>
      <p:sp>
        <p:nvSpPr>
          <p:cNvPr id="14" name="Karte Reflektieren"/>
          <p:cNvSpPr/>
          <p:nvPr/>
        </p:nvSpPr>
        <p:spPr>
          <a:xfrm>
            <a:off x="6163055" y="1600200"/>
            <a:ext cx="2670048"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5" name="Bereich"/>
          <p:cNvSpPr/>
          <p:nvPr/>
        </p:nvSpPr>
        <p:spPr>
          <a:xfrm>
            <a:off x="6345936" y="1783080"/>
            <a:ext cx="2304288" cy="41148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700" b="1">
                <a:solidFill>
                  <a:srgbClr val="FFFFFF"/>
                </a:solidFill>
              </a:rPr>
              <a:t>Reflektieren</a:t>
            </a:r>
          </a:p>
        </p:txBody>
      </p:sp>
      <p:sp>
        <p:nvSpPr>
          <p:cNvPr id="16" name="Beschreibung"/>
          <p:cNvSpPr txBox="1"/>
          <p:nvPr/>
        </p:nvSpPr>
        <p:spPr>
          <a:xfrm>
            <a:off x="6345936" y="2377440"/>
            <a:ext cx="2304288" cy="1554480"/>
          </a:xfrm>
          <a:prstGeom prst="rect">
            <a:avLst/>
          </a:prstGeom>
          <a:noFill/>
        </p:spPr>
        <p:txBody>
          <a:bodyPr wrap="square" anchor="t" lIns="0" rIns="0" tIns="0" bIns="0">
            <a:noAutofit/>
          </a:bodyPr>
          <a:lstStyle/>
          <a:p>
            <a:r>
              <a:rPr sz="1400" b="0">
                <a:solidFill>
                  <a:srgbClr val="1E1B1C"/>
                </a:solidFill>
              </a:rPr>
              <a:t>Ergebnisse, Annahmen, Risiken und Auswirkungen prüfen und beurteilen.</a:t>
            </a:r>
          </a:p>
        </p:txBody>
      </p:sp>
      <p:sp>
        <p:nvSpPr>
          <p:cNvPr id="17" name="Etikett"/>
          <p:cNvSpPr txBox="1"/>
          <p:nvPr/>
        </p:nvSpPr>
        <p:spPr>
          <a:xfrm>
            <a:off x="6345936" y="3931920"/>
            <a:ext cx="2304288" cy="228600"/>
          </a:xfrm>
          <a:prstGeom prst="rect">
            <a:avLst/>
          </a:prstGeom>
          <a:noFill/>
        </p:spPr>
        <p:txBody>
          <a:bodyPr wrap="square" anchor="t" lIns="0" rIns="0" tIns="0" bIns="0">
            <a:noAutofit/>
          </a:bodyPr>
          <a:lstStyle/>
          <a:p>
            <a:r>
              <a:rPr sz="1000" b="1">
                <a:solidFill>
                  <a:srgbClr val="5A5456"/>
                </a:solidFill>
              </a:rPr>
              <a:t>BEISPIELKARTE</a:t>
            </a:r>
          </a:p>
        </p:txBody>
      </p:sp>
      <p:sp>
        <p:nvSpPr>
          <p:cNvPr id="18" name="Beispiel"/>
          <p:cNvSpPr txBox="1"/>
          <p:nvPr/>
        </p:nvSpPr>
        <p:spPr>
          <a:xfrm>
            <a:off x="6345936" y="4178808"/>
            <a:ext cx="2304288" cy="1005840"/>
          </a:xfrm>
          <a:prstGeom prst="rect">
            <a:avLst/>
          </a:prstGeom>
          <a:noFill/>
        </p:spPr>
        <p:txBody>
          <a:bodyPr wrap="square" anchor="t" lIns="0" rIns="0" tIns="0" bIns="0">
            <a:noAutofit/>
          </a:bodyPr>
          <a:lstStyle/>
          <a:p>
            <a:r>
              <a:rPr sz="1300" b="0" i="1">
                <a:solidFill>
                  <a:srgbClr val="5A5456"/>
                </a:solidFill>
              </a:rPr>
              <a:t>Ich überprüfe eine KI-Aussage mit geeigneten Quellen.</a:t>
            </a:r>
          </a:p>
        </p:txBody>
      </p:sp>
      <p:sp>
        <p:nvSpPr>
          <p:cNvPr id="19" name="Karte Mitgestalten"/>
          <p:cNvSpPr/>
          <p:nvPr/>
        </p:nvSpPr>
        <p:spPr>
          <a:xfrm>
            <a:off x="8970263" y="1600200"/>
            <a:ext cx="2670048" cy="3657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0" name="Bereich"/>
          <p:cNvSpPr/>
          <p:nvPr/>
        </p:nvSpPr>
        <p:spPr>
          <a:xfrm>
            <a:off x="9153143" y="1783080"/>
            <a:ext cx="2304288" cy="411480"/>
          </a:xfrm>
          <a:prstGeom prst="roundRect">
            <a:avLst>
              <a:gd name="adj" fmla="val 50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700" b="1">
                <a:solidFill>
                  <a:srgbClr val="FFFFFF"/>
                </a:solidFill>
              </a:rPr>
              <a:t>Mitgestalten</a:t>
            </a:r>
          </a:p>
        </p:txBody>
      </p:sp>
      <p:sp>
        <p:nvSpPr>
          <p:cNvPr id="21" name="Beschreibung"/>
          <p:cNvSpPr txBox="1"/>
          <p:nvPr/>
        </p:nvSpPr>
        <p:spPr>
          <a:xfrm>
            <a:off x="9153143" y="2377440"/>
            <a:ext cx="2304288" cy="1554480"/>
          </a:xfrm>
          <a:prstGeom prst="rect">
            <a:avLst/>
          </a:prstGeom>
          <a:noFill/>
        </p:spPr>
        <p:txBody>
          <a:bodyPr wrap="square" anchor="t" lIns="0" rIns="0" tIns="0" bIns="0">
            <a:noAutofit/>
          </a:bodyPr>
          <a:lstStyle/>
          <a:p>
            <a:r>
              <a:rPr sz="1400" b="0">
                <a:solidFill>
                  <a:srgbClr val="1E1B1C"/>
                </a:solidFill>
              </a:rPr>
              <a:t>KI-Systeme und ihre Nutzung aktiv mitgestalten: Regeln, Lösungen oder Szenarien entwickeln, erproben und begründet verbessern.</a:t>
            </a:r>
          </a:p>
        </p:txBody>
      </p:sp>
      <p:sp>
        <p:nvSpPr>
          <p:cNvPr id="22" name="Etikett"/>
          <p:cNvSpPr txBox="1"/>
          <p:nvPr/>
        </p:nvSpPr>
        <p:spPr>
          <a:xfrm>
            <a:off x="9153143" y="3931920"/>
            <a:ext cx="2304288" cy="228600"/>
          </a:xfrm>
          <a:prstGeom prst="rect">
            <a:avLst/>
          </a:prstGeom>
          <a:noFill/>
        </p:spPr>
        <p:txBody>
          <a:bodyPr wrap="square" anchor="t" lIns="0" rIns="0" tIns="0" bIns="0">
            <a:noAutofit/>
          </a:bodyPr>
          <a:lstStyle/>
          <a:p>
            <a:r>
              <a:rPr sz="1000" b="1">
                <a:solidFill>
                  <a:srgbClr val="5A5456"/>
                </a:solidFill>
              </a:rPr>
              <a:t>BEISPIELKARTE</a:t>
            </a:r>
          </a:p>
        </p:txBody>
      </p:sp>
      <p:sp>
        <p:nvSpPr>
          <p:cNvPr id="23" name="Beispiel"/>
          <p:cNvSpPr txBox="1"/>
          <p:nvPr/>
        </p:nvSpPr>
        <p:spPr>
          <a:xfrm>
            <a:off x="9153143" y="4178808"/>
            <a:ext cx="2304288" cy="1005840"/>
          </a:xfrm>
          <a:prstGeom prst="rect">
            <a:avLst/>
          </a:prstGeom>
          <a:noFill/>
        </p:spPr>
        <p:txBody>
          <a:bodyPr wrap="square" anchor="t" lIns="0" rIns="0" tIns="0" bIns="0">
            <a:noAutofit/>
          </a:bodyPr>
          <a:lstStyle/>
          <a:p>
            <a:r>
              <a:rPr sz="1300" b="0" i="1">
                <a:solidFill>
                  <a:srgbClr val="5A5456"/>
                </a:solidFill>
              </a:rPr>
              <a:t>Ich entwickle Regeln für einen sinnvollen KI-Einsatz in unserer Klasse.</a:t>
            </a:r>
          </a:p>
        </p:txBody>
      </p:sp>
      <p:sp>
        <p:nvSpPr>
          <p:cNvPr id="24" name="Merksatz"/>
          <p:cNvSpPr/>
          <p:nvPr/>
        </p:nvSpPr>
        <p:spPr>
          <a:xfrm>
            <a:off x="548640" y="5422392"/>
            <a:ext cx="11091672" cy="658368"/>
          </a:xfrm>
          <a:prstGeom prst="roundRect">
            <a:avLst>
              <a:gd name="adj" fmla="val 12000"/>
            </a:avLst>
          </a:prstGeom>
          <a:solidFill>
            <a:srgbClr val="1E1B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274320" rIns="274320">
            <a:noAutofit/>
          </a:bodyPr>
          <a:lstStyle/>
          <a:p>
            <a:pPr algn="l"/>
            <a:r>
              <a:rPr sz="1800" b="1">
                <a:solidFill>
                  <a:srgbClr val="FFFFFF"/>
                </a:solidFill>
              </a:rPr>
              <a:t>KI benutzen ist nicht dasselbe wie KI-kompetent sein.</a:t>
            </a:r>
          </a:p>
        </p:txBody>
      </p:sp>
      <p:sp>
        <p:nvSpPr>
          <p:cNvPr id="25" name="Quelle"/>
          <p:cNvSpPr txBox="1"/>
          <p:nvPr/>
        </p:nvSpPr>
        <p:spPr>
          <a:xfrm>
            <a:off x="548640" y="6217920"/>
            <a:ext cx="11091672" cy="274320"/>
          </a:xfrm>
          <a:prstGeom prst="rect">
            <a:avLst/>
          </a:prstGeom>
          <a:noFill/>
        </p:spPr>
        <p:txBody>
          <a:bodyPr wrap="square" anchor="t" lIns="0" rIns="0" tIns="0" bIns="0">
            <a:noAutofit/>
          </a:bodyPr>
          <a:lstStyle/>
          <a:p>
            <a:r>
              <a:rPr sz="1100" b="0">
                <a:solidFill>
                  <a:srgbClr val="5A5456"/>
                </a:solidFill>
              </a:rPr>
              <a:t>Modell: Alles, Falck, Flick und Schulz (DLH Zürich), ergänzt durch den AILit-Rahmen von OECD und EU (2026), didaktisch bearbeitet.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Aus KI-Nutzung wird eine Lernaufgabe</a:t>
            </a:r>
          </a:p>
        </p:txBody>
      </p:sp>
      <p:sp>
        <p:nvSpPr>
          <p:cNvPr id="3" name="Phase"/>
          <p:cNvSpPr/>
          <p:nvPr/>
        </p:nvSpPr>
        <p:spPr>
          <a:xfrm>
            <a:off x="548640" y="347472"/>
            <a:ext cx="299466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8 · MIN. 94 BIS 109</a:t>
            </a:r>
          </a:p>
        </p:txBody>
      </p:sp>
      <p:sp>
        <p:nvSpPr>
          <p:cNvPr id="4" name="Aufgabe Deutsch"/>
          <p:cNvSpPr/>
          <p:nvPr/>
        </p:nvSpPr>
        <p:spPr>
          <a:xfrm>
            <a:off x="548640" y="1600200"/>
            <a:ext cx="3566160" cy="1783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Fach"/>
          <p:cNvSpPr/>
          <p:nvPr/>
        </p:nvSpPr>
        <p:spPr>
          <a:xfrm>
            <a:off x="777240" y="1783080"/>
            <a:ext cx="1193292" cy="329184"/>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Deutsch</a:t>
            </a:r>
          </a:p>
        </p:txBody>
      </p:sp>
      <p:sp>
        <p:nvSpPr>
          <p:cNvPr id="6" name="Ausgangsauftrag"/>
          <p:cNvSpPr txBox="1"/>
          <p:nvPr/>
        </p:nvSpPr>
        <p:spPr>
          <a:xfrm>
            <a:off x="777240" y="2286000"/>
            <a:ext cx="3108960" cy="1005840"/>
          </a:xfrm>
          <a:prstGeom prst="rect">
            <a:avLst/>
          </a:prstGeom>
          <a:noFill/>
        </p:spPr>
        <p:txBody>
          <a:bodyPr wrap="square" anchor="t" lIns="0" rIns="0" tIns="0" bIns="0">
            <a:noAutofit/>
          </a:bodyPr>
          <a:lstStyle/>
          <a:p>
            <a:r>
              <a:rPr sz="1700" b="0" i="1">
                <a:solidFill>
                  <a:srgbClr val="1E1B1C"/>
                </a:solidFill>
              </a:rPr>
              <a:t>«Lass Gemini/Fobizz eine Kurzgeschichte schreiben.»</a:t>
            </a:r>
          </a:p>
        </p:txBody>
      </p:sp>
      <p:sp>
        <p:nvSpPr>
          <p:cNvPr id="7" name="Aufgabe Fremdsprache"/>
          <p:cNvSpPr/>
          <p:nvPr/>
        </p:nvSpPr>
        <p:spPr>
          <a:xfrm>
            <a:off x="4311396" y="1600200"/>
            <a:ext cx="3566160" cy="1783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Fach"/>
          <p:cNvSpPr/>
          <p:nvPr/>
        </p:nvSpPr>
        <p:spPr>
          <a:xfrm>
            <a:off x="4539996" y="1783080"/>
            <a:ext cx="1719072" cy="329184"/>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Fremdsprache</a:t>
            </a:r>
          </a:p>
        </p:txBody>
      </p:sp>
      <p:sp>
        <p:nvSpPr>
          <p:cNvPr id="9" name="Ausgangsauftrag"/>
          <p:cNvSpPr txBox="1"/>
          <p:nvPr/>
        </p:nvSpPr>
        <p:spPr>
          <a:xfrm>
            <a:off x="4539996" y="2286000"/>
            <a:ext cx="3108960" cy="1005840"/>
          </a:xfrm>
          <a:prstGeom prst="rect">
            <a:avLst/>
          </a:prstGeom>
          <a:noFill/>
        </p:spPr>
        <p:txBody>
          <a:bodyPr wrap="square" anchor="t" lIns="0" rIns="0" tIns="0" bIns="0">
            <a:noAutofit/>
          </a:bodyPr>
          <a:lstStyle/>
          <a:p>
            <a:r>
              <a:rPr sz="1700" b="0" i="1">
                <a:solidFill>
                  <a:srgbClr val="1E1B1C"/>
                </a:solidFill>
              </a:rPr>
              <a:t>«Lass deinen Text von KI korrigieren.»</a:t>
            </a:r>
          </a:p>
        </p:txBody>
      </p:sp>
      <p:sp>
        <p:nvSpPr>
          <p:cNvPr id="10" name="Aufgabe Geschichte"/>
          <p:cNvSpPr/>
          <p:nvPr/>
        </p:nvSpPr>
        <p:spPr>
          <a:xfrm>
            <a:off x="8074152" y="1600200"/>
            <a:ext cx="3566160" cy="1783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1" name="Fach"/>
          <p:cNvSpPr/>
          <p:nvPr/>
        </p:nvSpPr>
        <p:spPr>
          <a:xfrm>
            <a:off x="8302752" y="1783080"/>
            <a:ext cx="1508760" cy="329184"/>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Geschichte</a:t>
            </a:r>
          </a:p>
        </p:txBody>
      </p:sp>
      <p:sp>
        <p:nvSpPr>
          <p:cNvPr id="12" name="Ausgangsauftrag"/>
          <p:cNvSpPr txBox="1"/>
          <p:nvPr/>
        </p:nvSpPr>
        <p:spPr>
          <a:xfrm>
            <a:off x="8302752" y="2286000"/>
            <a:ext cx="3108960" cy="1005840"/>
          </a:xfrm>
          <a:prstGeom prst="rect">
            <a:avLst/>
          </a:prstGeom>
          <a:noFill/>
        </p:spPr>
        <p:txBody>
          <a:bodyPr wrap="square" anchor="t" lIns="0" rIns="0" tIns="0" bIns="0">
            <a:noAutofit/>
          </a:bodyPr>
          <a:lstStyle/>
          <a:p>
            <a:r>
              <a:rPr sz="1700" b="0" i="1">
                <a:solidFill>
                  <a:srgbClr val="1E1B1C"/>
                </a:solidFill>
              </a:rPr>
              <a:t>«Frage die KI nach den Ursachen des Ersten Weltkriegs.»</a:t>
            </a:r>
          </a:p>
        </p:txBody>
      </p:sp>
      <p:sp>
        <p:nvSpPr>
          <p:cNvPr id="13" name="Aufgabe Natur und Technik"/>
          <p:cNvSpPr/>
          <p:nvPr/>
        </p:nvSpPr>
        <p:spPr>
          <a:xfrm>
            <a:off x="548640" y="3520440"/>
            <a:ext cx="3566160" cy="1783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4" name="Fach"/>
          <p:cNvSpPr/>
          <p:nvPr/>
        </p:nvSpPr>
        <p:spPr>
          <a:xfrm>
            <a:off x="777240" y="3703320"/>
            <a:ext cx="2244852" cy="329184"/>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Natur und Technik</a:t>
            </a:r>
          </a:p>
        </p:txBody>
      </p:sp>
      <p:sp>
        <p:nvSpPr>
          <p:cNvPr id="15" name="Ausgangsauftrag"/>
          <p:cNvSpPr txBox="1"/>
          <p:nvPr/>
        </p:nvSpPr>
        <p:spPr>
          <a:xfrm>
            <a:off x="777240" y="4206240"/>
            <a:ext cx="3108960" cy="1005840"/>
          </a:xfrm>
          <a:prstGeom prst="rect">
            <a:avLst/>
          </a:prstGeom>
          <a:noFill/>
        </p:spPr>
        <p:txBody>
          <a:bodyPr wrap="square" anchor="t" lIns="0" rIns="0" tIns="0" bIns="0">
            <a:noAutofit/>
          </a:bodyPr>
          <a:lstStyle/>
          <a:p>
            <a:r>
              <a:rPr sz="1700" b="0" i="1">
                <a:solidFill>
                  <a:srgbClr val="1E1B1C"/>
                </a:solidFill>
              </a:rPr>
              <a:t>«Lass dir Photosynthese erklären.»</a:t>
            </a:r>
          </a:p>
        </p:txBody>
      </p:sp>
      <p:sp>
        <p:nvSpPr>
          <p:cNvPr id="16" name="Aufgabe Berufliche Orientierung"/>
          <p:cNvSpPr/>
          <p:nvPr/>
        </p:nvSpPr>
        <p:spPr>
          <a:xfrm>
            <a:off x="4311396" y="3520440"/>
            <a:ext cx="3566160" cy="1783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7" name="Fach"/>
          <p:cNvSpPr/>
          <p:nvPr/>
        </p:nvSpPr>
        <p:spPr>
          <a:xfrm>
            <a:off x="4539996" y="3703320"/>
            <a:ext cx="2875788" cy="329184"/>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Berufliche Orientierung</a:t>
            </a:r>
          </a:p>
        </p:txBody>
      </p:sp>
      <p:sp>
        <p:nvSpPr>
          <p:cNvPr id="18" name="Ausgangsauftrag"/>
          <p:cNvSpPr txBox="1"/>
          <p:nvPr/>
        </p:nvSpPr>
        <p:spPr>
          <a:xfrm>
            <a:off x="4539996" y="4206240"/>
            <a:ext cx="3108960" cy="1005840"/>
          </a:xfrm>
          <a:prstGeom prst="rect">
            <a:avLst/>
          </a:prstGeom>
          <a:noFill/>
        </p:spPr>
        <p:txBody>
          <a:bodyPr wrap="square" anchor="t" lIns="0" rIns="0" tIns="0" bIns="0">
            <a:noAutofit/>
          </a:bodyPr>
          <a:lstStyle/>
          <a:p>
            <a:r>
              <a:rPr sz="1700" b="0" i="1">
                <a:solidFill>
                  <a:srgbClr val="1E1B1C"/>
                </a:solidFill>
              </a:rPr>
              <a:t>«Lass dir ein Bewerbungsschreiben erstellen.»</a:t>
            </a:r>
          </a:p>
        </p:txBody>
      </p:sp>
      <p:sp>
        <p:nvSpPr>
          <p:cNvPr id="19" name="Aufgabe Mathematik"/>
          <p:cNvSpPr/>
          <p:nvPr/>
        </p:nvSpPr>
        <p:spPr>
          <a:xfrm>
            <a:off x="8074152" y="3520440"/>
            <a:ext cx="3566160" cy="1783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0" name="Fach"/>
          <p:cNvSpPr/>
          <p:nvPr/>
        </p:nvSpPr>
        <p:spPr>
          <a:xfrm>
            <a:off x="8302752" y="3703320"/>
            <a:ext cx="1508760" cy="329184"/>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Mathematik</a:t>
            </a:r>
          </a:p>
        </p:txBody>
      </p:sp>
      <p:sp>
        <p:nvSpPr>
          <p:cNvPr id="21" name="Ausgangsauftrag"/>
          <p:cNvSpPr txBox="1"/>
          <p:nvPr/>
        </p:nvSpPr>
        <p:spPr>
          <a:xfrm>
            <a:off x="8302752" y="4206240"/>
            <a:ext cx="3108960" cy="1005840"/>
          </a:xfrm>
          <a:prstGeom prst="rect">
            <a:avLst/>
          </a:prstGeom>
          <a:noFill/>
        </p:spPr>
        <p:txBody>
          <a:bodyPr wrap="square" anchor="t" lIns="0" rIns="0" tIns="0" bIns="0">
            <a:noAutofit/>
          </a:bodyPr>
          <a:lstStyle/>
          <a:p>
            <a:r>
              <a:rPr sz="1700" b="0" i="1">
                <a:solidFill>
                  <a:srgbClr val="1E1B1C"/>
                </a:solidFill>
              </a:rPr>
              <a:t>«Lass die KI die Aufgabe lösen.»</a:t>
            </a:r>
          </a:p>
        </p:txBody>
      </p:sp>
      <p:sp>
        <p:nvSpPr>
          <p:cNvPr id="22" name="Auftrag"/>
          <p:cNvSpPr txBox="1"/>
          <p:nvPr/>
        </p:nvSpPr>
        <p:spPr>
          <a:xfrm>
            <a:off x="548640" y="5486400"/>
            <a:ext cx="11091672" cy="822960"/>
          </a:xfrm>
          <a:prstGeom prst="rect">
            <a:avLst/>
          </a:prstGeom>
          <a:noFill/>
        </p:spPr>
        <p:txBody>
          <a:bodyPr wrap="square" anchor="t" lIns="0" rIns="0" tIns="0" bIns="0">
            <a:noAutofit/>
          </a:bodyPr>
          <a:lstStyle/>
          <a:p>
            <a:r>
              <a:rPr sz="1600" b="1">
                <a:solidFill>
                  <a:srgbClr val="1E1B1C"/>
                </a:solidFill>
              </a:rPr>
              <a:t>Auftrag: </a:t>
            </a:r>
            <a:r>
              <a:rPr sz="1600" b="0">
                <a:solidFill>
                  <a:srgbClr val="1E1B1C"/>
                </a:solidFill>
              </a:rPr>
              <a:t>Jede Gruppe wählt eine Aufgabe, möglichst aus dem eigenen Fach, und verbessert sie so, dass mindestens zwei KI-Kompetenzbereiche durch Handlungen und Lernbelege sichtbar werden.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Das Verbesserungsraster</a:t>
            </a:r>
          </a:p>
        </p:txBody>
      </p:sp>
      <p:sp>
        <p:nvSpPr>
          <p:cNvPr id="3" name="Phase"/>
          <p:cNvSpPr/>
          <p:nvPr/>
        </p:nvSpPr>
        <p:spPr>
          <a:xfrm>
            <a:off x="548640" y="347472"/>
            <a:ext cx="299466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8 · MIN. 94 BIS 109</a:t>
            </a:r>
          </a:p>
        </p:txBody>
      </p:sp>
      <p:sp>
        <p:nvSpPr>
          <p:cNvPr id="4" name="Kachel 1"/>
          <p:cNvSpPr/>
          <p:nvPr/>
        </p:nvSpPr>
        <p:spPr>
          <a:xfrm>
            <a:off x="548640" y="1600200"/>
            <a:ext cx="356616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Nummer 1"/>
          <p:cNvSpPr/>
          <p:nvPr/>
        </p:nvSpPr>
        <p:spPr>
          <a:xfrm>
            <a:off x="777240" y="2080260"/>
            <a:ext cx="502920" cy="50292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800" b="1">
                <a:solidFill>
                  <a:srgbClr val="1E1B1C"/>
                </a:solidFill>
              </a:rPr>
              <a:t>1</a:t>
            </a:r>
          </a:p>
        </p:txBody>
      </p:sp>
      <p:sp>
        <p:nvSpPr>
          <p:cNvPr id="6" name="Rasterfrage 1"/>
          <p:cNvSpPr txBox="1"/>
          <p:nvPr/>
        </p:nvSpPr>
        <p:spPr>
          <a:xfrm>
            <a:off x="1463040" y="1709928"/>
            <a:ext cx="2468880" cy="1243584"/>
          </a:xfrm>
          <a:prstGeom prst="rect">
            <a:avLst/>
          </a:prstGeom>
          <a:noFill/>
        </p:spPr>
        <p:txBody>
          <a:bodyPr wrap="square" anchor="ctr" lIns="0" rIns="0" tIns="0" bIns="0">
            <a:noAutofit/>
          </a:bodyPr>
          <a:lstStyle/>
          <a:p>
            <a:r>
              <a:rPr sz="1700" b="0">
                <a:solidFill>
                  <a:srgbClr val="1E1B1C"/>
                </a:solidFill>
              </a:rPr>
              <a:t>Was sollen die Lernenden selbst denken oder tun?</a:t>
            </a:r>
          </a:p>
        </p:txBody>
      </p:sp>
      <p:sp>
        <p:nvSpPr>
          <p:cNvPr id="7" name="Kachel 2"/>
          <p:cNvSpPr/>
          <p:nvPr/>
        </p:nvSpPr>
        <p:spPr>
          <a:xfrm>
            <a:off x="4311396" y="1600200"/>
            <a:ext cx="356616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Nummer 2"/>
          <p:cNvSpPr/>
          <p:nvPr/>
        </p:nvSpPr>
        <p:spPr>
          <a:xfrm>
            <a:off x="4539996" y="2080260"/>
            <a:ext cx="502920" cy="50292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800" b="1">
                <a:solidFill>
                  <a:srgbClr val="1E1B1C"/>
                </a:solidFill>
              </a:rPr>
              <a:t>2</a:t>
            </a:r>
          </a:p>
        </p:txBody>
      </p:sp>
      <p:sp>
        <p:nvSpPr>
          <p:cNvPr id="9" name="Rasterfrage 2"/>
          <p:cNvSpPr txBox="1"/>
          <p:nvPr/>
        </p:nvSpPr>
        <p:spPr>
          <a:xfrm>
            <a:off x="5225796" y="1709928"/>
            <a:ext cx="2468880" cy="1243584"/>
          </a:xfrm>
          <a:prstGeom prst="rect">
            <a:avLst/>
          </a:prstGeom>
          <a:noFill/>
        </p:spPr>
        <p:txBody>
          <a:bodyPr wrap="square" anchor="ctr" lIns="0" rIns="0" tIns="0" bIns="0">
            <a:noAutofit/>
          </a:bodyPr>
          <a:lstStyle/>
          <a:p>
            <a:r>
              <a:rPr sz="1700" b="0">
                <a:solidFill>
                  <a:srgbClr val="1E1B1C"/>
                </a:solidFill>
              </a:rPr>
              <a:t>Wofür wird KI eingesetzt?</a:t>
            </a:r>
          </a:p>
        </p:txBody>
      </p:sp>
      <p:sp>
        <p:nvSpPr>
          <p:cNvPr id="10" name="Kachel 3"/>
          <p:cNvSpPr/>
          <p:nvPr/>
        </p:nvSpPr>
        <p:spPr>
          <a:xfrm>
            <a:off x="8074152" y="1600200"/>
            <a:ext cx="356616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1" name="Nummer 3"/>
          <p:cNvSpPr/>
          <p:nvPr/>
        </p:nvSpPr>
        <p:spPr>
          <a:xfrm>
            <a:off x="8302752" y="2080260"/>
            <a:ext cx="502920" cy="50292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800" b="1">
                <a:solidFill>
                  <a:srgbClr val="1E1B1C"/>
                </a:solidFill>
              </a:rPr>
              <a:t>3</a:t>
            </a:r>
          </a:p>
        </p:txBody>
      </p:sp>
      <p:sp>
        <p:nvSpPr>
          <p:cNvPr id="12" name="Rasterfrage 3"/>
          <p:cNvSpPr txBox="1"/>
          <p:nvPr/>
        </p:nvSpPr>
        <p:spPr>
          <a:xfrm>
            <a:off x="8988552" y="1709928"/>
            <a:ext cx="2468880" cy="1243584"/>
          </a:xfrm>
          <a:prstGeom prst="rect">
            <a:avLst/>
          </a:prstGeom>
          <a:noFill/>
        </p:spPr>
        <p:txBody>
          <a:bodyPr wrap="square" anchor="ctr" lIns="0" rIns="0" tIns="0" bIns="0">
            <a:noAutofit/>
          </a:bodyPr>
          <a:lstStyle/>
          <a:p>
            <a:r>
              <a:rPr sz="1700" b="0">
                <a:solidFill>
                  <a:srgbClr val="1E1B1C"/>
                </a:solidFill>
              </a:rPr>
              <a:t>Was muss am KI-Output geprüft oder hinterfragt werden?</a:t>
            </a:r>
          </a:p>
        </p:txBody>
      </p:sp>
      <p:sp>
        <p:nvSpPr>
          <p:cNvPr id="13" name="Kachel 4"/>
          <p:cNvSpPr/>
          <p:nvPr/>
        </p:nvSpPr>
        <p:spPr>
          <a:xfrm>
            <a:off x="548640" y="3200400"/>
            <a:ext cx="356616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4" name="Nummer 4"/>
          <p:cNvSpPr/>
          <p:nvPr/>
        </p:nvSpPr>
        <p:spPr>
          <a:xfrm>
            <a:off x="777240" y="3680460"/>
            <a:ext cx="502920" cy="50292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800" b="1">
                <a:solidFill>
                  <a:srgbClr val="1E1B1C"/>
                </a:solidFill>
              </a:rPr>
              <a:t>4</a:t>
            </a:r>
          </a:p>
        </p:txBody>
      </p:sp>
      <p:sp>
        <p:nvSpPr>
          <p:cNvPr id="15" name="Rasterfrage 4"/>
          <p:cNvSpPr txBox="1"/>
          <p:nvPr/>
        </p:nvSpPr>
        <p:spPr>
          <a:xfrm>
            <a:off x="1463040" y="3310128"/>
            <a:ext cx="2468880" cy="1243584"/>
          </a:xfrm>
          <a:prstGeom prst="rect">
            <a:avLst/>
          </a:prstGeom>
          <a:noFill/>
        </p:spPr>
        <p:txBody>
          <a:bodyPr wrap="square" anchor="ctr" lIns="0" rIns="0" tIns="0" bIns="0">
            <a:noAutofit/>
          </a:bodyPr>
          <a:lstStyle/>
          <a:p>
            <a:r>
              <a:rPr sz="1700" b="0">
                <a:solidFill>
                  <a:srgbClr val="1E1B1C"/>
                </a:solidFill>
              </a:rPr>
              <a:t>Welche Entscheidung bleibt beim Menschen?</a:t>
            </a:r>
          </a:p>
        </p:txBody>
      </p:sp>
      <p:sp>
        <p:nvSpPr>
          <p:cNvPr id="16" name="Kachel 5"/>
          <p:cNvSpPr/>
          <p:nvPr/>
        </p:nvSpPr>
        <p:spPr>
          <a:xfrm>
            <a:off x="4311396" y="3200400"/>
            <a:ext cx="356616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7" name="Nummer 5"/>
          <p:cNvSpPr/>
          <p:nvPr/>
        </p:nvSpPr>
        <p:spPr>
          <a:xfrm>
            <a:off x="4539996" y="3680460"/>
            <a:ext cx="502920" cy="50292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800" b="1">
                <a:solidFill>
                  <a:srgbClr val="1E1B1C"/>
                </a:solidFill>
              </a:rPr>
              <a:t>5</a:t>
            </a:r>
          </a:p>
        </p:txBody>
      </p:sp>
      <p:sp>
        <p:nvSpPr>
          <p:cNvPr id="18" name="Rasterfrage 5"/>
          <p:cNvSpPr txBox="1"/>
          <p:nvPr/>
        </p:nvSpPr>
        <p:spPr>
          <a:xfrm>
            <a:off x="5225796" y="3310128"/>
            <a:ext cx="2468880" cy="1243584"/>
          </a:xfrm>
          <a:prstGeom prst="rect">
            <a:avLst/>
          </a:prstGeom>
          <a:noFill/>
        </p:spPr>
        <p:txBody>
          <a:bodyPr wrap="square" anchor="ctr" lIns="0" rIns="0" tIns="0" bIns="0">
            <a:noAutofit/>
          </a:bodyPr>
          <a:lstStyle/>
          <a:p>
            <a:r>
              <a:rPr sz="1700" b="0">
                <a:solidFill>
                  <a:srgbClr val="1E1B1C"/>
                </a:solidFill>
              </a:rPr>
              <a:t>Welche KI-Kompetenz wird aufgebaut?</a:t>
            </a:r>
          </a:p>
        </p:txBody>
      </p:sp>
      <p:sp>
        <p:nvSpPr>
          <p:cNvPr id="19" name="Kachel 6"/>
          <p:cNvSpPr/>
          <p:nvPr/>
        </p:nvSpPr>
        <p:spPr>
          <a:xfrm>
            <a:off x="8074152" y="3200400"/>
            <a:ext cx="356616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0" name="Nummer 6"/>
          <p:cNvSpPr/>
          <p:nvPr/>
        </p:nvSpPr>
        <p:spPr>
          <a:xfrm>
            <a:off x="8302752" y="3680460"/>
            <a:ext cx="502920" cy="50292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800" b="1">
                <a:solidFill>
                  <a:srgbClr val="1E1B1C"/>
                </a:solidFill>
              </a:rPr>
              <a:t>6</a:t>
            </a:r>
          </a:p>
        </p:txBody>
      </p:sp>
      <p:sp>
        <p:nvSpPr>
          <p:cNvPr id="21" name="Rasterfrage 6"/>
          <p:cNvSpPr txBox="1"/>
          <p:nvPr/>
        </p:nvSpPr>
        <p:spPr>
          <a:xfrm>
            <a:off x="8988552" y="3310128"/>
            <a:ext cx="2468880" cy="1243584"/>
          </a:xfrm>
          <a:prstGeom prst="rect">
            <a:avLst/>
          </a:prstGeom>
          <a:noFill/>
        </p:spPr>
        <p:txBody>
          <a:bodyPr wrap="square" anchor="ctr" lIns="0" rIns="0" tIns="0" bIns="0">
            <a:noAutofit/>
          </a:bodyPr>
          <a:lstStyle/>
          <a:p>
            <a:r>
              <a:rPr sz="1700" b="0">
                <a:solidFill>
                  <a:srgbClr val="1E1B1C"/>
                </a:solidFill>
              </a:rPr>
              <a:t>Woran erkennen wir, dass gelernt wurde?</a:t>
            </a:r>
          </a:p>
        </p:txBody>
      </p:sp>
      <p:sp>
        <p:nvSpPr>
          <p:cNvPr id="22" name="Merksatz"/>
          <p:cNvSpPr/>
          <p:nvPr/>
        </p:nvSpPr>
        <p:spPr>
          <a:xfrm>
            <a:off x="548640" y="4937760"/>
            <a:ext cx="11091672" cy="1325880"/>
          </a:xfrm>
          <a:prstGeom prst="roundRect">
            <a:avLst>
              <a:gd name="adj" fmla="val 12000"/>
            </a:avLst>
          </a:prstGeom>
          <a:solidFill>
            <a:srgbClr val="1E1B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274320" rIns="274320">
            <a:noAutofit/>
          </a:bodyPr>
          <a:lstStyle/>
          <a:p>
            <a:pPr algn="l">
              <a:spcAft>
                <a:spcPts val="600"/>
              </a:spcAft>
            </a:pPr>
            <a:r>
              <a:rPr sz="1600" b="1">
                <a:solidFill>
                  <a:srgbClr val="FFFFFF"/>
                </a:solidFill>
              </a:rPr>
              <a:t>Danach: </a:t>
            </a:r>
            <a:r>
              <a:rPr sz="1600" b="0">
                <a:solidFill>
                  <a:srgbClr val="FFFFFF"/>
                </a:solidFill>
              </a:rPr>
              <a:t>den neuen Arbeitsauftrag an die Lernenden formulieren.</a:t>
            </a:r>
          </a:p>
          <a:p>
            <a:pPr algn="l"/>
            <a:r>
              <a:rPr sz="1600" b="1">
                <a:solidFill>
                  <a:srgbClr val="FFFFFF"/>
                </a:solidFill>
              </a:rPr>
              <a:t>Partnerprüfung: </a:t>
            </a:r>
            <a:r>
              <a:rPr sz="1600" b="0">
                <a:solidFill>
                  <a:srgbClr val="FFFFFF"/>
                </a:solidFill>
              </a:rPr>
              <a:t>Könnte jemand erfolgreich sein, ohne den KI-Output verstanden zu haben? Was ändern wir?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Beispiel aus dem Deutschunterricht</a:t>
            </a:r>
          </a:p>
        </p:txBody>
      </p:sp>
      <p:sp>
        <p:nvSpPr>
          <p:cNvPr id="3" name="Phase"/>
          <p:cNvSpPr/>
          <p:nvPr/>
        </p:nvSpPr>
        <p:spPr>
          <a:xfrm>
            <a:off x="548640" y="347472"/>
            <a:ext cx="394106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8 · BEISPIEL ZUM VERGLEICHEN</a:t>
            </a:r>
          </a:p>
        </p:txBody>
      </p:sp>
      <p:sp>
        <p:nvSpPr>
          <p:cNvPr id="4" name="Karte Vorher"/>
          <p:cNvSpPr/>
          <p:nvPr/>
        </p:nvSpPr>
        <p:spPr>
          <a:xfrm>
            <a:off x="548640" y="1600200"/>
            <a:ext cx="3657600" cy="4480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Etikett vorher"/>
          <p:cNvSpPr/>
          <p:nvPr/>
        </p:nvSpPr>
        <p:spPr>
          <a:xfrm>
            <a:off x="822960" y="1801368"/>
            <a:ext cx="2011680" cy="347472"/>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Ausgangsauftrag</a:t>
            </a:r>
          </a:p>
        </p:txBody>
      </p:sp>
      <p:sp>
        <p:nvSpPr>
          <p:cNvPr id="6" name="Vorher"/>
          <p:cNvSpPr txBox="1"/>
          <p:nvPr/>
        </p:nvSpPr>
        <p:spPr>
          <a:xfrm>
            <a:off x="822960" y="2468880"/>
            <a:ext cx="3108960" cy="2011680"/>
          </a:xfrm>
          <a:prstGeom prst="rect">
            <a:avLst/>
          </a:prstGeom>
          <a:noFill/>
        </p:spPr>
        <p:txBody>
          <a:bodyPr wrap="square" anchor="t" lIns="0" rIns="0" tIns="0" bIns="0">
            <a:noAutofit/>
          </a:bodyPr>
          <a:lstStyle/>
          <a:p>
            <a:r>
              <a:rPr sz="2200" b="0" i="1">
                <a:solidFill>
                  <a:srgbClr val="1E1B1C"/>
                </a:solidFill>
              </a:rPr>
              <a:t>«Lass Gemini/Fobizz eine Kurzgeschichte schreiben.»</a:t>
            </a:r>
          </a:p>
        </p:txBody>
      </p:sp>
      <p:sp>
        <p:nvSpPr>
          <p:cNvPr id="7" name="Befund"/>
          <p:cNvSpPr txBox="1"/>
          <p:nvPr/>
        </p:nvSpPr>
        <p:spPr>
          <a:xfrm>
            <a:off x="822960" y="4754880"/>
            <a:ext cx="3108960" cy="1097280"/>
          </a:xfrm>
          <a:prstGeom prst="rect">
            <a:avLst/>
          </a:prstGeom>
          <a:noFill/>
        </p:spPr>
        <p:txBody>
          <a:bodyPr wrap="square" anchor="t" lIns="0" rIns="0" tIns="0" bIns="0">
            <a:noAutofit/>
          </a:bodyPr>
          <a:lstStyle/>
          <a:p>
            <a:r>
              <a:rPr sz="1500" b="0">
                <a:solidFill>
                  <a:srgbClr val="5A5456"/>
                </a:solidFill>
              </a:rPr>
              <a:t>Ob jemand gelernt hat, bleibt unsichtbar.</a:t>
            </a:r>
          </a:p>
        </p:txBody>
      </p:sp>
      <p:sp>
        <p:nvSpPr>
          <p:cNvPr id="8" name="Karte Nachher"/>
          <p:cNvSpPr/>
          <p:nvPr/>
        </p:nvSpPr>
        <p:spPr>
          <a:xfrm>
            <a:off x="4434840" y="1600200"/>
            <a:ext cx="7205472" cy="4480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9" name="Etikett nachher"/>
          <p:cNvSpPr/>
          <p:nvPr/>
        </p:nvSpPr>
        <p:spPr>
          <a:xfrm>
            <a:off x="4709160" y="1801368"/>
            <a:ext cx="2377440" cy="347472"/>
          </a:xfrm>
          <a:prstGeom prst="roundRect">
            <a:avLst>
              <a:gd name="adj" fmla="val 50000"/>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300" b="1">
                <a:solidFill>
                  <a:srgbClr val="1E1B1C"/>
                </a:solidFill>
              </a:rPr>
              <a:t>Verbesserter Auftrag</a:t>
            </a:r>
          </a:p>
        </p:txBody>
      </p:sp>
      <p:sp>
        <p:nvSpPr>
          <p:cNvPr id="10" name="Nummer 1"/>
          <p:cNvSpPr/>
          <p:nvPr/>
        </p:nvSpPr>
        <p:spPr>
          <a:xfrm>
            <a:off x="4709160" y="2432304"/>
            <a:ext cx="347472" cy="347472"/>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1</a:t>
            </a:r>
          </a:p>
        </p:txBody>
      </p:sp>
      <p:sp>
        <p:nvSpPr>
          <p:cNvPr id="11" name="Schritt 1"/>
          <p:cNvSpPr txBox="1"/>
          <p:nvPr/>
        </p:nvSpPr>
        <p:spPr>
          <a:xfrm>
            <a:off x="5221224" y="2377440"/>
            <a:ext cx="6163056" cy="457200"/>
          </a:xfrm>
          <a:prstGeom prst="rect">
            <a:avLst/>
          </a:prstGeom>
          <a:noFill/>
        </p:spPr>
        <p:txBody>
          <a:bodyPr wrap="square" anchor="ctr" lIns="0" rIns="0" tIns="0" bIns="0">
            <a:noAutofit/>
          </a:bodyPr>
          <a:lstStyle/>
          <a:p>
            <a:r>
              <a:rPr sz="1500" b="0">
                <a:solidFill>
                  <a:srgbClr val="1E1B1C"/>
                </a:solidFill>
              </a:rPr>
              <a:t>Lege zwei Kriterien für eine spannende Kurzgeschichte fest.</a:t>
            </a:r>
          </a:p>
        </p:txBody>
      </p:sp>
      <p:sp>
        <p:nvSpPr>
          <p:cNvPr id="12" name="Nummer 2"/>
          <p:cNvSpPr/>
          <p:nvPr/>
        </p:nvSpPr>
        <p:spPr>
          <a:xfrm>
            <a:off x="4709160" y="2889504"/>
            <a:ext cx="347472" cy="347472"/>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2</a:t>
            </a:r>
          </a:p>
        </p:txBody>
      </p:sp>
      <p:sp>
        <p:nvSpPr>
          <p:cNvPr id="13" name="Schritt 2"/>
          <p:cNvSpPr txBox="1"/>
          <p:nvPr/>
        </p:nvSpPr>
        <p:spPr>
          <a:xfrm>
            <a:off x="5221224" y="2834640"/>
            <a:ext cx="6163056" cy="457200"/>
          </a:xfrm>
          <a:prstGeom prst="rect">
            <a:avLst/>
          </a:prstGeom>
          <a:noFill/>
        </p:spPr>
        <p:txBody>
          <a:bodyPr wrap="square" anchor="ctr" lIns="0" rIns="0" tIns="0" bIns="0">
            <a:noAutofit/>
          </a:bodyPr>
          <a:lstStyle/>
          <a:p>
            <a:r>
              <a:rPr sz="1500" b="0">
                <a:solidFill>
                  <a:srgbClr val="1E1B1C"/>
                </a:solidFill>
              </a:rPr>
              <a:t>Verfasse selbst einen Anfang.</a:t>
            </a:r>
          </a:p>
        </p:txBody>
      </p:sp>
      <p:sp>
        <p:nvSpPr>
          <p:cNvPr id="14" name="Nummer 3"/>
          <p:cNvSpPr/>
          <p:nvPr/>
        </p:nvSpPr>
        <p:spPr>
          <a:xfrm>
            <a:off x="4709160" y="3346704"/>
            <a:ext cx="347472" cy="347472"/>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3</a:t>
            </a:r>
          </a:p>
        </p:txBody>
      </p:sp>
      <p:sp>
        <p:nvSpPr>
          <p:cNvPr id="15" name="Schritt 3"/>
          <p:cNvSpPr txBox="1"/>
          <p:nvPr/>
        </p:nvSpPr>
        <p:spPr>
          <a:xfrm>
            <a:off x="5221224" y="3291840"/>
            <a:ext cx="6163056" cy="457200"/>
          </a:xfrm>
          <a:prstGeom prst="rect">
            <a:avLst/>
          </a:prstGeom>
          <a:noFill/>
        </p:spPr>
        <p:txBody>
          <a:bodyPr wrap="square" anchor="ctr" lIns="0" rIns="0" tIns="0" bIns="0">
            <a:noAutofit/>
          </a:bodyPr>
          <a:lstStyle/>
          <a:p>
            <a:r>
              <a:rPr sz="1500" b="0">
                <a:solidFill>
                  <a:srgbClr val="1E1B1C"/>
                </a:solidFill>
              </a:rPr>
              <a:t>Lass Fobizz oder Gemini zwei Fortsetzungen vorschlagen.</a:t>
            </a:r>
          </a:p>
        </p:txBody>
      </p:sp>
      <p:sp>
        <p:nvSpPr>
          <p:cNvPr id="16" name="Nummer 4"/>
          <p:cNvSpPr/>
          <p:nvPr/>
        </p:nvSpPr>
        <p:spPr>
          <a:xfrm>
            <a:off x="4709160" y="3803903"/>
            <a:ext cx="347472" cy="347472"/>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4</a:t>
            </a:r>
          </a:p>
        </p:txBody>
      </p:sp>
      <p:sp>
        <p:nvSpPr>
          <p:cNvPr id="17" name="Schritt 4"/>
          <p:cNvSpPr txBox="1"/>
          <p:nvPr/>
        </p:nvSpPr>
        <p:spPr>
          <a:xfrm>
            <a:off x="5221224" y="3749039"/>
            <a:ext cx="6163056" cy="457200"/>
          </a:xfrm>
          <a:prstGeom prst="rect">
            <a:avLst/>
          </a:prstGeom>
          <a:noFill/>
        </p:spPr>
        <p:txBody>
          <a:bodyPr wrap="square" anchor="ctr" lIns="0" rIns="0" tIns="0" bIns="0">
            <a:noAutofit/>
          </a:bodyPr>
          <a:lstStyle/>
          <a:p>
            <a:r>
              <a:rPr sz="1500" b="0">
                <a:solidFill>
                  <a:srgbClr val="1E1B1C"/>
                </a:solidFill>
              </a:rPr>
              <a:t>Vergleiche sie anhand deiner Kriterien.</a:t>
            </a:r>
          </a:p>
        </p:txBody>
      </p:sp>
      <p:sp>
        <p:nvSpPr>
          <p:cNvPr id="18" name="Nummer 5"/>
          <p:cNvSpPr/>
          <p:nvPr/>
        </p:nvSpPr>
        <p:spPr>
          <a:xfrm>
            <a:off x="4709160" y="4261103"/>
            <a:ext cx="347472" cy="347472"/>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5</a:t>
            </a:r>
          </a:p>
        </p:txBody>
      </p:sp>
      <p:sp>
        <p:nvSpPr>
          <p:cNvPr id="19" name="Schritt 5"/>
          <p:cNvSpPr txBox="1"/>
          <p:nvPr/>
        </p:nvSpPr>
        <p:spPr>
          <a:xfrm>
            <a:off x="5221224" y="4206240"/>
            <a:ext cx="6163056" cy="457200"/>
          </a:xfrm>
          <a:prstGeom prst="rect">
            <a:avLst/>
          </a:prstGeom>
          <a:noFill/>
        </p:spPr>
        <p:txBody>
          <a:bodyPr wrap="square" anchor="ctr" lIns="0" rIns="0" tIns="0" bIns="0">
            <a:noAutofit/>
          </a:bodyPr>
          <a:lstStyle/>
          <a:p>
            <a:r>
              <a:rPr sz="1500" b="0">
                <a:solidFill>
                  <a:srgbClr val="1E1B1C"/>
                </a:solidFill>
              </a:rPr>
              <a:t>Untersuche eine mögliche stereotype Darstellung.</a:t>
            </a:r>
          </a:p>
        </p:txBody>
      </p:sp>
      <p:sp>
        <p:nvSpPr>
          <p:cNvPr id="20" name="Nummer 6"/>
          <p:cNvSpPr/>
          <p:nvPr/>
        </p:nvSpPr>
        <p:spPr>
          <a:xfrm>
            <a:off x="4709160" y="4718303"/>
            <a:ext cx="347472" cy="347472"/>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6</a:t>
            </a:r>
          </a:p>
        </p:txBody>
      </p:sp>
      <p:sp>
        <p:nvSpPr>
          <p:cNvPr id="21" name="Schritt 6"/>
          <p:cNvSpPr txBox="1"/>
          <p:nvPr/>
        </p:nvSpPr>
        <p:spPr>
          <a:xfrm>
            <a:off x="5221224" y="4663440"/>
            <a:ext cx="6163056" cy="457200"/>
          </a:xfrm>
          <a:prstGeom prst="rect">
            <a:avLst/>
          </a:prstGeom>
          <a:noFill/>
        </p:spPr>
        <p:txBody>
          <a:bodyPr wrap="square" anchor="ctr" lIns="0" rIns="0" tIns="0" bIns="0">
            <a:noAutofit/>
          </a:bodyPr>
          <a:lstStyle/>
          <a:p>
            <a:r>
              <a:rPr sz="1500" b="0">
                <a:solidFill>
                  <a:srgbClr val="1E1B1C"/>
                </a:solidFill>
              </a:rPr>
              <a:t>Schreibe eine eigene Endfassung und erkläre zwei Entscheidungen.</a:t>
            </a:r>
          </a:p>
        </p:txBody>
      </p:sp>
      <p:sp>
        <p:nvSpPr>
          <p:cNvPr id="22" name="Lernbeleg"/>
          <p:cNvSpPr txBox="1"/>
          <p:nvPr/>
        </p:nvSpPr>
        <p:spPr>
          <a:xfrm>
            <a:off x="4709160" y="5212080"/>
            <a:ext cx="6675120" cy="777240"/>
          </a:xfrm>
          <a:prstGeom prst="rect">
            <a:avLst/>
          </a:prstGeom>
          <a:noFill/>
        </p:spPr>
        <p:txBody>
          <a:bodyPr wrap="square" anchor="t" lIns="0" rIns="0" tIns="0" bIns="0">
            <a:noAutofit/>
          </a:bodyPr>
          <a:lstStyle/>
          <a:p>
            <a:r>
              <a:rPr sz="1400" b="1">
                <a:solidFill>
                  <a:srgbClr val="1E1B1C"/>
                </a:solidFill>
              </a:rPr>
              <a:t>Lernbeleg: </a:t>
            </a:r>
            <a:r>
              <a:rPr sz="1400" b="0">
                <a:solidFill>
                  <a:srgbClr val="1E1B1C"/>
                </a:solidFill>
              </a:rPr>
              <a:t>Eigener Anfang, Kriterienvergleich und begründete Endfassung. </a:t>
            </a:r>
            <a:r>
              <a:rPr sz="1400" b="1">
                <a:solidFill>
                  <a:srgbClr val="1E1B1C"/>
                </a:solidFill>
              </a:rPr>
              <a:t>Schwerpunkte: </a:t>
            </a:r>
            <a:r>
              <a:rPr sz="1400" b="0">
                <a:solidFill>
                  <a:srgbClr val="1E1B1C"/>
                </a:solidFill>
              </a:rPr>
              <a:t>Anwenden und Reflektieren.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11064240" cy="640080"/>
          </a:xfrm>
        </p:spPr>
        <p:txBody>
          <a:bodyPr wrap="square" anchor="t" lIns="0" rIns="0" tIns="0" bIns="0">
            <a:noAutofit/>
          </a:bodyPr>
          <a:lstStyle/>
          <a:p>
            <a:r>
              <a:rPr sz="3200"/>
              <a:t>Der KI-Kompetenz-Canvas</a:t>
            </a:r>
          </a:p>
        </p:txBody>
      </p:sp>
      <p:sp>
        <p:nvSpPr>
          <p:cNvPr id="3" name="Phase"/>
          <p:cNvSpPr/>
          <p:nvPr/>
        </p:nvSpPr>
        <p:spPr>
          <a:xfrm>
            <a:off x="548640" y="347472"/>
            <a:ext cx="3099816"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9 · MIN. 109 BIS 120</a:t>
            </a:r>
          </a:p>
        </p:txBody>
      </p:sp>
      <p:sp>
        <p:nvSpPr>
          <p:cNvPr id="4" name="Feld 1"/>
          <p:cNvSpPr/>
          <p:nvPr/>
        </p:nvSpPr>
        <p:spPr>
          <a:xfrm>
            <a:off x="548640" y="1600200"/>
            <a:ext cx="2670048"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5" name="Nummer 1"/>
          <p:cNvSpPr/>
          <p:nvPr/>
        </p:nvSpPr>
        <p:spPr>
          <a:xfrm>
            <a:off x="731520" y="1783080"/>
            <a:ext cx="411480" cy="4114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500" b="1">
                <a:solidFill>
                  <a:srgbClr val="1E1B1C"/>
                </a:solidFill>
              </a:rPr>
              <a:t>1</a:t>
            </a:r>
          </a:p>
        </p:txBody>
      </p:sp>
      <p:sp>
        <p:nvSpPr>
          <p:cNvPr id="6" name="Canvasfeld 1"/>
          <p:cNvSpPr txBox="1"/>
          <p:nvPr/>
        </p:nvSpPr>
        <p:spPr>
          <a:xfrm>
            <a:off x="731520" y="2331720"/>
            <a:ext cx="2304288" cy="1097280"/>
          </a:xfrm>
          <a:prstGeom prst="rect">
            <a:avLst/>
          </a:prstGeom>
          <a:noFill/>
        </p:spPr>
        <p:txBody>
          <a:bodyPr wrap="square" anchor="t" lIns="0" rIns="0" tIns="0" bIns="0">
            <a:noAutofit/>
          </a:bodyPr>
          <a:lstStyle/>
          <a:p>
            <a:r>
              <a:rPr sz="1600" b="0">
                <a:solidFill>
                  <a:srgbClr val="1E1B1C"/>
                </a:solidFill>
              </a:rPr>
              <a:t>Meine Lernenden sollen können …</a:t>
            </a:r>
          </a:p>
        </p:txBody>
      </p:sp>
      <p:sp>
        <p:nvSpPr>
          <p:cNvPr id="7" name="Feld 2"/>
          <p:cNvSpPr/>
          <p:nvPr/>
        </p:nvSpPr>
        <p:spPr>
          <a:xfrm>
            <a:off x="3355848" y="1600200"/>
            <a:ext cx="2670048"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8" name="Nummer 2"/>
          <p:cNvSpPr/>
          <p:nvPr/>
        </p:nvSpPr>
        <p:spPr>
          <a:xfrm>
            <a:off x="3538728" y="1783080"/>
            <a:ext cx="411480" cy="4114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500" b="1">
                <a:solidFill>
                  <a:srgbClr val="1E1B1C"/>
                </a:solidFill>
              </a:rPr>
              <a:t>2</a:t>
            </a:r>
          </a:p>
        </p:txBody>
      </p:sp>
      <p:sp>
        <p:nvSpPr>
          <p:cNvPr id="9" name="Canvasfeld 2"/>
          <p:cNvSpPr txBox="1"/>
          <p:nvPr/>
        </p:nvSpPr>
        <p:spPr>
          <a:xfrm>
            <a:off x="3538728" y="2331720"/>
            <a:ext cx="2304288" cy="1097280"/>
          </a:xfrm>
          <a:prstGeom prst="rect">
            <a:avLst/>
          </a:prstGeom>
          <a:noFill/>
        </p:spPr>
        <p:txBody>
          <a:bodyPr wrap="square" anchor="t" lIns="0" rIns="0" tIns="0" bIns="0">
            <a:noAutofit/>
          </a:bodyPr>
          <a:lstStyle/>
          <a:p>
            <a:r>
              <a:rPr sz="1600" b="0">
                <a:solidFill>
                  <a:srgbClr val="1E1B1C"/>
                </a:solidFill>
              </a:rPr>
              <a:t>So mache ich den Ausgangsstand sichtbar …</a:t>
            </a:r>
          </a:p>
        </p:txBody>
      </p:sp>
      <p:sp>
        <p:nvSpPr>
          <p:cNvPr id="10" name="Feld 3"/>
          <p:cNvSpPr/>
          <p:nvPr/>
        </p:nvSpPr>
        <p:spPr>
          <a:xfrm>
            <a:off x="6163055" y="1600200"/>
            <a:ext cx="2670048"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1" name="Nummer 3"/>
          <p:cNvSpPr/>
          <p:nvPr/>
        </p:nvSpPr>
        <p:spPr>
          <a:xfrm>
            <a:off x="6345936" y="1783080"/>
            <a:ext cx="411480" cy="4114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500" b="1">
                <a:solidFill>
                  <a:srgbClr val="1E1B1C"/>
                </a:solidFill>
              </a:rPr>
              <a:t>3</a:t>
            </a:r>
          </a:p>
        </p:txBody>
      </p:sp>
      <p:sp>
        <p:nvSpPr>
          <p:cNvPr id="12" name="Canvasfeld 3"/>
          <p:cNvSpPr txBox="1"/>
          <p:nvPr/>
        </p:nvSpPr>
        <p:spPr>
          <a:xfrm>
            <a:off x="6345936" y="2331720"/>
            <a:ext cx="2304288" cy="1097280"/>
          </a:xfrm>
          <a:prstGeom prst="rect">
            <a:avLst/>
          </a:prstGeom>
          <a:noFill/>
        </p:spPr>
        <p:txBody>
          <a:bodyPr wrap="square" anchor="t" lIns="0" rIns="0" tIns="0" bIns="0">
            <a:noAutofit/>
          </a:bodyPr>
          <a:lstStyle/>
          <a:p>
            <a:r>
              <a:rPr sz="1600" b="0">
                <a:solidFill>
                  <a:srgbClr val="1E1B1C"/>
                </a:solidFill>
              </a:rPr>
              <a:t>Das tun die Lernenden selbst …</a:t>
            </a:r>
          </a:p>
        </p:txBody>
      </p:sp>
      <p:sp>
        <p:nvSpPr>
          <p:cNvPr id="13" name="Feld 4"/>
          <p:cNvSpPr/>
          <p:nvPr/>
        </p:nvSpPr>
        <p:spPr>
          <a:xfrm>
            <a:off x="8970263" y="1600200"/>
            <a:ext cx="2670048"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4" name="Nummer 4"/>
          <p:cNvSpPr/>
          <p:nvPr/>
        </p:nvSpPr>
        <p:spPr>
          <a:xfrm>
            <a:off x="9153143" y="1783080"/>
            <a:ext cx="411480" cy="4114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500" b="1">
                <a:solidFill>
                  <a:srgbClr val="1E1B1C"/>
                </a:solidFill>
              </a:rPr>
              <a:t>4</a:t>
            </a:r>
          </a:p>
        </p:txBody>
      </p:sp>
      <p:sp>
        <p:nvSpPr>
          <p:cNvPr id="15" name="Canvasfeld 4"/>
          <p:cNvSpPr txBox="1"/>
          <p:nvPr/>
        </p:nvSpPr>
        <p:spPr>
          <a:xfrm>
            <a:off x="9153143" y="2331720"/>
            <a:ext cx="2304288" cy="1097280"/>
          </a:xfrm>
          <a:prstGeom prst="rect">
            <a:avLst/>
          </a:prstGeom>
          <a:noFill/>
        </p:spPr>
        <p:txBody>
          <a:bodyPr wrap="square" anchor="t" lIns="0" rIns="0" tIns="0" bIns="0">
            <a:noAutofit/>
          </a:bodyPr>
          <a:lstStyle/>
          <a:p>
            <a:r>
              <a:rPr sz="1600" b="0">
                <a:solidFill>
                  <a:srgbClr val="1E1B1C"/>
                </a:solidFill>
              </a:rPr>
              <a:t>Dafür setzen sie Fobizz / Gemini / KI ein …</a:t>
            </a:r>
          </a:p>
        </p:txBody>
      </p:sp>
      <p:sp>
        <p:nvSpPr>
          <p:cNvPr id="16" name="Feld 5"/>
          <p:cNvSpPr/>
          <p:nvPr/>
        </p:nvSpPr>
        <p:spPr>
          <a:xfrm>
            <a:off x="548640" y="3611880"/>
            <a:ext cx="2670048"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17" name="Nummer 5"/>
          <p:cNvSpPr/>
          <p:nvPr/>
        </p:nvSpPr>
        <p:spPr>
          <a:xfrm>
            <a:off x="731520" y="3794760"/>
            <a:ext cx="411480" cy="4114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500" b="1">
                <a:solidFill>
                  <a:srgbClr val="1E1B1C"/>
                </a:solidFill>
              </a:rPr>
              <a:t>5</a:t>
            </a:r>
          </a:p>
        </p:txBody>
      </p:sp>
      <p:sp>
        <p:nvSpPr>
          <p:cNvPr id="18" name="Canvasfeld 5"/>
          <p:cNvSpPr txBox="1"/>
          <p:nvPr/>
        </p:nvSpPr>
        <p:spPr>
          <a:xfrm>
            <a:off x="731520" y="4343400"/>
            <a:ext cx="2304288" cy="1097280"/>
          </a:xfrm>
          <a:prstGeom prst="rect">
            <a:avLst/>
          </a:prstGeom>
          <a:noFill/>
        </p:spPr>
        <p:txBody>
          <a:bodyPr wrap="square" anchor="t" lIns="0" rIns="0" tIns="0" bIns="0">
            <a:noAutofit/>
          </a:bodyPr>
          <a:lstStyle/>
          <a:p>
            <a:r>
              <a:rPr sz="1600" b="0">
                <a:solidFill>
                  <a:srgbClr val="1E1B1C"/>
                </a:solidFill>
              </a:rPr>
              <a:t>Das prüfen / erklären / vergleichen / entscheiden sie …</a:t>
            </a:r>
          </a:p>
        </p:txBody>
      </p:sp>
      <p:sp>
        <p:nvSpPr>
          <p:cNvPr id="19" name="Feld 6"/>
          <p:cNvSpPr/>
          <p:nvPr/>
        </p:nvSpPr>
        <p:spPr>
          <a:xfrm>
            <a:off x="3355848" y="3611880"/>
            <a:ext cx="2670048"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0" name="Nummer 6"/>
          <p:cNvSpPr/>
          <p:nvPr/>
        </p:nvSpPr>
        <p:spPr>
          <a:xfrm>
            <a:off x="3538728" y="3794760"/>
            <a:ext cx="411480" cy="4114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500" b="1">
                <a:solidFill>
                  <a:srgbClr val="1E1B1C"/>
                </a:solidFill>
              </a:rPr>
              <a:t>6</a:t>
            </a:r>
          </a:p>
        </p:txBody>
      </p:sp>
      <p:sp>
        <p:nvSpPr>
          <p:cNvPr id="21" name="Canvasfeld 6"/>
          <p:cNvSpPr txBox="1"/>
          <p:nvPr/>
        </p:nvSpPr>
        <p:spPr>
          <a:xfrm>
            <a:off x="3538728" y="4343400"/>
            <a:ext cx="2304288" cy="1097280"/>
          </a:xfrm>
          <a:prstGeom prst="rect">
            <a:avLst/>
          </a:prstGeom>
          <a:noFill/>
        </p:spPr>
        <p:txBody>
          <a:bodyPr wrap="square" anchor="t" lIns="0" rIns="0" tIns="0" bIns="0">
            <a:noAutofit/>
          </a:bodyPr>
          <a:lstStyle/>
          <a:p>
            <a:r>
              <a:rPr sz="1600" b="0">
                <a:solidFill>
                  <a:srgbClr val="1E1B1C"/>
                </a:solidFill>
              </a:rPr>
              <a:t>Die Verantwortung des Menschen liegt bei …</a:t>
            </a:r>
          </a:p>
        </p:txBody>
      </p:sp>
      <p:sp>
        <p:nvSpPr>
          <p:cNvPr id="22" name="Feld 7"/>
          <p:cNvSpPr/>
          <p:nvPr/>
        </p:nvSpPr>
        <p:spPr>
          <a:xfrm>
            <a:off x="6163055" y="3611880"/>
            <a:ext cx="2670048"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3" name="Nummer 7"/>
          <p:cNvSpPr/>
          <p:nvPr/>
        </p:nvSpPr>
        <p:spPr>
          <a:xfrm>
            <a:off x="6345936" y="3794760"/>
            <a:ext cx="411480" cy="4114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500" b="1">
                <a:solidFill>
                  <a:srgbClr val="1E1B1C"/>
                </a:solidFill>
              </a:rPr>
              <a:t>7</a:t>
            </a:r>
          </a:p>
        </p:txBody>
      </p:sp>
      <p:sp>
        <p:nvSpPr>
          <p:cNvPr id="24" name="Canvasfeld 7"/>
          <p:cNvSpPr txBox="1"/>
          <p:nvPr/>
        </p:nvSpPr>
        <p:spPr>
          <a:xfrm>
            <a:off x="6345936" y="4343400"/>
            <a:ext cx="2304288" cy="1097280"/>
          </a:xfrm>
          <a:prstGeom prst="rect">
            <a:avLst/>
          </a:prstGeom>
          <a:noFill/>
        </p:spPr>
        <p:txBody>
          <a:bodyPr wrap="square" anchor="t" lIns="0" rIns="0" tIns="0" bIns="0">
            <a:noAutofit/>
          </a:bodyPr>
          <a:lstStyle/>
          <a:p>
            <a:r>
              <a:rPr sz="1600" b="0">
                <a:solidFill>
                  <a:srgbClr val="1E1B1C"/>
                </a:solidFill>
              </a:rPr>
              <a:t>So wird die Kompetenz sichtbar …</a:t>
            </a:r>
          </a:p>
        </p:txBody>
      </p:sp>
      <p:sp>
        <p:nvSpPr>
          <p:cNvPr id="25" name="Feld 8"/>
          <p:cNvSpPr/>
          <p:nvPr/>
        </p:nvSpPr>
        <p:spPr>
          <a:xfrm>
            <a:off x="8970263" y="3611880"/>
            <a:ext cx="2670048"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sp>
        <p:nvSpPr>
          <p:cNvPr id="26" name="Nummer 8"/>
          <p:cNvSpPr/>
          <p:nvPr/>
        </p:nvSpPr>
        <p:spPr>
          <a:xfrm>
            <a:off x="9153143" y="3794760"/>
            <a:ext cx="411480" cy="411480"/>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500" b="1">
                <a:solidFill>
                  <a:srgbClr val="1E1B1C"/>
                </a:solidFill>
              </a:rPr>
              <a:t>8</a:t>
            </a:r>
          </a:p>
        </p:txBody>
      </p:sp>
      <p:sp>
        <p:nvSpPr>
          <p:cNvPr id="27" name="Canvasfeld 8"/>
          <p:cNvSpPr txBox="1"/>
          <p:nvPr/>
        </p:nvSpPr>
        <p:spPr>
          <a:xfrm>
            <a:off x="9153143" y="4343400"/>
            <a:ext cx="2304288" cy="1097280"/>
          </a:xfrm>
          <a:prstGeom prst="rect">
            <a:avLst/>
          </a:prstGeom>
          <a:noFill/>
        </p:spPr>
        <p:txBody>
          <a:bodyPr wrap="square" anchor="t" lIns="0" rIns="0" tIns="0" bIns="0">
            <a:noAutofit/>
          </a:bodyPr>
          <a:lstStyle/>
          <a:p>
            <a:r>
              <a:rPr sz="1600" b="0">
                <a:solidFill>
                  <a:srgbClr val="1E1B1C"/>
                </a:solidFill>
              </a:rPr>
              <a:t>Daran erkenne ich die Qualität des Lernbelegs …</a:t>
            </a:r>
          </a:p>
        </p:txBody>
      </p:sp>
      <p:sp>
        <p:nvSpPr>
          <p:cNvPr id="28" name="Merksatz"/>
          <p:cNvSpPr/>
          <p:nvPr/>
        </p:nvSpPr>
        <p:spPr>
          <a:xfrm>
            <a:off x="548640" y="5623560"/>
            <a:ext cx="11091672" cy="685800"/>
          </a:xfrm>
          <a:prstGeom prst="roundRect">
            <a:avLst>
              <a:gd name="adj" fmla="val 12000"/>
            </a:avLst>
          </a:prstGeom>
          <a:solidFill>
            <a:srgbClr val="1E1B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274320" rIns="274320">
            <a:noAutofit/>
          </a:bodyPr>
          <a:lstStyle/>
          <a:p>
            <a:pPr algn="l"/>
            <a:r>
              <a:rPr sz="1600" b="1">
                <a:solidFill>
                  <a:srgbClr val="FFFFFF"/>
                </a:solidFill>
              </a:rPr>
              <a:t>In 120 Minuten wird der Canvas begonnen. </a:t>
            </a:r>
            <a:r>
              <a:rPr sz="1600" b="0">
                <a:solidFill>
                  <a:srgbClr val="FFFFFF"/>
                </a:solidFill>
              </a:rPr>
              <a:t>Fertigstellen könnt ihr ihn danach in der Lernumgebung.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el"/>
          <p:cNvSpPr>
            <a:spLocks noGrp="1"/>
          </p:cNvSpPr>
          <p:nvPr>
            <p:ph type="title"/>
          </p:nvPr>
        </p:nvSpPr>
        <p:spPr>
          <a:xfrm>
            <a:off x="548640" y="804672"/>
            <a:ext cx="5760720" cy="1005840"/>
          </a:xfrm>
        </p:spPr>
        <p:txBody>
          <a:bodyPr wrap="square" anchor="t" lIns="0" rIns="0" tIns="0" bIns="0">
            <a:noAutofit/>
          </a:bodyPr>
          <a:lstStyle/>
          <a:p>
            <a:r>
              <a:rPr sz="3200"/>
              <a:t>Abschluss und nächste Schritte</a:t>
            </a:r>
          </a:p>
        </p:txBody>
      </p:sp>
      <p:sp>
        <p:nvSpPr>
          <p:cNvPr id="3" name="Phase"/>
          <p:cNvSpPr/>
          <p:nvPr/>
        </p:nvSpPr>
        <p:spPr>
          <a:xfrm>
            <a:off x="548640" y="347472"/>
            <a:ext cx="2363724" cy="292608"/>
          </a:xfrm>
          <a:prstGeom prst="roundRect">
            <a:avLst>
              <a:gd name="adj" fmla="val 50000"/>
            </a:avLst>
          </a:prstGeom>
          <a:solidFill>
            <a:srgbClr val="E9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a:solidFill>
                  <a:srgbClr val="1E1B1C"/>
                </a:solidFill>
              </a:rPr>
              <a:t>PHASE 9 · ABSCHLUSS</a:t>
            </a:r>
          </a:p>
        </p:txBody>
      </p:sp>
      <p:sp>
        <p:nvSpPr>
          <p:cNvPr id="4" name="Nummer 1"/>
          <p:cNvSpPr/>
          <p:nvPr/>
        </p:nvSpPr>
        <p:spPr>
          <a:xfrm>
            <a:off x="548640" y="2167128"/>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1</a:t>
            </a:r>
          </a:p>
        </p:txBody>
      </p:sp>
      <p:sp>
        <p:nvSpPr>
          <p:cNvPr id="5" name="Schritt 1"/>
          <p:cNvSpPr txBox="1"/>
          <p:nvPr/>
        </p:nvSpPr>
        <p:spPr>
          <a:xfrm>
            <a:off x="1133856" y="1965960"/>
            <a:ext cx="5175504" cy="822960"/>
          </a:xfrm>
          <a:prstGeom prst="rect">
            <a:avLst/>
          </a:prstGeom>
          <a:noFill/>
        </p:spPr>
        <p:txBody>
          <a:bodyPr wrap="square" anchor="ctr" lIns="0" rIns="0" tIns="0" bIns="0">
            <a:noAutofit/>
          </a:bodyPr>
          <a:lstStyle/>
          <a:p>
            <a:r>
              <a:rPr sz="1700" b="0">
                <a:solidFill>
                  <a:srgbClr val="1E1B1C"/>
                </a:solidFill>
              </a:rPr>
              <a:t>Kompetenzkompass erneut ausfüllen und einen konkreten Beleg notieren</a:t>
            </a:r>
          </a:p>
        </p:txBody>
      </p:sp>
      <p:sp>
        <p:nvSpPr>
          <p:cNvPr id="6" name="Nummer 2"/>
          <p:cNvSpPr/>
          <p:nvPr/>
        </p:nvSpPr>
        <p:spPr>
          <a:xfrm>
            <a:off x="548640" y="2990088"/>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2</a:t>
            </a:r>
          </a:p>
        </p:txBody>
      </p:sp>
      <p:sp>
        <p:nvSpPr>
          <p:cNvPr id="7" name="Schritt 2"/>
          <p:cNvSpPr txBox="1"/>
          <p:nvPr/>
        </p:nvSpPr>
        <p:spPr>
          <a:xfrm>
            <a:off x="1133856" y="2788920"/>
            <a:ext cx="5175504" cy="822960"/>
          </a:xfrm>
          <a:prstGeom prst="rect">
            <a:avLst/>
          </a:prstGeom>
          <a:noFill/>
        </p:spPr>
        <p:txBody>
          <a:bodyPr wrap="square" anchor="ctr" lIns="0" rIns="0" tIns="0" bIns="0">
            <a:noAutofit/>
          </a:bodyPr>
          <a:lstStyle/>
          <a:p>
            <a:r>
              <a:rPr sz="1700" b="0">
                <a:solidFill>
                  <a:srgbClr val="1E1B1C"/>
                </a:solidFill>
              </a:rPr>
              <a:t>Exit-Ticket ausfüllen</a:t>
            </a:r>
          </a:p>
        </p:txBody>
      </p:sp>
      <p:sp>
        <p:nvSpPr>
          <p:cNvPr id="8" name="Nummer 3"/>
          <p:cNvSpPr/>
          <p:nvPr/>
        </p:nvSpPr>
        <p:spPr>
          <a:xfrm>
            <a:off x="548640" y="3813048"/>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3</a:t>
            </a:r>
          </a:p>
        </p:txBody>
      </p:sp>
      <p:sp>
        <p:nvSpPr>
          <p:cNvPr id="9" name="Schritt 3"/>
          <p:cNvSpPr txBox="1"/>
          <p:nvPr/>
        </p:nvSpPr>
        <p:spPr>
          <a:xfrm>
            <a:off x="1133856" y="3611880"/>
            <a:ext cx="5175504" cy="822960"/>
          </a:xfrm>
          <a:prstGeom prst="rect">
            <a:avLst/>
          </a:prstGeom>
          <a:noFill/>
        </p:spPr>
        <p:txBody>
          <a:bodyPr wrap="square" anchor="ctr" lIns="0" rIns="0" tIns="0" bIns="0">
            <a:noAutofit/>
          </a:bodyPr>
          <a:lstStyle/>
          <a:p>
            <a:r>
              <a:rPr sz="1700" b="0">
                <a:solidFill>
                  <a:srgbClr val="1E1B1C"/>
                </a:solidFill>
              </a:rPr>
              <a:t>Termin für die Erprobung im eigenen Unterricht festlegen</a:t>
            </a:r>
          </a:p>
        </p:txBody>
      </p:sp>
      <p:sp>
        <p:nvSpPr>
          <p:cNvPr id="10" name="Nummer 4"/>
          <p:cNvSpPr/>
          <p:nvPr/>
        </p:nvSpPr>
        <p:spPr>
          <a:xfrm>
            <a:off x="548640" y="4636007"/>
            <a:ext cx="420624" cy="420624"/>
          </a:xfrm>
          <a:prstGeom prst="ellipse">
            <a:avLst/>
          </a:prstGeom>
          <a:solidFill>
            <a:srgbClr val="F4B9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noAutofit/>
          </a:bodyPr>
          <a:lstStyle/>
          <a:p>
            <a:pPr algn="ctr"/>
            <a:r>
              <a:rPr sz="1400" b="1">
                <a:solidFill>
                  <a:srgbClr val="1E1B1C"/>
                </a:solidFill>
              </a:rPr>
              <a:t>4</a:t>
            </a:r>
          </a:p>
        </p:txBody>
      </p:sp>
      <p:sp>
        <p:nvSpPr>
          <p:cNvPr id="11" name="Schritt 4"/>
          <p:cNvSpPr txBox="1"/>
          <p:nvPr/>
        </p:nvSpPr>
        <p:spPr>
          <a:xfrm>
            <a:off x="1133856" y="4434840"/>
            <a:ext cx="5175504" cy="822960"/>
          </a:xfrm>
          <a:prstGeom prst="rect">
            <a:avLst/>
          </a:prstGeom>
          <a:noFill/>
        </p:spPr>
        <p:txBody>
          <a:bodyPr wrap="square" anchor="ctr" lIns="0" rIns="0" tIns="0" bIns="0">
            <a:noAutofit/>
          </a:bodyPr>
          <a:lstStyle/>
          <a:p>
            <a:r>
              <a:rPr sz="1700" b="0">
                <a:solidFill>
                  <a:srgbClr val="1E1B1C"/>
                </a:solidFill>
              </a:rPr>
              <a:t>Lernjournal exportieren, sonst bleiben die Notizen nur in diesem Browser</a:t>
            </a:r>
          </a:p>
        </p:txBody>
      </p:sp>
      <p:sp>
        <p:nvSpPr>
          <p:cNvPr id="12" name="Schlusssatz"/>
          <p:cNvSpPr txBox="1"/>
          <p:nvPr/>
        </p:nvSpPr>
        <p:spPr>
          <a:xfrm>
            <a:off x="548640" y="5394960"/>
            <a:ext cx="5760720" cy="822960"/>
          </a:xfrm>
          <a:prstGeom prst="rect">
            <a:avLst/>
          </a:prstGeom>
          <a:noFill/>
        </p:spPr>
        <p:txBody>
          <a:bodyPr wrap="square" anchor="t" lIns="0" rIns="0" tIns="0" bIns="0">
            <a:noAutofit/>
          </a:bodyPr>
          <a:lstStyle/>
          <a:p>
            <a:r>
              <a:rPr sz="1800" b="1">
                <a:solidFill>
                  <a:srgbClr val="1E1B1C"/>
                </a:solidFill>
              </a:rPr>
              <a:t>Die Lernumgebung bleibt offen. Der Canvas wartet dort auf dich.</a:t>
            </a:r>
          </a:p>
        </p:txBody>
      </p:sp>
      <p:sp>
        <p:nvSpPr>
          <p:cNvPr id="13" name="Visual"/>
          <p:cNvSpPr/>
          <p:nvPr/>
        </p:nvSpPr>
        <p:spPr>
          <a:xfrm>
            <a:off x="6949440" y="685800"/>
            <a:ext cx="4709160" cy="5440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p>
        </p:txBody>
      </p:sp>
      <p:pic>
        <p:nvPicPr>
          <p:cNvPr id="14" name="Illustration Wegweiser" descr="Gezeichneter gelber Wegweiser mit drei Personen"/>
          <p:cNvPicPr>
            <a:picLocks noChangeAspect="1"/>
          </p:cNvPicPr>
          <p:nvPr/>
        </p:nvPicPr>
        <p:blipFill>
          <a:blip r:embed="rId2"/>
          <a:stretch>
            <a:fillRect/>
          </a:stretch>
        </p:blipFill>
        <p:spPr>
          <a:xfrm>
            <a:off x="7452360" y="914400"/>
            <a:ext cx="3886200" cy="3886200"/>
          </a:xfrm>
          <a:prstGeom prst="rect">
            <a:avLst/>
          </a:prstGeom>
        </p:spPr>
      </p:pic>
      <p:sp>
        <p:nvSpPr>
          <p:cNvPr id="15" name="Adresse"/>
          <p:cNvSpPr txBox="1"/>
          <p:nvPr/>
        </p:nvSpPr>
        <p:spPr>
          <a:xfrm>
            <a:off x="7269480" y="5074920"/>
            <a:ext cx="4160520" cy="365760"/>
          </a:xfrm>
          <a:prstGeom prst="rect">
            <a:avLst/>
          </a:prstGeom>
          <a:noFill/>
        </p:spPr>
        <p:txBody>
          <a:bodyPr wrap="square" anchor="t" lIns="0" rIns="0" tIns="0" bIns="0">
            <a:noAutofit/>
          </a:bodyPr>
          <a:lstStyle/>
          <a:p>
            <a:pPr algn="ctr"/>
            <a:r>
              <a:rPr sz="1500" b="1">
                <a:solidFill>
                  <a:srgbClr val="1E1B1C"/>
                </a:solidFill>
              </a:rPr>
              <a:t>schmij03.github.io/KI-Kompetenzen</a:t>
            </a:r>
          </a:p>
        </p:txBody>
      </p:sp>
      <p:sp>
        <p:nvSpPr>
          <p:cNvPr id="16" name="Anschluss"/>
          <p:cNvSpPr txBox="1"/>
          <p:nvPr/>
        </p:nvSpPr>
        <p:spPr>
          <a:xfrm>
            <a:off x="7269480" y="5486400"/>
            <a:ext cx="4160520" cy="365760"/>
          </a:xfrm>
          <a:prstGeom prst="rect">
            <a:avLst/>
          </a:prstGeom>
          <a:noFill/>
        </p:spPr>
        <p:txBody>
          <a:bodyPr wrap="square" anchor="t" lIns="0" rIns="0" tIns="0" bIns="0">
            <a:noAutofit/>
          </a:bodyPr>
          <a:lstStyle/>
          <a:p>
            <a:pPr algn="ctr"/>
            <a:r>
              <a:rPr sz="1200" b="0">
                <a:solidFill>
                  <a:srgbClr val="5A5456"/>
                </a:solidFill>
              </a:rPr>
              <a:t>Anschlussauftrag: Canvas fertigstellen, Aktivität durchführen</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985E00C2E2ADA45A85AA22EFA0ACE5D" ma:contentTypeVersion="13" ma:contentTypeDescription="Ein neues Dokument erstellen." ma:contentTypeScope="" ma:versionID="f2a749960350b5388445e888788da972">
  <xsd:schema xmlns:xsd="http://www.w3.org/2001/XMLSchema" xmlns:xs="http://www.w3.org/2001/XMLSchema" xmlns:p="http://schemas.microsoft.com/office/2006/metadata/properties" xmlns:ns2="c5c8a255-8a76-4b35-85e7-9491cc9c57fb" xmlns:ns3="82f15801-a3df-4624-8668-1cb16d893181" targetNamespace="http://schemas.microsoft.com/office/2006/metadata/properties" ma:root="true" ma:fieldsID="dd07f92dece0a7b11871dc7103c3500a" ns2:_="" ns3:_="">
    <xsd:import namespace="c5c8a255-8a76-4b35-85e7-9491cc9c57fb"/>
    <xsd:import namespace="82f15801-a3df-4624-8668-1cb16d8931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c8a255-8a76-4b35-85e7-9491cc9c57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d38a5ac0-3881-4176-bfa8-645c6062650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2f15801-a3df-4624-8668-1cb16d89318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4b90426-4426-4226-b771-2b2e6f9fa16f}" ma:internalName="TaxCatchAll" ma:showField="CatchAllData" ma:web="82f15801-a3df-4624-8668-1cb16d8931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2f15801-a3df-4624-8668-1cb16d893181" xsi:nil="true"/>
    <lcf76f155ced4ddcb4097134ff3c332f xmlns="c5c8a255-8a76-4b35-85e7-9491cc9c57f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6DBBDD0-2D49-4662-840B-707D5BFAAC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c8a255-8a76-4b35-85e7-9491cc9c57fb"/>
    <ds:schemaRef ds:uri="82f15801-a3df-4624-8668-1cb16d8931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07C9C4-16C5-462D-9DBC-930E99D9872F}">
  <ds:schemaRefs>
    <ds:schemaRef ds:uri="http://purl.org/dc/terms/"/>
    <ds:schemaRef ds:uri="c5c8a255-8a76-4b35-85e7-9491cc9c57fb"/>
    <ds:schemaRef ds:uri="http://schemas.microsoft.com/office/2006/documentManagement/types"/>
    <ds:schemaRef ds:uri="http://purl.org/dc/dcmitype/"/>
    <ds:schemaRef ds:uri="http://www.w3.org/XML/1998/namespace"/>
    <ds:schemaRef ds:uri="http://purl.org/dc/elements/1.1/"/>
    <ds:schemaRef ds:uri="http://schemas.microsoft.com/office/infopath/2007/PartnerControls"/>
    <ds:schemaRef ds:uri="http://schemas.openxmlformats.org/package/2006/metadata/core-properties"/>
    <ds:schemaRef ds:uri="82f15801-a3df-4624-8668-1cb16d893181"/>
    <ds:schemaRef ds:uri="http://schemas.microsoft.com/office/2006/metadata/properties"/>
  </ds:schemaRefs>
</ds:datastoreItem>
</file>

<file path=customXml/itemProps3.xml><?xml version="1.0" encoding="utf-8"?>
<ds:datastoreItem xmlns:ds="http://schemas.openxmlformats.org/officeDocument/2006/customXml" ds:itemID="{CAD53AFC-233A-41DA-BD6A-8E6445E099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233</Words>
  <Application>Microsoft Macintosh PowerPoint</Application>
  <PresentationFormat>Breitbild</PresentationFormat>
  <Paragraphs>32</Paragraphs>
  <Slides>5</Slides>
  <Notes>1</Notes>
  <HiddenSlides>0</HiddenSlides>
  <MMClips>1</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5</vt:i4>
      </vt:variant>
    </vt:vector>
  </HeadingPairs>
  <TitlesOfParts>
    <vt:vector size="9" baseType="lpstr">
      <vt:lpstr>Aptos</vt:lpstr>
      <vt:lpstr>Arial</vt:lpstr>
      <vt:lpstr>Century Gothic</vt:lpstr>
      <vt:lpstr>Office</vt:lpstr>
      <vt:lpstr>KI verstehen und kompetent im Unterricht anwenden</vt:lpstr>
      <vt:lpstr>Digitale Kompetenzerweiterung: Was ist damit gemeint?</vt:lpstr>
      <vt:lpstr>INPUT</vt:lpstr>
      <vt:lpstr>PICTS</vt:lpstr>
      <vt:lpstr>Stufenmodell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Melanie Murer-Jäckle</dc:creator>
  <cp:lastModifiedBy>Schmid Jan PH Luzern Student/in</cp:lastModifiedBy>
  <cp:revision>2</cp:revision>
  <dcterms:created xsi:type="dcterms:W3CDTF">2026-09-07T07:23:25Z</dcterms:created>
  <dcterms:modified xsi:type="dcterms:W3CDTF">2026-10-25T14:04:14Z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0x0101002985E00C2E2ADA45A85AA22EFA0ACE5D</vt:lpwstr>
  </property>
  <property fmtid="{D5CDD505-2E9C-101B-9397-08002B2CF9AE}" pid="3" name="MediaServiceImageTags">
    <vt:lpwstr/>
  </property>
</Properties>
</file>